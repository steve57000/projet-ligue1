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5B7F"/>
    <a:srgbClr val="E20044"/>
    <a:srgbClr val="FF81A8"/>
    <a:srgbClr val="B0DD7F"/>
    <a:srgbClr val="2E7D32"/>
    <a:srgbClr val="FF5B5B"/>
    <a:srgbClr val="FF6600"/>
    <a:srgbClr val="FFB27D"/>
    <a:srgbClr val="9ADA9D"/>
    <a:srgbClr val="35A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9" autoAdjust="0"/>
    <p:restoredTop sz="70863" autoAdjust="0"/>
  </p:normalViewPr>
  <p:slideViewPr>
    <p:cSldViewPr snapToGrid="0" snapToObjects="1">
      <p:cViewPr varScale="1">
        <p:scale>
          <a:sx n="75" d="100"/>
          <a:sy n="75" d="100"/>
        </p:scale>
        <p:origin x="1800" y="90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-102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1" i="0" u="none" strike="noStrike" kern="1200" baseline="0">
                <a:solidFill>
                  <a:srgbClr val="E20044"/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fr-FR" b="1" dirty="0">
                <a:solidFill>
                  <a:srgbClr val="E20044"/>
                </a:solidFill>
              </a:rPr>
              <a:t>Total de buts par équipe</a:t>
            </a:r>
            <a:endParaRPr lang="en-US" b="1" dirty="0">
              <a:solidFill>
                <a:srgbClr val="E20044"/>
              </a:solidFill>
            </a:endParaRPr>
          </a:p>
        </c:rich>
      </c:tx>
      <c:layout>
        <c:manualLayout>
          <c:xMode val="edge"/>
          <c:yMode val="edge"/>
          <c:x val="0.40691768100752773"/>
          <c:y val="3.968253968253968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8.9698880176964257E-2"/>
          <c:y val="0.17627301795608882"/>
          <c:w val="0.91030111982303574"/>
          <c:h val="0.7456739782527183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Buts</c:v>
                </c:pt>
              </c:strCache>
            </c:strRef>
          </c:tx>
          <c:spPr>
            <a:solidFill>
              <a:srgbClr val="E20044"/>
            </a:solidFill>
            <a:ln>
              <a:solidFill>
                <a:schemeClr val="accent2"/>
              </a:solidFill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0" rIns="38100" bIns="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Paris SG</c:v>
                </c:pt>
                <c:pt idx="1">
                  <c:v>Marseille</c:v>
                </c:pt>
                <c:pt idx="2">
                  <c:v>Monaco</c:v>
                </c:pt>
                <c:pt idx="3">
                  <c:v>Lyon</c:v>
                </c:pt>
                <c:pt idx="4">
                  <c:v>Nice</c:v>
                </c:pt>
                <c:pt idx="5">
                  <c:v>Strasbourg</c:v>
                </c:pt>
                <c:pt idx="6">
                  <c:v>Brest</c:v>
                </c:pt>
                <c:pt idx="7">
                  <c:v>Lille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</c:v>
                </c:pt>
                <c:pt idx="1">
                  <c:v>71</c:v>
                </c:pt>
                <c:pt idx="2">
                  <c:v>63</c:v>
                </c:pt>
                <c:pt idx="3">
                  <c:v>62</c:v>
                </c:pt>
                <c:pt idx="4">
                  <c:v>56</c:v>
                </c:pt>
                <c:pt idx="5">
                  <c:v>53</c:v>
                </c:pt>
                <c:pt idx="6">
                  <c:v>50</c:v>
                </c:pt>
                <c:pt idx="7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AB-43FB-8495-E1DDDD38C30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>
            <a:solidFill>
              <a:schemeClr val="bg2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dirty="0"/>
                  <a:t>Buts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0"/>
        <c:majorTickMark val="cross"/>
        <c:minorTickMark val="in"/>
        <c:tickLblPos val="nextTo"/>
        <c:spPr>
          <a:noFill/>
          <a:ln>
            <a:solidFill>
              <a:schemeClr val="bg2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94734554"/>
        <c:crosses val="autoZero"/>
        <c:crossBetween val="between"/>
        <c:majorUnit val="20"/>
        <c:minorUnit val="2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22225" cap="flat" cmpd="sng" algn="ctr">
      <a:gradFill>
        <a:gsLst>
          <a:gs pos="0">
            <a:srgbClr val="E20044"/>
          </a:gs>
          <a:gs pos="51000">
            <a:schemeClr val="accent1">
              <a:lumMod val="45000"/>
              <a:lumOff val="55000"/>
            </a:schemeClr>
          </a:gs>
          <a:gs pos="100000">
            <a:schemeClr val="accent3">
              <a:lumMod val="20000"/>
              <a:lumOff val="80000"/>
            </a:schemeClr>
          </a:gs>
        </a:gsLst>
        <a:lin ang="5400000" scaled="1"/>
      </a:gradFill>
      <a:round/>
    </a:ln>
    <a:effectLst/>
  </c:spPr>
  <c:txPr>
    <a:bodyPr/>
    <a:lstStyle/>
    <a:p>
      <a:pPr>
        <a:defRPr/>
      </a:pPr>
      <a:endParaRPr lang="fr-F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7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fr-FR" sz="1700" b="1" dirty="0">
                <a:solidFill>
                  <a:srgbClr val="002060"/>
                </a:solidFill>
              </a:rPr>
              <a:t>Répartition des joueurs par poste</a:t>
            </a:r>
            <a:endParaRPr lang="en-US" sz="1700" b="1" dirty="0">
              <a:solidFill>
                <a:srgbClr val="002060"/>
              </a:solidFill>
            </a:endParaRPr>
          </a:p>
        </c:rich>
      </c:tx>
      <c:layout>
        <c:manualLayout>
          <c:xMode val="edge"/>
          <c:yMode val="edge"/>
          <c:x val="0.31117883545243058"/>
          <c:y val="4.074649037049055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7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0.16891891891891891"/>
          <c:y val="0.1696944654899227"/>
          <c:w val="0.79119744744744747"/>
          <c:h val="0.687527043859541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Joueurs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DF</c:v>
                </c:pt>
                <c:pt idx="1">
                  <c:v>MT</c:v>
                </c:pt>
                <c:pt idx="2">
                  <c:v>AT</c:v>
                </c:pt>
                <c:pt idx="3">
                  <c:v>GB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199</c:v>
                </c:pt>
                <c:pt idx="1">
                  <c:v>175</c:v>
                </c:pt>
                <c:pt idx="2">
                  <c:v>142</c:v>
                </c:pt>
                <c:pt idx="3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B4E-492D-BDC4-6C4A2E8587B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>
            <a:solidFill>
              <a:schemeClr val="bg2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dirty="0"/>
                  <a:t>Effectifs</a:t>
                </a:r>
              </a:p>
            </c:rich>
          </c:tx>
          <c:layout>
            <c:manualLayout>
              <c:xMode val="edge"/>
              <c:yMode val="edge"/>
              <c:x val="2.6722034534534533E-2"/>
              <c:y val="0.3921059645416905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>
            <a:solidFill>
              <a:schemeClr val="bg2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22225" cap="flat" cmpd="sng" algn="ctr">
      <a:gradFill>
        <a:gsLst>
          <a:gs pos="0">
            <a:srgbClr val="002060"/>
          </a:gs>
          <a:gs pos="51000">
            <a:srgbClr val="0070C0"/>
          </a:gs>
          <a:gs pos="100000">
            <a:schemeClr val="accent3">
              <a:lumMod val="20000"/>
              <a:lumOff val="80000"/>
            </a:schemeClr>
          </a:gs>
        </a:gsLst>
        <a:lin ang="5400000" scaled="1"/>
      </a:gra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1" i="0" u="none" strike="noStrike" kern="1200" baseline="0">
                <a:solidFill>
                  <a:srgbClr val="E20044"/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fr-FR" b="1" i="0" u="none" strike="noStrike" baseline="0" dirty="0">
                <a:solidFill>
                  <a:srgbClr val="E20044"/>
                </a:solidFill>
                <a:effectLst/>
              </a:rPr>
              <a:t>Top buteurs de Ligue 1</a:t>
            </a:r>
            <a:endParaRPr lang="fr-FR" b="1" dirty="0">
              <a:solidFill>
                <a:srgbClr val="E20044"/>
              </a:solidFill>
            </a:endParaRPr>
          </a:p>
        </c:rich>
      </c:tx>
      <c:layout>
        <c:manualLayout>
          <c:xMode val="edge"/>
          <c:yMode val="edge"/>
          <c:x val="0.35110693400167092"/>
          <c:y val="4.34805986565902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1" i="0" u="none" strike="noStrike" kern="1200" baseline="0">
              <a:solidFill>
                <a:srgbClr val="E20044"/>
              </a:solidFill>
              <a:effectLst/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>
        <c:manualLayout>
          <c:layoutTarget val="inner"/>
          <c:xMode val="edge"/>
          <c:yMode val="edge"/>
          <c:x val="0.12602684532854447"/>
          <c:y val="0.19935838020049762"/>
          <c:w val="0.87397315467145553"/>
          <c:h val="0.72746683943174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Buts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190500" h="381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Dembélé</c:v>
                </c:pt>
                <c:pt idx="1">
                  <c:v>Greenwood</c:v>
                </c:pt>
                <c:pt idx="2">
                  <c:v>Kalimuendo</c:v>
                </c:pt>
                <c:pt idx="3">
                  <c:v>David</c:v>
                </c:pt>
                <c:pt idx="4">
                  <c:v>Emegha</c:v>
                </c:pt>
                <c:pt idx="5">
                  <c:v>Barcola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</c:v>
                </c:pt>
                <c:pt idx="1">
                  <c:v>19</c:v>
                </c:pt>
                <c:pt idx="2">
                  <c:v>17</c:v>
                </c:pt>
                <c:pt idx="3">
                  <c:v>16</c:v>
                </c:pt>
                <c:pt idx="4">
                  <c:v>14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BD-4602-8D28-B01C0B77F46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>
            <a:solidFill>
              <a:schemeClr val="bg2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fr-FR" dirty="0"/>
                  <a:t>BUTS</a:t>
                </a:r>
              </a:p>
            </c:rich>
          </c:tx>
          <c:layout>
            <c:manualLayout>
              <c:xMode val="edge"/>
              <c:yMode val="edge"/>
              <c:x val="1.9611528822055139E-2"/>
              <c:y val="0.512008157193433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fr-FR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>
            <a:solidFill>
              <a:schemeClr val="bg2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22225" cap="flat" cmpd="sng" algn="ctr">
      <a:gradFill>
        <a:gsLst>
          <a:gs pos="0">
            <a:srgbClr val="E20044"/>
          </a:gs>
          <a:gs pos="51000">
            <a:schemeClr val="accent1">
              <a:lumMod val="45000"/>
              <a:lumOff val="55000"/>
            </a:schemeClr>
          </a:gs>
          <a:gs pos="100000">
            <a:schemeClr val="accent3">
              <a:lumMod val="20000"/>
              <a:lumOff val="80000"/>
            </a:schemeClr>
          </a:gs>
        </a:gsLst>
        <a:lin ang="5400000" scaled="1"/>
      </a:gra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3.png"/></Relationships>
</file>

<file path=ppt/drawing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../media/image63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0.02058</cdr:x>
      <cdr:y>0.03186</cdr:y>
    </cdr:from>
    <cdr:to>
      <cdr:x>0.24448</cdr:x>
      <cdr:y>0.10747</cdr:y>
    </cdr:to>
    <cdr:sp macro="" textlink="">
      <cdr:nvSpPr>
        <cdr:cNvPr id="2" name="Rectangle : coins arrondis 1">
          <a:extLst xmlns:a="http://schemas.openxmlformats.org/drawingml/2006/main">
            <a:ext uri="{FF2B5EF4-FFF2-40B4-BE49-F238E27FC236}">
              <a16:creationId xmlns:a16="http://schemas.microsoft.com/office/drawing/2014/main" id="{931BE6A7-1C0D-E8F6-FFE0-EFCAB15E8D72}"/>
            </a:ext>
          </a:extLst>
        </cdr:cNvPr>
        <cdr:cNvSpPr/>
      </cdr:nvSpPr>
      <cdr:spPr>
        <a:xfrm xmlns:a="http://schemas.openxmlformats.org/drawingml/2006/main">
          <a:off x="118477" y="139034"/>
          <a:ext cx="1289060" cy="329939"/>
        </a:xfrm>
        <a:prstGeom xmlns:a="http://schemas.openxmlformats.org/drawingml/2006/main" prst="roundRect">
          <a:avLst/>
        </a:prstGeom>
        <a:solidFill xmlns:a="http://schemas.openxmlformats.org/drawingml/2006/main">
          <a:srgbClr val="002060">
            <a:alpha val="13000"/>
          </a:srgbClr>
        </a:solidFill>
        <a:ln xmlns:a="http://schemas.openxmlformats.org/drawingml/2006/main">
          <a:solidFill>
            <a:srgbClr val="002060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r"/>
          <a:endParaRPr lang="fr-FR" sz="1100" dirty="0"/>
        </a:p>
      </cdr:txBody>
    </cdr:sp>
  </cdr:relSizeAnchor>
  <cdr:relSizeAnchor xmlns:cdr="http://schemas.openxmlformats.org/drawingml/2006/chartDrawing">
    <cdr:from>
      <cdr:x>0.07556</cdr:x>
      <cdr:y>0.03969</cdr:y>
    </cdr:from>
    <cdr:to>
      <cdr:x>0.24448</cdr:x>
      <cdr:y>0.09965</cdr:y>
    </cdr:to>
    <cdr:sp macro="" textlink="">
      <cdr:nvSpPr>
        <cdr:cNvPr id="3" name="ZoneTexte 21">
          <a:extLst xmlns:a="http://schemas.openxmlformats.org/drawingml/2006/main">
            <a:ext uri="{FF2B5EF4-FFF2-40B4-BE49-F238E27FC236}">
              <a16:creationId xmlns:a16="http://schemas.microsoft.com/office/drawing/2014/main" id="{4074382C-AD86-8AE9-9C16-492366E11B35}"/>
            </a:ext>
          </a:extLst>
        </cdr:cNvPr>
        <cdr:cNvSpPr txBox="1"/>
      </cdr:nvSpPr>
      <cdr:spPr>
        <a:xfrm xmlns:a="http://schemas.openxmlformats.org/drawingml/2006/main">
          <a:off x="435016" y="173198"/>
          <a:ext cx="972521" cy="26161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 anchor="ctr">
          <a:spAutoFit/>
        </a:bodyPr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fr-FR" sz="1100" b="1" dirty="0">
              <a:solidFill>
                <a:srgbClr val="002060"/>
              </a:solidFill>
            </a:rPr>
            <a:t>Requête 3</a:t>
          </a:r>
        </a:p>
      </cdr:txBody>
    </cdr:sp>
  </cdr:relSizeAnchor>
  <cdr:relSizeAnchor xmlns:cdr="http://schemas.openxmlformats.org/drawingml/2006/chartDrawing">
    <cdr:from>
      <cdr:x>0.03849</cdr:x>
      <cdr:y>0.04668</cdr:y>
    </cdr:from>
    <cdr:to>
      <cdr:x>0.07556</cdr:x>
      <cdr:y>0.09266</cdr:y>
    </cdr:to>
    <cdr:pic>
      <cdr:nvPicPr>
        <cdr:cNvPr id="4" name="Image 3">
          <a:extLst xmlns:a="http://schemas.openxmlformats.org/drawingml/2006/main">
            <a:ext uri="{FF2B5EF4-FFF2-40B4-BE49-F238E27FC236}">
              <a16:creationId xmlns:a16="http://schemas.microsoft.com/office/drawing/2014/main" id="{C89E8634-E13F-B614-188C-4B91DA00F8B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>
          <a:duotone>
            <a:schemeClr val="accent4">
              <a:shade val="45000"/>
              <a:satMod val="135000"/>
            </a:schemeClr>
            <a:prstClr val="white"/>
          </a:duotone>
        </a:blip>
        <a:stretch xmlns:a="http://schemas.openxmlformats.org/drawingml/2006/main">
          <a:fillRect/>
        </a:stretch>
      </cdr:blipFill>
      <cdr:spPr>
        <a:xfrm xmlns:a="http://schemas.openxmlformats.org/drawingml/2006/main">
          <a:off x="221606" y="203675"/>
          <a:ext cx="213410" cy="200656"/>
        </a:xfrm>
        <a:prstGeom xmlns:a="http://schemas.openxmlformats.org/drawingml/2006/main" prst="rect">
          <a:avLst/>
        </a:prstGeom>
      </cdr:spPr>
    </cdr:pic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0.02875</cdr:x>
      <cdr:y>0.03333</cdr:y>
    </cdr:from>
    <cdr:to>
      <cdr:x>0.22807</cdr:x>
      <cdr:y>0.11387</cdr:y>
    </cdr:to>
    <cdr:sp macro="" textlink="">
      <cdr:nvSpPr>
        <cdr:cNvPr id="2" name="Rectangle : coins arrondis 1">
          <a:extLst xmlns:a="http://schemas.openxmlformats.org/drawingml/2006/main">
            <a:ext uri="{FF2B5EF4-FFF2-40B4-BE49-F238E27FC236}">
              <a16:creationId xmlns:a16="http://schemas.microsoft.com/office/drawing/2014/main" id="{931BE6A7-1C0D-E8F6-FFE0-EFCAB15E8D72}"/>
            </a:ext>
          </a:extLst>
        </cdr:cNvPr>
        <cdr:cNvSpPr/>
      </cdr:nvSpPr>
      <cdr:spPr>
        <a:xfrm xmlns:a="http://schemas.openxmlformats.org/drawingml/2006/main">
          <a:off x="174821" y="136537"/>
          <a:ext cx="1212022" cy="329939"/>
        </a:xfrm>
        <a:prstGeom xmlns:a="http://schemas.openxmlformats.org/drawingml/2006/main" prst="roundRect">
          <a:avLst/>
        </a:prstGeom>
        <a:solidFill xmlns:a="http://schemas.openxmlformats.org/drawingml/2006/main">
          <a:schemeClr val="bg1">
            <a:lumMod val="95000"/>
          </a:schemeClr>
        </a:solidFill>
        <a:ln xmlns:a="http://schemas.openxmlformats.org/drawingml/2006/main">
          <a:solidFill>
            <a:srgbClr val="E20044"/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r"/>
          <a:endParaRPr lang="fr-FR" sz="1100" dirty="0"/>
        </a:p>
      </cdr:txBody>
    </cdr:sp>
  </cdr:relSizeAnchor>
  <cdr:relSizeAnchor xmlns:cdr="http://schemas.openxmlformats.org/drawingml/2006/chartDrawing">
    <cdr:from>
      <cdr:x>0.07769</cdr:x>
      <cdr:y>0.04167</cdr:y>
    </cdr:from>
    <cdr:to>
      <cdr:x>0.22807</cdr:x>
      <cdr:y>0.10553</cdr:y>
    </cdr:to>
    <cdr:sp macro="" textlink="">
      <cdr:nvSpPr>
        <cdr:cNvPr id="3" name="ZoneTexte 21">
          <a:extLst xmlns:a="http://schemas.openxmlformats.org/drawingml/2006/main">
            <a:ext uri="{FF2B5EF4-FFF2-40B4-BE49-F238E27FC236}">
              <a16:creationId xmlns:a16="http://schemas.microsoft.com/office/drawing/2014/main" id="{4074382C-AD86-8AE9-9C16-492366E11B35}"/>
            </a:ext>
          </a:extLst>
        </cdr:cNvPr>
        <cdr:cNvSpPr txBox="1"/>
      </cdr:nvSpPr>
      <cdr:spPr>
        <a:xfrm xmlns:a="http://schemas.openxmlformats.org/drawingml/2006/main">
          <a:off x="472443" y="170701"/>
          <a:ext cx="914400" cy="261610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square" rtlCol="0" anchor="ctr">
          <a:spAutoFit/>
        </a:bodyPr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fr-FR" sz="1100" b="1" dirty="0">
              <a:solidFill>
                <a:srgbClr val="E20044"/>
              </a:solidFill>
            </a:rPr>
            <a:t>Requête 6</a:t>
          </a:r>
        </a:p>
      </cdr:txBody>
    </cdr:sp>
  </cdr:relSizeAnchor>
  <cdr:relSizeAnchor xmlns:cdr="http://schemas.openxmlformats.org/drawingml/2006/chartDrawing">
    <cdr:from>
      <cdr:x>0.0447</cdr:x>
      <cdr:y>0.04911</cdr:y>
    </cdr:from>
    <cdr:to>
      <cdr:x>0.07769</cdr:x>
      <cdr:y>0.09809</cdr:y>
    </cdr:to>
    <cdr:pic>
      <cdr:nvPicPr>
        <cdr:cNvPr id="4" name="Image 3">
          <a:extLst xmlns:a="http://schemas.openxmlformats.org/drawingml/2006/main">
            <a:ext uri="{FF2B5EF4-FFF2-40B4-BE49-F238E27FC236}">
              <a16:creationId xmlns:a16="http://schemas.microsoft.com/office/drawing/2014/main" id="{C89E8634-E13F-B614-188C-4B91DA00F8B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271787" y="201178"/>
          <a:ext cx="200656" cy="200656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43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Bonjour.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Je vais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vous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présenter le projet SportDataPulse,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réalisé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à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partir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données de Ligue 1 2025.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L’objectif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était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créer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charger et exploiter une base PostgreSQL pour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répondre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aux questions d’un directeur sportif.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 but n’est pas seulement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d’afficher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 statistiques, mais de transformer des données joueurs et équipes en informations utiles :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comprendre les performances,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vérifier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 cohérence des résultats et proposer une première recommandation de recrutement.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 besoin de départ est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assez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clair :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centraliser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données de la saison, les rendre exploitables,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puis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produire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 indicateurs fiables pour aider la décision sportive.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base contient 551 joueurs, 18 clubs, et elle est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construite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dans PostgreSQL.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mission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couvre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plusieurs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familles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d’indicateurs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les buts, le temps de jeu, les postes, les xG, la progression du ballon et les salaires.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valeur ajoutée BI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consiste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à passer d’une intuition sportive à une lecture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chiffrée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vérifiable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défendable.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donnée ne remplace pas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l’analyse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 staff, mais elle permet de mieux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argumenter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décisions.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J’ai suivi un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cheminement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plusieurs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étapes.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D’abord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j’ai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compris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 source des données, issue de FBref et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fournie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dans un fichier initial.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Ensuite, j’ai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identifié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principales entités : joueur, équipe, position et les tables statistiques.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Après cette phase de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compréhension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j’ai modélisé la base, préparé les CSV, chargé les données dans PostgreSQL, puis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réalisé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contrôles qualité.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Enfin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j’ai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écrit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requêtes SQL pour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répondre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aux questions métier et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construire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 shortlist de recrutement.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 principe directeur a été de conserver les données brutes pour la traçabilité, puis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d’ajouter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une vue consolidée pour mesurer l’impact des doublons fonctionnels sans modifier les sources.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données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initiales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sont des statistiques agrégées par joueur sur la saison.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Elles ne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donnent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pas le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détail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match par match, mais elles permettent déjà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d’analyser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profils, les clubs et les postes sur une vision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globale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J’ai séparé le fichier source en tables métier : joueur, équipe, position, performance, temps de jeu, attendu et progression.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J’ai aussi conservé la table salaire_source à part, car les salaires viennent d’une source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complémentaire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nécessitent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garder une traçabilité.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préparation a aussi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porté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sur les formats, les valeurs manquantes, les caractères spéciaux et les doublons fonctionnels.</a:t>
            </a:r>
          </a:p>
          <a:p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volumes sont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cohérents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551 joueurs, 551 lignes de performance et 18 équipes.</a:t>
            </a:r>
            <a:endParaRPr lang="fr-FR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 dictionnaire de données sert de mode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d’emploi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la base.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Il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décrit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champs, leur signification, leur type SQL, les contraintes et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parfois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règles de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calcul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C’est important pour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éviter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ambiguïtés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dans les requêtes.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J’ai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renommé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champs avec une convention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homogène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minuscules, sans espaces et sans accents.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Cela rend les requêtes plus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propres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limite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erreurs.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 dictionnaire précise aussi les clés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primaires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les clés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étrangères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les types de données.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 un public non technique, on peut le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résumer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ainsi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 dictionnaire permet de savoir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exactement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que chaque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colonne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représente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comment elle doit être utilisée.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 schéma relationnel montre comment les tables sont reliées.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table joueur est au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centre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car la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majorité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 indicateurs sont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rattachés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au joueur : buts, minutes, xG, passes progressives ou équipe.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tables équipe et position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servent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référentiels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statistiques sont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séparées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dans des tables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spécialisées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 performance pour les buts et cartons,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 temps_de_jeu pour les minutes,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attendu pour les xG,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progression pour les indicateurs de progression du ballon.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modèle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évite de répéter les mêmes informations partout et sécurise les jointures.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 exemple, pour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obtenir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buts par équipe, on part de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l’équipe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on rejoint les joueurs, puis les performances.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fois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modèle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défini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j’ai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créé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tables dans PostgreSQL et chargé les données.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base contient 8 tables métier et une vue consolidée.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tables sources restent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inchangées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elles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gardent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 donnée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importée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vue consolidée sert à regrouper logiquement certains doublons fonctionnels pour comparer les résultats.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Elle additionne par exemple les buts, les matchs joués, les xG ou les passes progressives par joueur, poste et équipe.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Cette vue n’est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donc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pas une correction des données sources, mais un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outil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contrôle.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Avant de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produire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analyses, j’ai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vérifié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que la base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était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cohérente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C’est une étape importante :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une requête peut être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correcte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techniquement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mais donner un mauvais résultat si l’import ou les jointures sont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incorrects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premiers contrôles portent sur les volumes :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551 lignes  pour joueurs, performances, temps de jeu,  xG,  et progressions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ainsi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que 18 lignes équipes.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Ensuite, j’ai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vérifié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que les tables se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reliaient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correctement avec les clés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étrangères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J’ai aussi utilisé NULLIF dans les ratios pour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éviter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divisions par zéro, par exemple sur les penalties ou les cartons rapportés aux titularisations.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Ces contrôles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réduisent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 risque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d’interprétation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faussée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J’ai distingué deux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niveaux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d’analyse.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données brutes restent la référence principale, car elles sont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fidèles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au fichier source et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alignées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avec les résultats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attendus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 projet.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vue consolidée sert plutôt de contrôle qualité.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Elle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fusionne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logiquement certains doublons fonctionnels sans toucher aux tables sources.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 passe de 551 lignes brutes à 541 lignes consolidées, soit 10 lignes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regroupées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L’impact global reste limité, mais la démarche est importante : elle montre que les résultats ne sont pas seulement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produits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ils sont aussi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vérifiés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challengés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 chaque besoin métier, j’ai utilisé la même structure :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une question, une requête SQL, un résultat, puis une interprétation.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Cette méthode rend le travail plus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lisible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pour un public technique comme non technique.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L’exemple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affiché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calcule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 total de buts par équipe.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requête part de la table équipe, rejoint les joueurs, puis la table performance, additionne les buts et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clubs du plus au moins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productif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L’intérêt est de garder un lien clair entre la question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posée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 le directeur sportif et la réponse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produite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 SQL.</a:t>
            </a:r>
            <a:endParaRPr lang="fr-FR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 premier résultat répond à la question du nombre total de buts par équipe.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Paris SG ressort nettement en tête avec 86 buts, devant Marseille, Monaco et Lyon.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C’est un indicateur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collectif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simple, mais utile pour comparer la puissance offensive des clubs.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Il permet de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voir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rapidement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quelles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équipes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produisent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 plus en volume de buts.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Il faut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toutefois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garder en tête que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chiffre ne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pas tout.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Il peut ensuite être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croisé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avec les xG, le temps de jeu ou la répartition des buteurs pour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obtenir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une analyse plus fine.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Cette slide analyse la répartition des joueurs par poste.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défenseurs et les milieux représentent les plus gros volumes,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attaquants sont moins nombreux,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 les gardiens restent logiquement la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catégorie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 plus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réduite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Cette information sert surtout à contextualiser les autres indicateurs.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 exemple, comparer une moyenne de buts ou de minutes sans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connaître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 nombre de joueurs par poste peut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créer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une lecture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biaisée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requête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utilise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comptage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un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pourcentage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 total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général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qui permet de lire à la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fois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 volume réel et le poids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relatif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chaque poste.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Ici, la requête 6 correspond uniquement au Top 10 des buteurs de Ligue 1.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Elle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sélectionne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 nom du joueur, son club et son nombre de buts, puis elle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joueurs par buts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décroissants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identifie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donc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rapidement les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meilleurs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buteurs : Dembélé, Greenwood, Kalimuendo, David, Emegha ou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Barcola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Il est important de préciser que la requête 6 ne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calcule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pas les buts par 90 minutes, les xG ou la différence buts - xG.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Ces indicateurs correspondent à une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amélioration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l’analyse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avec les requêtes complémentaires,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notamment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 requête 9 pour buts moins xG, et les requêtes 12 et 13 pour les buts par 90 minutes.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Donc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 lecture de cette slide est la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suivante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: le top buteurs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donne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 volume brut,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puis les analyses complémentaires permettent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d’aller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plus loin pour comparer l’efficacité réelle et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éviter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conclure uniquement sur le nombre total de buts.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Cette slide regroupe trois indicateurs qui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replacent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chiffres dans leur contexte :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la discipline,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le temps de jeu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	et les penalties.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 la discipline, les cartons rouges sont rapportés aux titularisations,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qui évite de juger uniquement en valeur brute.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 le temps de jeu, on compare les minutes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moyennes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les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équivalents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matchs complets par poste.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 les penalties, on regarde le volume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marqué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le taux de réussite.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L’idée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générale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est simple : un chiffre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isolé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peut être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trompeur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Un but, un carton ou une réussite sur penalty n’a pas le même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sens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selon le temps de jeu et le rôle du joueur.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Cette analyse permet d’identifier, dans chaque club, le joueur qui fait le plus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progresser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 ballon par la passe.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L’indicateur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PrgP, pour passes progressives, montre une contribution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différente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 buts : il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mesure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l’avancée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du jeu.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requête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utilise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ROW_NUMBER avec PARTITION BY.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Concrètement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SQL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joueurs à l’intérieur de chaque équipe, puis conserve uniquement le premier.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obtient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donc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 joueur moteur par club, et pas seulement un top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général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 le staff, c’est utile pour repérer les relais techniques, les joueurs qui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participent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à la construction et ceux qui font avancer le ballon.</a:t>
            </a:r>
            <a:endParaRPr lang="fr-FR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Cette slide répond au besoin final :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proposer une shortlist d’attaquants avec un salaire annuel inférieur ou égal à 3 millions d’euros.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requête filtre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donc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sur le poste attaquant, le salaire, un minimum de 5 buts, puis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joueurs par nombre de buts.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J’ai aussi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ajouté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 ratio PrgP par but.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Plus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ratio est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faible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plus le joueur se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rapproche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d’un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profil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finisseur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car il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réalise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moins de passes progressives par but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marqué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À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l’inverse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un ratio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élevé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peut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indiquer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 joueur davantage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impliqué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dans la progression du ballon.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Dans la shortlist, Kalimuendo et David ressortent par le volume de buts. Emegha, Biereth et Lepaul sont intéressants par leur ratio plus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faible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En revanche, des profils comme Guessand, Nakamura ou Davitashvili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semblent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plus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impliqués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dans la construction du jeu.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Cette liste est une base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d’aide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à la décision.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Elle doit ensuite être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complétée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 le scouting vidéo, le contexte contractuel, l’âge,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l’état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physique et l’adaptation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tactique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Une base de données utile doit être fiable, mais aussi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maintenable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dans le temps.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 la sauvegarde, je recommande des dumps PostgreSQL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planifiés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avec des versions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datées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et des tests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réguliers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restauration.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 le stockage, il faut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séparer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sources, les scripts SQL, les exports d’analyse et la base.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Cela évite de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mélanger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les données brutes avec les résultats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produits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 les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accès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le staff non technique peut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avoir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accès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 lecture seule,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tandis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l’analyste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ou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l’administrateur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conserve les droits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nécessaires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Enfin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la traçabilité repose sur la conservation des scripts de création, d’import, d’analyse et de comparaison.</a:t>
            </a:r>
            <a:endParaRPr lang="fr-FR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Cette slide est une annexe.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Je ne vais pas la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détailler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dans le temps principal, car les requêtes complètes sont déjà dans le document SQL.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Elle montre simplement que chaque question métier est reliée à une requête, un résultat et une interprétation : moyenne de matchs, penalties, cartons rouges et efficacité buts - xG.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41984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Cette deuxième annexe regroupe les analyses avancées :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meilleur PrgP par club, shortlist recrutement, efficacité par 90 minutes et potentiel offensif avec temps de jeu limité.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(Je la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garde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comme support pour les questions,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notamment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si l’évaluateur veut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revenir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sur les requêtes complémentaires ou sur la logique de recrutement.)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2190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Pour conclure, le projet transforme un fichier de statistiques en base PostgreSQL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structurée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contrôlée et exploitable.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 dictionnaire, le schéma relationnel et la vue consolidée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renforcent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 traçabilité.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requêtes SQL répondent aux questions du staff : performance collective, postes, buteurs, discipline, penalties, efficacité, progression du ballon et recrutement.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Les analyses complémentaires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apportent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une lecture plus fine grâce aux xG et aux ratios par 90 minutes.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shortlist d’attaquants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constitue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une aide à la décision, mais elle doit être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challengée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l’expertise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sportive.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 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donnée ne remplace pas le jugement du staff : elle le rend plus clair, plus comparable et mieux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argumenté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endParaRPr lang="en-US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Je peux </a:t>
            </a:r>
            <a:r>
              <a:rPr lang="en-US" sz="18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maintenant</a:t>
            </a:r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passer à la démonstration live.</a:t>
            </a:r>
            <a:endParaRPr lang="fr-FR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738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625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33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574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789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973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46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185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18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281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7890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03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23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12" Type="http://schemas.microsoft.com/office/2007/relationships/hdphoto" Target="../media/hdphoto4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10.png"/><Relationship Id="rId5" Type="http://schemas.openxmlformats.org/officeDocument/2006/relationships/image" Target="../media/image6.png"/><Relationship Id="rId10" Type="http://schemas.microsoft.com/office/2007/relationships/hdphoto" Target="../media/hdphoto3.wdp"/><Relationship Id="rId4" Type="http://schemas.microsoft.com/office/2007/relationships/hdphoto" Target="../media/hdphoto1.wdp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7.png"/><Relationship Id="rId5" Type="http://schemas.openxmlformats.org/officeDocument/2006/relationships/image" Target="../media/image13.png"/><Relationship Id="rId10" Type="http://schemas.microsoft.com/office/2007/relationships/hdphoto" Target="../media/hdphoto2.wdp"/><Relationship Id="rId4" Type="http://schemas.openxmlformats.org/officeDocument/2006/relationships/image" Target="../media/image12.png"/><Relationship Id="rId9" Type="http://schemas.openxmlformats.org/officeDocument/2006/relationships/image" Target="../media/image6.png"/><Relationship Id="rId1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6.png"/><Relationship Id="rId5" Type="http://schemas.openxmlformats.org/officeDocument/2006/relationships/image" Target="../media/image21.png"/><Relationship Id="rId10" Type="http://schemas.openxmlformats.org/officeDocument/2006/relationships/image" Target="../media/image7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2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microsoft.com/office/2007/relationships/hdphoto" Target="../media/hdphoto6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microsoft.com/office/2007/relationships/hdphoto" Target="../media/hdphoto5.wdp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microsoft.com/office/2007/relationships/hdphoto" Target="../media/hdphoto1.wd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6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11.png"/><Relationship Id="rId5" Type="http://schemas.openxmlformats.org/officeDocument/2006/relationships/image" Target="../media/image41.png"/><Relationship Id="rId15" Type="http://schemas.openxmlformats.org/officeDocument/2006/relationships/image" Target="../media/image27.png"/><Relationship Id="rId10" Type="http://schemas.microsoft.com/office/2007/relationships/hdphoto" Target="../media/hdphoto1.wdp"/><Relationship Id="rId4" Type="http://schemas.openxmlformats.org/officeDocument/2006/relationships/image" Target="../media/image40.png"/><Relationship Id="rId9" Type="http://schemas.openxmlformats.org/officeDocument/2006/relationships/image" Target="../media/image2.png"/><Relationship Id="rId1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11.png"/><Relationship Id="rId3" Type="http://schemas.openxmlformats.org/officeDocument/2006/relationships/image" Target="../media/image48.png"/><Relationship Id="rId7" Type="http://schemas.openxmlformats.org/officeDocument/2006/relationships/image" Target="../media/image6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27.png"/><Relationship Id="rId5" Type="http://schemas.microsoft.com/office/2007/relationships/hdphoto" Target="../media/hdphoto1.wdp"/><Relationship Id="rId15" Type="http://schemas.openxmlformats.org/officeDocument/2006/relationships/image" Target="../media/image54.png"/><Relationship Id="rId10" Type="http://schemas.openxmlformats.org/officeDocument/2006/relationships/image" Target="../media/image51.png"/><Relationship Id="rId4" Type="http://schemas.openxmlformats.org/officeDocument/2006/relationships/image" Target="../media/image2.png"/><Relationship Id="rId9" Type="http://schemas.openxmlformats.org/officeDocument/2006/relationships/image" Target="../media/image50.png"/><Relationship Id="rId1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6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10" Type="http://schemas.openxmlformats.org/officeDocument/2006/relationships/image" Target="../media/image59.png"/><Relationship Id="rId4" Type="http://schemas.openxmlformats.org/officeDocument/2006/relationships/image" Target="../media/image2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6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chart" Target="../charts/chart2.xml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chart" Target="../charts/chart3.xml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microsoft.com/office/2007/relationships/hdphoto" Target="../media/hdphoto1.wdp"/><Relationship Id="rId10" Type="http://schemas.openxmlformats.org/officeDocument/2006/relationships/image" Target="../media/image70.png"/><Relationship Id="rId4" Type="http://schemas.openxmlformats.org/officeDocument/2006/relationships/image" Target="../media/image2.png"/><Relationship Id="rId9" Type="http://schemas.openxmlformats.org/officeDocument/2006/relationships/image" Target="../media/image6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2.png"/><Relationship Id="rId7" Type="http://schemas.openxmlformats.org/officeDocument/2006/relationships/image" Target="../media/image74.png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7.png"/><Relationship Id="rId5" Type="http://schemas.openxmlformats.org/officeDocument/2006/relationships/image" Target="../media/image72.png"/><Relationship Id="rId10" Type="http://schemas.openxmlformats.org/officeDocument/2006/relationships/image" Target="../media/image63.png"/><Relationship Id="rId4" Type="http://schemas.microsoft.com/office/2007/relationships/hdphoto" Target="../media/hdphoto1.wdp"/><Relationship Id="rId9" Type="http://schemas.openxmlformats.org/officeDocument/2006/relationships/image" Target="../media/image7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microsoft.com/office/2007/relationships/hdphoto" Target="../media/hdphoto1.wdp"/><Relationship Id="rId9" Type="http://schemas.openxmlformats.org/officeDocument/2006/relationships/image" Target="../media/image8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2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microsoft.com/office/2007/relationships/hdphoto" Target="../media/hdphoto1.wdp"/><Relationship Id="rId9" Type="http://schemas.openxmlformats.org/officeDocument/2006/relationships/image" Target="../media/image8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2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27.png"/><Relationship Id="rId5" Type="http://schemas.openxmlformats.org/officeDocument/2006/relationships/image" Target="../media/image92.png"/><Relationship Id="rId10" Type="http://schemas.openxmlformats.org/officeDocument/2006/relationships/image" Target="../media/image75.png"/><Relationship Id="rId4" Type="http://schemas.microsoft.com/office/2007/relationships/hdphoto" Target="../media/hdphoto1.wdp"/><Relationship Id="rId9" Type="http://schemas.openxmlformats.org/officeDocument/2006/relationships/image" Target="../media/image9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ackground image stade">
            <a:extLst>
              <a:ext uri="{FF2B5EF4-FFF2-40B4-BE49-F238E27FC236}">
                <a16:creationId xmlns:a16="http://schemas.microsoft.com/office/drawing/2014/main" id="{D9040830-3125-7810-1A03-2B2227388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7F10A041-00E1-F976-062A-6A5BFDCF5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894" y="418350"/>
            <a:ext cx="3985895" cy="1137073"/>
          </a:xfrm>
          <a:prstGeom prst="roundRect">
            <a:avLst>
              <a:gd name="adj" fmla="val 7000"/>
            </a:avLst>
          </a:prstGeom>
          <a:solidFill>
            <a:schemeClr val="dk1">
              <a:alpha val="61000"/>
            </a:schemeClr>
          </a:solidFill>
          <a:ln>
            <a:gradFill flip="none" rotWithShape="1">
              <a:gsLst>
                <a:gs pos="0">
                  <a:srgbClr val="FF0000"/>
                </a:gs>
                <a:gs pos="18000">
                  <a:srgbClr val="F2A0CE"/>
                </a:gs>
                <a:gs pos="38000">
                  <a:srgbClr val="17252A"/>
                </a:gs>
                <a:gs pos="100000">
                  <a:srgbClr val="17252A"/>
                </a:gs>
              </a:gsLst>
              <a:lin ang="2700000" scaled="1"/>
              <a:tileRect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AB775083-F69C-CDFD-B6BF-49666DFA12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4905" y="1891067"/>
            <a:ext cx="6492240" cy="2663178"/>
          </a:xfrm>
          <a:prstGeom prst="roundRect">
            <a:avLst>
              <a:gd name="adj" fmla="val 7000"/>
            </a:avLst>
          </a:prstGeom>
          <a:solidFill>
            <a:schemeClr val="dk1">
              <a:alpha val="83000"/>
            </a:schemeClr>
          </a:solidFill>
          <a:ln>
            <a:gradFill flip="none" rotWithShape="1">
              <a:gsLst>
                <a:gs pos="0">
                  <a:srgbClr val="FF0000"/>
                </a:gs>
                <a:gs pos="18000">
                  <a:schemeClr val="accent1">
                    <a:lumMod val="45000"/>
                    <a:lumOff val="55000"/>
                  </a:schemeClr>
                </a:gs>
                <a:gs pos="38000">
                  <a:srgbClr val="17252A"/>
                </a:gs>
                <a:gs pos="100000">
                  <a:srgbClr val="17252A"/>
                </a:gs>
              </a:gsLst>
              <a:lin ang="2700000" scaled="1"/>
              <a:tileRect/>
            </a:gra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21" name="Logo">
            <a:extLst>
              <a:ext uri="{FF2B5EF4-FFF2-40B4-BE49-F238E27FC236}">
                <a16:creationId xmlns:a16="http://schemas.microsoft.com/office/drawing/2014/main" id="{94304C14-47D6-52E1-13DE-4D5CE73DF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13232" y="466344"/>
            <a:ext cx="5230368" cy="1005840"/>
            <a:chOff x="713232" y="466344"/>
            <a:chExt cx="5230368" cy="1005840"/>
          </a:xfrm>
        </p:grpSpPr>
        <p:sp>
          <p:nvSpPr>
            <p:cNvPr id="17" name="Arrière plan logo">
              <a:extLst>
                <a:ext uri="{FF2B5EF4-FFF2-40B4-BE49-F238E27FC236}">
                  <a16:creationId xmlns:a16="http://schemas.microsoft.com/office/drawing/2014/main" id="{13BD4908-BB0C-E667-48FF-CEDF8A145858}"/>
                </a:ext>
              </a:extLst>
            </p:cNvPr>
            <p:cNvSpPr/>
            <p:nvPr/>
          </p:nvSpPr>
          <p:spPr>
            <a:xfrm>
              <a:off x="775430" y="545020"/>
              <a:ext cx="881444" cy="881444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pic>
          <p:nvPicPr>
            <p:cNvPr id="2" name="Logo image" descr="/mnt/data/assets_spdp/logo_icon.png"/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4030" l="5735" r="91618">
                          <a14:foregroundMark x1="14772" y1="24699" x2="60882" y2="10746"/>
                          <a14:foregroundMark x1="72829" y1="25537" x2="93676" y2="51343"/>
                          <a14:foregroundMark x1="60882" y1="10746" x2="71330" y2="23680"/>
                          <a14:foregroundMark x1="85349" y1="64409" x2="66993" y2="93211"/>
                          <a14:foregroundMark x1="88908" y1="58824" x2="88552" y2="59384"/>
                          <a14:foregroundMark x1="93676" y1="51343" x2="88945" y2="58766"/>
                          <a14:foregroundMark x1="65517" y1="93881" x2="23967" y2="87403"/>
                          <a14:foregroundMark x1="17894" y1="81051" x2="6997" y2="43987"/>
                          <a14:foregroundMark x1="33235" y1="90299" x2="64265" y2="91940"/>
                          <a14:foregroundMark x1="41324" y1="94030" x2="58088" y2="92836"/>
                          <a14:foregroundMark x1="89118" y1="62106" x2="89118" y2="63134"/>
                          <a14:foregroundMark x1="89118" y1="39552" x2="89118" y2="59541"/>
                          <a14:foregroundMark x1="90441" y1="61343" x2="91618" y2="41045"/>
                          <a14:foregroundMark x1="87995" y1="58913" x2="88235" y2="58060"/>
                          <a14:foregroundMark x1="73825" y1="39929" x2="73676" y2="39254"/>
                          <a14:foregroundMark x1="64728" y1="32173" x2="60882" y2="19851"/>
                          <a14:foregroundMark x1="84412" y1="68955" x2="86471" y2="64925"/>
                          <a14:foregroundMark x1="84853" y1="63731" x2="86618" y2="63731"/>
                          <a14:foregroundMark x1="83235" y1="64627" x2="86912" y2="65075"/>
                          <a14:backgroundMark x1="9853" y1="30149" x2="9853" y2="30149"/>
                          <a14:backgroundMark x1="9853" y1="30149" x2="3676" y2="42537"/>
                          <a14:backgroundMark x1="17206" y1="83433" x2="21618" y2="89104"/>
                          <a14:backgroundMark x1="14265" y1="24328" x2="8971" y2="30448"/>
                          <a14:backgroundMark x1="5735" y1="42537" x2="6618" y2="44179"/>
                          <a14:backgroundMark x1="17647" y1="82537" x2="16324" y2="85075"/>
                          <a14:backgroundMark x1="17206" y1="82537" x2="18382" y2="81791"/>
                          <a14:backgroundMark x1="17059" y1="81791" x2="22647" y2="88358"/>
                          <a14:backgroundMark x1="22941" y1="87761" x2="24118" y2="87463"/>
                          <a14:backgroundMark x1="47206" y1="55522" x2="47794" y2="50896"/>
                          <a14:backgroundMark x1="46912" y1="56567" x2="48382" y2="49254"/>
                          <a14:backgroundMark x1="48676" y1="50299" x2="46618" y2="53731"/>
                          <a14:backgroundMark x1="47500" y1="55970" x2="48676" y2="56269"/>
                          <a14:backgroundMark x1="46324" y1="55224" x2="47206" y2="56269"/>
                          <a14:backgroundMark x1="45588" y1="55522" x2="47794" y2="51194"/>
                          <a14:backgroundMark x1="46618" y1="54328" x2="46618" y2="54328"/>
                          <a14:backgroundMark x1="47206" y1="54776" x2="45735" y2="54030"/>
                          <a14:backgroundMark x1="47794" y1="51791" x2="47794" y2="54776"/>
                          <a14:backgroundMark x1="56912" y1="35075" x2="57647" y2="51791"/>
                          <a14:backgroundMark x1="57647" y1="53284" x2="56912" y2="54030"/>
                          <a14:backgroundMark x1="57059" y1="52090" x2="58088" y2="53582"/>
                          <a14:backgroundMark x1="56176" y1="54030" x2="57647" y2="54776"/>
                          <a14:backgroundMark x1="66912" y1="27015" x2="69118" y2="27761"/>
                          <a14:backgroundMark x1="68382" y1="29104" x2="69706" y2="49851"/>
                          <a14:backgroundMark x1="66176" y1="40597" x2="66765" y2="37313"/>
                          <a14:backgroundMark x1="70588" y1="30597" x2="71176" y2="27612"/>
                          <a14:backgroundMark x1="67647" y1="25373" x2="68235" y2="46269"/>
                          <a14:backgroundMark x1="71912" y1="30299" x2="71176" y2="26866"/>
                          <a14:backgroundMark x1="71324" y1="32836" x2="70588" y2="26866"/>
                          <a14:backgroundMark x1="66618" y1="36716" x2="70588" y2="34627"/>
                          <a14:backgroundMark x1="71765" y1="35821" x2="69853" y2="37015"/>
                          <a14:backgroundMark x1="70294" y1="31940" x2="68235" y2="45075"/>
                          <a14:backgroundMark x1="70588" y1="28209" x2="71324" y2="33433"/>
                          <a14:backgroundMark x1="71765" y1="33134" x2="71471" y2="37612"/>
                          <a14:backgroundMark x1="68676" y1="25821" x2="70588" y2="25821"/>
                          <a14:backgroundMark x1="69706" y1="26716" x2="72206" y2="26567"/>
                          <a14:backgroundMark x1="66912" y1="33433" x2="65735" y2="35075"/>
                          <a14:backgroundMark x1="70294" y1="26567" x2="72059" y2="26269"/>
                          <a14:backgroundMark x1="70147" y1="31045" x2="72059" y2="26716"/>
                          <a14:backgroundMark x1="69706" y1="27910" x2="72500" y2="30299"/>
                          <a14:backgroundMark x1="85294" y1="62537" x2="88382" y2="61642"/>
                          <a14:backgroundMark x1="87806" y1="62920" x2="88088" y2="61343"/>
                          <a14:backgroundMark x1="88382" y1="62985" x2="88382" y2="60149"/>
                          <a14:backgroundMark x1="87970" y1="61575" x2="88529" y2="61642"/>
                          <a14:backgroundMark x1="86029" y1="61343" x2="86328" y2="61379"/>
                          <a14:backgroundMark x1="84559" y1="61343" x2="85949" y2="61984"/>
                          <a14:backgroundMark x1="87792" y1="61590" x2="88088" y2="60448"/>
                          <a14:backgroundMark x1="87458" y1="62878" x2="87673" y2="62049"/>
                          <a14:backgroundMark x1="87504" y1="62883" x2="89265" y2="61791"/>
                          <a14:backgroundMark x1="65882" y1="94925" x2="65441" y2="93582"/>
                          <a14:backgroundMark x1="64559" y1="95672" x2="71029" y2="94328"/>
                          <a14:backgroundMark x1="64118" y1="96119" x2="68235" y2="95224"/>
                          <a14:backgroundMark x1="62500" y1="97612" x2="68676" y2="95224"/>
                        </a14:backgroundRemoval>
                      </a14:imgEffect>
                    </a14:imgLayer>
                  </a14:imgProps>
                </a:ext>
              </a:extLst>
            </a:blip>
            <a:srcRect l="735" r="735"/>
            <a:stretch/>
          </p:blipFill>
          <p:spPr>
            <a:xfrm>
              <a:off x="713232" y="466344"/>
              <a:ext cx="1005840" cy="1005840"/>
            </a:xfrm>
            <a:prstGeom prst="rect">
              <a:avLst/>
            </a:prstGeom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</p:pic>
        <p:sp>
          <p:nvSpPr>
            <p:cNvPr id="3" name="Logo Text"/>
            <p:cNvSpPr/>
            <p:nvPr/>
          </p:nvSpPr>
          <p:spPr>
            <a:xfrm>
              <a:off x="1828800" y="793718"/>
              <a:ext cx="411480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SportDataPulse</a:t>
              </a:r>
              <a:endPara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" name="Titre proje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2057400"/>
            <a:ext cx="6492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Analyse des performances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Ligue 1 - Saison 2025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itre 11">
            <a:extLst>
              <a:ext uri="{FF2B5EF4-FFF2-40B4-BE49-F238E27FC236}">
                <a16:creationId xmlns:a16="http://schemas.microsoft.com/office/drawing/2014/main" id="{404806B7-981A-D840-C3D3-709FDC476C2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Analyse des performances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Ligue 1 - Saison 2025</a:t>
            </a:r>
            <a:endParaRPr lang="fr-FR" dirty="0"/>
          </a:p>
        </p:txBody>
      </p:sp>
      <p:sp>
        <p:nvSpPr>
          <p:cNvPr id="5" name="Sous-tit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2461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dirty="0">
                <a:solidFill>
                  <a:srgbClr val="DDE7E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Création, chargement et exploitation d’une base de données PostgreSQL</a:t>
            </a:r>
            <a:endParaRPr lang="en-US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EBBB03AD-53F9-E7EA-C4A9-6E7A5612C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13233" y="3977640"/>
            <a:ext cx="1648228" cy="360000"/>
            <a:chOff x="713232" y="3977640"/>
            <a:chExt cx="1600200" cy="360000"/>
          </a:xfrm>
        </p:grpSpPr>
        <p:sp>
          <p:nvSpPr>
            <p:cNvPr id="6" name="Shape"/>
            <p:cNvSpPr/>
            <p:nvPr/>
          </p:nvSpPr>
          <p:spPr>
            <a:xfrm>
              <a:off x="713232" y="3977640"/>
              <a:ext cx="1600200" cy="360000"/>
            </a:xfrm>
            <a:prstGeom prst="roundRect">
              <a:avLst>
                <a:gd name="adj" fmla="val 14706"/>
              </a:avLst>
            </a:prstGeom>
            <a:solidFill>
              <a:srgbClr val="E20044"/>
            </a:solidFill>
            <a:ln w="12700">
              <a:solidFill>
                <a:srgbClr val="E20044">
                  <a:alpha val="0"/>
                </a:srgbClr>
              </a:solidFill>
              <a:prstDash val="solid"/>
            </a:ln>
          </p:spPr>
        </p:sp>
        <p:sp>
          <p:nvSpPr>
            <p:cNvPr id="7" name="Modélisation"/>
            <p:cNvSpPr/>
            <p:nvPr/>
          </p:nvSpPr>
          <p:spPr>
            <a:xfrm>
              <a:off x="951632" y="3977640"/>
              <a:ext cx="1361799" cy="3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Modélisation</a:t>
              </a:r>
              <a:endPara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CBDE288B-4CB3-9F4F-A4B9-B06D92F78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76650" y="3978528"/>
            <a:ext cx="1801139" cy="360000"/>
            <a:chOff x="2423160" y="3977640"/>
            <a:chExt cx="1234440" cy="360000"/>
          </a:xfrm>
        </p:grpSpPr>
        <p:sp>
          <p:nvSpPr>
            <p:cNvPr id="8" name="Shape 5"/>
            <p:cNvSpPr/>
            <p:nvPr/>
          </p:nvSpPr>
          <p:spPr>
            <a:xfrm>
              <a:off x="2423160" y="3977640"/>
              <a:ext cx="1234440" cy="360000"/>
            </a:xfrm>
            <a:prstGeom prst="roundRect">
              <a:avLst>
                <a:gd name="adj" fmla="val 14706"/>
              </a:avLst>
            </a:prstGeom>
            <a:solidFill>
              <a:srgbClr val="0F5B7F"/>
            </a:solidFill>
            <a:ln w="12700">
              <a:solidFill>
                <a:srgbClr val="0F5B7F">
                  <a:alpha val="0"/>
                </a:srgbClr>
              </a:solidFill>
              <a:prstDash val="solid"/>
            </a:ln>
          </p:spPr>
        </p:sp>
        <p:sp>
          <p:nvSpPr>
            <p:cNvPr id="9" name="Requêtes SQL"/>
            <p:cNvSpPr/>
            <p:nvPr/>
          </p:nvSpPr>
          <p:spPr>
            <a:xfrm>
              <a:off x="2643566" y="3977640"/>
              <a:ext cx="1014034" cy="3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Requêtes SQL</a:t>
              </a:r>
              <a:endPara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54F0DE52-D169-9B4B-3C35-C12DC3489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792979" y="3977640"/>
            <a:ext cx="1962927" cy="360000"/>
            <a:chOff x="3767328" y="3977640"/>
            <a:chExt cx="1874520" cy="360000"/>
          </a:xfrm>
        </p:grpSpPr>
        <p:sp>
          <p:nvSpPr>
            <p:cNvPr id="10" name="Shape 7"/>
            <p:cNvSpPr/>
            <p:nvPr/>
          </p:nvSpPr>
          <p:spPr>
            <a:xfrm>
              <a:off x="3767328" y="3977640"/>
              <a:ext cx="1874520" cy="360000"/>
            </a:xfrm>
            <a:prstGeom prst="roundRect">
              <a:avLst>
                <a:gd name="adj" fmla="val 14706"/>
              </a:avLst>
            </a:prstGeom>
            <a:solidFill>
              <a:srgbClr val="2E7D32"/>
            </a:solidFill>
            <a:ln w="12700">
              <a:solidFill>
                <a:srgbClr val="2E7D32">
                  <a:alpha val="0"/>
                </a:srgbClr>
              </a:solidFill>
              <a:prstDash val="solid"/>
            </a:ln>
          </p:spPr>
        </p:sp>
        <p:sp>
          <p:nvSpPr>
            <p:cNvPr id="11" name="Contrôles qualité"/>
            <p:cNvSpPr/>
            <p:nvPr/>
          </p:nvSpPr>
          <p:spPr>
            <a:xfrm>
              <a:off x="4123638" y="3977640"/>
              <a:ext cx="1518210" cy="36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Contrôles qualité</a:t>
              </a:r>
              <a:endParaRPr lang="en-US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4" name="formation"/>
          <p:cNvSpPr/>
          <p:nvPr/>
        </p:nvSpPr>
        <p:spPr>
          <a:xfrm>
            <a:off x="713232" y="599846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Intelligence Analyst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Auteur"/>
          <p:cNvSpPr/>
          <p:nvPr/>
        </p:nvSpPr>
        <p:spPr>
          <a:xfrm>
            <a:off x="9326880" y="59984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Steve Bell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B1CAF9B3-5C7A-97D9-A928-89D2F0F28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75430" y="4005218"/>
            <a:ext cx="295200" cy="295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3BA0593D-31E5-441D-990C-E3E569F7D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7102" y="4026983"/>
            <a:ext cx="294244" cy="294244"/>
          </a:xfrm>
          <a:prstGeom prst="rect">
            <a:avLst/>
          </a:pr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642B2BC4-B6F7-2C24-77C1-0B079548E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010" y="4002480"/>
            <a:ext cx="295200" cy="295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slide 2"/>
          <p:cNvSpPr/>
          <p:nvPr/>
        </p:nvSpPr>
        <p:spPr>
          <a:xfrm>
            <a:off x="502920" y="32918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 et contexte</a:t>
            </a:r>
            <a:endParaRPr lang="en-US" sz="2500" dirty="0"/>
          </a:p>
        </p:txBody>
      </p:sp>
      <p:pic>
        <p:nvPicPr>
          <p:cNvPr id="26" name="Logo image">
            <a:extLst>
              <a:ext uri="{FF2B5EF4-FFF2-40B4-BE49-F238E27FC236}">
                <a16:creationId xmlns:a16="http://schemas.microsoft.com/office/drawing/2014/main" id="{081ACD40-9609-67DF-7C55-08A050A03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3" name="Sous-titre"/>
          <p:cNvSpPr/>
          <p:nvPr/>
        </p:nvSpPr>
        <p:spPr>
          <a:xfrm>
            <a:off x="530352" y="768096"/>
            <a:ext cx="7132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dirty="0">
                <a:solidFill>
                  <a:srgbClr val="607D8B"/>
                </a:solidFill>
              </a:rPr>
              <a:t>Transformer les données de Ligue 1 en aide à la décision sportive</a:t>
            </a:r>
          </a:p>
        </p:txBody>
      </p:sp>
      <p:sp>
        <p:nvSpPr>
          <p:cNvPr id="27" name="Ligne sous titre slide">
            <a:extLst>
              <a:ext uri="{FF2B5EF4-FFF2-40B4-BE49-F238E27FC236}">
                <a16:creationId xmlns:a16="http://schemas.microsoft.com/office/drawing/2014/main" id="{285A7CF8-A28F-1037-17E0-26800BC09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24712"/>
            <a:ext cx="2148840" cy="0"/>
          </a:xfrm>
          <a:prstGeom prst="line">
            <a:avLst/>
          </a:prstGeom>
          <a:noFill/>
          <a:ln w="38100">
            <a:solidFill>
              <a:srgbClr val="E2004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grpSp>
        <p:nvGrpSpPr>
          <p:cNvPr id="28" name="joueurs analysés">
            <a:extLst>
              <a:ext uri="{FF2B5EF4-FFF2-40B4-BE49-F238E27FC236}">
                <a16:creationId xmlns:a16="http://schemas.microsoft.com/office/drawing/2014/main" id="{4D78582C-3321-D564-C3B4-77598F97A7A7}"/>
              </a:ext>
            </a:extLst>
          </p:cNvPr>
          <p:cNvGrpSpPr/>
          <p:nvPr/>
        </p:nvGrpSpPr>
        <p:grpSpPr>
          <a:xfrm>
            <a:off x="548640" y="1636586"/>
            <a:ext cx="1600200" cy="1389319"/>
            <a:chOff x="640080" y="1325879"/>
            <a:chExt cx="1600200" cy="1389319"/>
          </a:xfrm>
          <a:effectLst/>
        </p:grpSpPr>
        <p:sp>
          <p:nvSpPr>
            <p:cNvPr id="9" name="Shape 6"/>
            <p:cNvSpPr/>
            <p:nvPr/>
          </p:nvSpPr>
          <p:spPr>
            <a:xfrm>
              <a:off x="640080" y="1325879"/>
              <a:ext cx="1600200" cy="1389319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E20044"/>
                  </a:gs>
                  <a:gs pos="51000">
                    <a:srgbClr val="FFAFC8"/>
                  </a:gs>
                  <a:gs pos="100000">
                    <a:srgbClr val="F5FAFD"/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tl" rotWithShape="0">
                <a:prstClr val="black">
                  <a:alpha val="12000"/>
                </a:prstClr>
              </a:outerShdw>
            </a:effec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0" name="nombre joueurs analysés"/>
            <p:cNvSpPr/>
            <p:nvPr/>
          </p:nvSpPr>
          <p:spPr>
            <a:xfrm>
              <a:off x="728205" y="2065460"/>
              <a:ext cx="141743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2004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551</a:t>
              </a:r>
              <a:endParaRPr lang="en-US" sz="2200" dirty="0">
                <a:solidFill>
                  <a:srgbClr val="E2004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 joueurs analysés"/>
            <p:cNvSpPr/>
            <p:nvPr/>
          </p:nvSpPr>
          <p:spPr>
            <a:xfrm>
              <a:off x="746037" y="2376356"/>
              <a:ext cx="13807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joueurs analysés</a:t>
              </a:r>
              <a:endParaRPr lang="en-US" sz="750" dirty="0"/>
            </a:p>
          </p:txBody>
        </p:sp>
      </p:grpSp>
      <p:grpSp>
        <p:nvGrpSpPr>
          <p:cNvPr id="29" name="clubs analysés">
            <a:extLst>
              <a:ext uri="{FF2B5EF4-FFF2-40B4-BE49-F238E27FC236}">
                <a16:creationId xmlns:a16="http://schemas.microsoft.com/office/drawing/2014/main" id="{B7D5282F-DAD3-2085-E2B7-9FE307C77A7A}"/>
              </a:ext>
            </a:extLst>
          </p:cNvPr>
          <p:cNvGrpSpPr/>
          <p:nvPr/>
        </p:nvGrpSpPr>
        <p:grpSpPr>
          <a:xfrm>
            <a:off x="2331720" y="1636587"/>
            <a:ext cx="1600200" cy="1389318"/>
            <a:chOff x="2423160" y="1325880"/>
            <a:chExt cx="1600200" cy="1389318"/>
          </a:xfrm>
          <a:effectLst/>
        </p:grpSpPr>
        <p:sp>
          <p:nvSpPr>
            <p:cNvPr id="12" name="Shape 9"/>
            <p:cNvSpPr/>
            <p:nvPr/>
          </p:nvSpPr>
          <p:spPr>
            <a:xfrm>
              <a:off x="2423160" y="1325880"/>
              <a:ext cx="1600200" cy="1389318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002060"/>
                  </a:gs>
                  <a:gs pos="51000">
                    <a:schemeClr val="accent3">
                      <a:lumMod val="40000"/>
                      <a:lumOff val="60000"/>
                    </a:schemeClr>
                  </a:gs>
                  <a:gs pos="100000">
                    <a:srgbClr val="F5FAFD"/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tl" rotWithShape="0">
                <a:prstClr val="black">
                  <a:alpha val="12000"/>
                </a:prstClr>
              </a:outerShdw>
            </a:effec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3" name="nombre clubs analysés"/>
            <p:cNvSpPr/>
            <p:nvPr/>
          </p:nvSpPr>
          <p:spPr>
            <a:xfrm>
              <a:off x="2499447" y="2065460"/>
              <a:ext cx="144246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0F5B7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18</a:t>
              </a:r>
              <a:endParaRPr lang="en-US" sz="2200" dirty="0">
                <a:solidFill>
                  <a:srgbClr val="0F5B7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 clubs analysés"/>
            <p:cNvSpPr/>
            <p:nvPr/>
          </p:nvSpPr>
          <p:spPr>
            <a:xfrm>
              <a:off x="2532888" y="2389742"/>
              <a:ext cx="138074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clubs analysés</a:t>
              </a:r>
              <a:endParaRPr lang="en-US" sz="750" dirty="0"/>
            </a:p>
          </p:txBody>
        </p:sp>
      </p:grpSp>
      <p:grpSp>
        <p:nvGrpSpPr>
          <p:cNvPr id="30" name="SGBD retenu">
            <a:extLst>
              <a:ext uri="{FF2B5EF4-FFF2-40B4-BE49-F238E27FC236}">
                <a16:creationId xmlns:a16="http://schemas.microsoft.com/office/drawing/2014/main" id="{0BFB6E59-AD95-CF95-B413-F57121F405EC}"/>
              </a:ext>
            </a:extLst>
          </p:cNvPr>
          <p:cNvGrpSpPr/>
          <p:nvPr/>
        </p:nvGrpSpPr>
        <p:grpSpPr>
          <a:xfrm>
            <a:off x="4114800" y="1636587"/>
            <a:ext cx="1965960" cy="1389318"/>
            <a:chOff x="4206240" y="1325880"/>
            <a:chExt cx="1965960" cy="1389318"/>
          </a:xfrm>
          <a:effectLst/>
        </p:grpSpPr>
        <p:sp>
          <p:nvSpPr>
            <p:cNvPr id="15" name="Shape 12"/>
            <p:cNvSpPr/>
            <p:nvPr/>
          </p:nvSpPr>
          <p:spPr>
            <a:xfrm>
              <a:off x="4206240" y="1325880"/>
              <a:ext cx="1965960" cy="1389318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12700">
              <a:gradFill flip="none" rotWithShape="1">
                <a:gsLst>
                  <a:gs pos="0">
                    <a:srgbClr val="2E7D32"/>
                  </a:gs>
                  <a:gs pos="51000">
                    <a:srgbClr val="AAF0C1"/>
                  </a:gs>
                  <a:gs pos="100000">
                    <a:srgbClr val="F8FCFE"/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tl" rotWithShape="0">
                <a:prstClr val="black">
                  <a:alpha val="12000"/>
                </a:prstClr>
              </a:outerShdw>
            </a:effectLst>
          </p:spPr>
        </p:sp>
        <p:sp>
          <p:nvSpPr>
            <p:cNvPr id="16" name="nom SGBD retenu"/>
            <p:cNvSpPr/>
            <p:nvPr/>
          </p:nvSpPr>
          <p:spPr>
            <a:xfrm>
              <a:off x="4315968" y="2065460"/>
              <a:ext cx="1746504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2E7D3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PostgreSQL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 SGBD retenu"/>
            <p:cNvSpPr/>
            <p:nvPr/>
          </p:nvSpPr>
          <p:spPr>
            <a:xfrm>
              <a:off x="4315968" y="2408359"/>
              <a:ext cx="174650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SGBD retenu</a:t>
              </a:r>
              <a:endParaRPr lang="en-US" sz="750" dirty="0"/>
            </a:p>
          </p:txBody>
        </p:sp>
      </p:grpSp>
      <p:grpSp>
        <p:nvGrpSpPr>
          <p:cNvPr id="31" name="Mission">
            <a:extLst>
              <a:ext uri="{FF2B5EF4-FFF2-40B4-BE49-F238E27FC236}">
                <a16:creationId xmlns:a16="http://schemas.microsoft.com/office/drawing/2014/main" id="{EF905AA5-FB94-63C7-6BB4-FEE2B18BE76D}"/>
              </a:ext>
            </a:extLst>
          </p:cNvPr>
          <p:cNvGrpSpPr/>
          <p:nvPr/>
        </p:nvGrpSpPr>
        <p:grpSpPr>
          <a:xfrm>
            <a:off x="515112" y="3291091"/>
            <a:ext cx="5580888" cy="2816586"/>
            <a:chOff x="640080" y="2514600"/>
            <a:chExt cx="5455920" cy="2361403"/>
          </a:xfrm>
        </p:grpSpPr>
        <p:sp>
          <p:nvSpPr>
            <p:cNvPr id="18" name="Shape 15"/>
            <p:cNvSpPr/>
            <p:nvPr/>
          </p:nvSpPr>
          <p:spPr>
            <a:xfrm>
              <a:off x="640080" y="2514600"/>
              <a:ext cx="5455920" cy="2361403"/>
            </a:xfrm>
            <a:prstGeom prst="roundRect">
              <a:avLst>
                <a:gd name="adj" fmla="val 3019"/>
              </a:avLst>
            </a:prstGeom>
            <a:solidFill>
              <a:srgbClr val="FFFFFF"/>
            </a:solidFill>
            <a:ln w="19050">
              <a:gradFill flip="none" rotWithShape="1">
                <a:gsLst>
                  <a:gs pos="0">
                    <a:srgbClr val="E20044"/>
                  </a:gs>
                  <a:gs pos="51000">
                    <a:schemeClr val="accent1">
                      <a:lumMod val="45000"/>
                      <a:lumOff val="55000"/>
                    </a:schemeClr>
                  </a:gs>
                  <a:gs pos="100000">
                    <a:srgbClr val="F8FCFE"/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9" name="Titre bloc mission"/>
            <p:cNvSpPr/>
            <p:nvPr/>
          </p:nvSpPr>
          <p:spPr>
            <a:xfrm>
              <a:off x="1484839" y="2815181"/>
              <a:ext cx="194167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E20044"/>
                  </a:solidFill>
                </a:rPr>
                <a:t>Mission</a:t>
              </a:r>
              <a:endParaRPr lang="en-US" sz="2200" dirty="0">
                <a:solidFill>
                  <a:srgbClr val="E20044"/>
                </a:solidFill>
              </a:endParaRPr>
            </a:p>
          </p:txBody>
        </p:sp>
        <p:sp>
          <p:nvSpPr>
            <p:cNvPr id="20" name="Liste"/>
            <p:cNvSpPr/>
            <p:nvPr/>
          </p:nvSpPr>
          <p:spPr>
            <a:xfrm>
              <a:off x="868680" y="3257023"/>
              <a:ext cx="5081744" cy="148400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285750" indent="-285750">
                <a:spcAft>
                  <a:spcPts val="600"/>
                </a:spcAft>
                <a:buClr>
                  <a:srgbClr val="E20044"/>
                </a:buClr>
                <a:buFont typeface="Wingdings" panose="05000000000000000000" pitchFamily="2" charset="2"/>
                <a:buChar char="Ø"/>
              </a:pPr>
              <a:r>
                <a:rPr lang="fr-FR" sz="130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Centraliser les statistiques des joueurs, des équipes, du temps de jeu, des xG, de la progression et des salaires.</a:t>
              </a:r>
            </a:p>
            <a:p>
              <a:pPr marL="285750" indent="-285750">
                <a:spcAft>
                  <a:spcPts val="600"/>
                </a:spcAft>
                <a:buClr>
                  <a:srgbClr val="E20044"/>
                </a:buClr>
                <a:buFont typeface="Wingdings" panose="05000000000000000000" pitchFamily="2" charset="2"/>
                <a:buChar char="Ø"/>
              </a:pPr>
              <a:r>
                <a:rPr lang="en-US" sz="130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Répondre aux questions du directeur sportif avec des requêtes SQL vérifiables.</a:t>
              </a:r>
              <a:endParaRPr lang="en-US" sz="1300" dirty="0"/>
            </a:p>
            <a:p>
              <a:pPr marL="285750" indent="-285750">
                <a:buClr>
                  <a:srgbClr val="E20044"/>
                </a:buClr>
                <a:buFont typeface="Wingdings" panose="05000000000000000000" pitchFamily="2" charset="2"/>
                <a:buChar char="Ø"/>
              </a:pPr>
              <a:r>
                <a:rPr lang="en-US" sz="130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Identifier les performances collectives, individuelles et les opportunités de recrutement.</a:t>
              </a:r>
              <a:endParaRPr lang="en-US" sz="1300" dirty="0"/>
            </a:p>
          </p:txBody>
        </p:sp>
      </p:grpSp>
      <p:grpSp>
        <p:nvGrpSpPr>
          <p:cNvPr id="32" name="Valeur ajoutée BI">
            <a:extLst>
              <a:ext uri="{FF2B5EF4-FFF2-40B4-BE49-F238E27FC236}">
                <a16:creationId xmlns:a16="http://schemas.microsoft.com/office/drawing/2014/main" id="{4A9FDFC4-6C8A-D7C2-3C90-002CF83579B6}"/>
              </a:ext>
            </a:extLst>
          </p:cNvPr>
          <p:cNvGrpSpPr/>
          <p:nvPr/>
        </p:nvGrpSpPr>
        <p:grpSpPr>
          <a:xfrm>
            <a:off x="6240780" y="1636587"/>
            <a:ext cx="5166360" cy="4471090"/>
            <a:chOff x="6355080" y="1325880"/>
            <a:chExt cx="5166360" cy="3553342"/>
          </a:xfrm>
        </p:grpSpPr>
        <p:sp>
          <p:nvSpPr>
            <p:cNvPr id="21" name="Shape 18"/>
            <p:cNvSpPr/>
            <p:nvPr/>
          </p:nvSpPr>
          <p:spPr>
            <a:xfrm>
              <a:off x="6355080" y="1325880"/>
              <a:ext cx="5166360" cy="3553342"/>
            </a:xfrm>
            <a:prstGeom prst="roundRect">
              <a:avLst>
                <a:gd name="adj" fmla="val 2025"/>
              </a:avLst>
            </a:prstGeom>
            <a:solidFill>
              <a:srgbClr val="FFFFFF"/>
            </a:solidFill>
            <a:ln w="12700">
              <a:gradFill flip="none" rotWithShape="1">
                <a:gsLst>
                  <a:gs pos="0">
                    <a:srgbClr val="E20044"/>
                  </a:gs>
                  <a:gs pos="51000">
                    <a:schemeClr val="accent1">
                      <a:lumMod val="45000"/>
                      <a:lumOff val="55000"/>
                    </a:schemeClr>
                  </a:gs>
                  <a:gs pos="100000">
                    <a:srgbClr val="F8FCFE"/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2" name="Titre Valeur ajoutée BI"/>
            <p:cNvSpPr/>
            <p:nvPr/>
          </p:nvSpPr>
          <p:spPr>
            <a:xfrm>
              <a:off x="7316378" y="1631288"/>
              <a:ext cx="297062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E20044"/>
                  </a:solidFill>
                </a:rPr>
                <a:t>Valeur ajoutée BI</a:t>
              </a:r>
              <a:endParaRPr lang="en-US" sz="2200" dirty="0">
                <a:solidFill>
                  <a:srgbClr val="E20044"/>
                </a:solidFill>
              </a:endParaRPr>
            </a:p>
          </p:txBody>
        </p:sp>
        <p:sp>
          <p:nvSpPr>
            <p:cNvPr id="23" name="sous-titre bloc Valeur ajoutée BI"/>
            <p:cNvSpPr/>
            <p:nvPr/>
          </p:nvSpPr>
          <p:spPr>
            <a:xfrm>
              <a:off x="6583680" y="2430023"/>
              <a:ext cx="4732020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7252A"/>
                  </a:solidFill>
                </a:rPr>
                <a:t>Passer d’une intuition sportive à une lecture factuelle, reproductible et défendable.</a:t>
              </a:r>
              <a:endParaRPr lang="en-US" sz="1600" dirty="0"/>
            </a:p>
          </p:txBody>
        </p:sp>
        <p:sp>
          <p:nvSpPr>
            <p:cNvPr id="25" name="Liste Valeur ajoutée BI"/>
            <p:cNvSpPr/>
            <p:nvPr/>
          </p:nvSpPr>
          <p:spPr>
            <a:xfrm>
              <a:off x="6583680" y="3113955"/>
              <a:ext cx="4389591" cy="144593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285750" indent="-285750">
                <a:lnSpc>
                  <a:spcPct val="150000"/>
                </a:lnSpc>
                <a:buClr>
                  <a:srgbClr val="E20044"/>
                </a:buClr>
                <a:buFont typeface="Wingdings" panose="05000000000000000000" pitchFamily="2" charset="2"/>
                <a:buChar char="Ø"/>
              </a:pPr>
              <a:r>
                <a:rPr lang="en-US" sz="135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Décisions sportives objectivées</a:t>
              </a:r>
              <a:endParaRPr lang="en-US" sz="1350" dirty="0"/>
            </a:p>
            <a:p>
              <a:pPr marL="285750" indent="-285750">
                <a:lnSpc>
                  <a:spcPct val="150000"/>
                </a:lnSpc>
                <a:buClr>
                  <a:srgbClr val="E20044"/>
                </a:buClr>
                <a:buFont typeface="Wingdings" panose="05000000000000000000" pitchFamily="2" charset="2"/>
                <a:buChar char="Ø"/>
              </a:pPr>
              <a:r>
                <a:rPr lang="en-US" sz="135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Méthodologie SQL reproductible</a:t>
              </a:r>
              <a:endParaRPr lang="en-US" sz="1350" dirty="0"/>
            </a:p>
            <a:p>
              <a:pPr marL="285750" indent="-285750">
                <a:lnSpc>
                  <a:spcPct val="150000"/>
                </a:lnSpc>
                <a:buClr>
                  <a:srgbClr val="E20044"/>
                </a:buClr>
                <a:buFont typeface="Wingdings" panose="05000000000000000000" pitchFamily="2" charset="2"/>
                <a:buChar char="Ø"/>
              </a:pPr>
              <a:r>
                <a:rPr lang="en-US" sz="135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Contrôles qualité et traçabilité</a:t>
              </a:r>
              <a:endParaRPr lang="en-US" sz="1350" dirty="0"/>
            </a:p>
          </p:txBody>
        </p:sp>
      </p:grpSp>
      <p:grpSp>
        <p:nvGrpSpPr>
          <p:cNvPr id="33" name="pied de page">
            <a:extLst>
              <a:ext uri="{FF2B5EF4-FFF2-40B4-BE49-F238E27FC236}">
                <a16:creationId xmlns:a16="http://schemas.microsoft.com/office/drawing/2014/main" id="{AFA22E55-B2D0-12D7-76BB-1EAD7E9A1CEE}"/>
              </a:ext>
            </a:extLst>
          </p:cNvPr>
          <p:cNvGrpSpPr/>
          <p:nvPr/>
        </p:nvGrpSpPr>
        <p:grpSpPr>
          <a:xfrm>
            <a:off x="502920" y="6446520"/>
            <a:ext cx="11155680" cy="228600"/>
            <a:chOff x="502920" y="6446520"/>
            <a:chExt cx="11155680" cy="228600"/>
          </a:xfrm>
        </p:grpSpPr>
        <p:sp>
          <p:nvSpPr>
            <p:cNvPr id="6" name="Ligne fin de slide"/>
            <p:cNvSpPr/>
            <p:nvPr/>
          </p:nvSpPr>
          <p:spPr>
            <a:xfrm>
              <a:off x="502920" y="6446520"/>
              <a:ext cx="11155680" cy="0"/>
            </a:xfrm>
            <a:prstGeom prst="line">
              <a:avLst/>
            </a:prstGeom>
            <a:noFill/>
            <a:ln w="7620">
              <a:solidFill>
                <a:srgbClr val="DCE4E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02920" y="6510528"/>
              <a:ext cx="4754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SportDataPulse · Business Intelligence Analyst</a:t>
              </a:r>
              <a:endParaRPr lang="en-US" sz="750" dirty="0"/>
            </a:p>
          </p:txBody>
        </p:sp>
        <p:sp>
          <p:nvSpPr>
            <p:cNvPr id="8" name="numéro de slide"/>
            <p:cNvSpPr/>
            <p:nvPr/>
          </p:nvSpPr>
          <p:spPr>
            <a:xfrm>
              <a:off x="11201400" y="6510528"/>
              <a:ext cx="411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2</a:t>
              </a:r>
              <a:endParaRPr lang="en-US" sz="750" dirty="0"/>
            </a:p>
          </p:txBody>
        </p:sp>
      </p:grpSp>
      <p:pic>
        <p:nvPicPr>
          <p:cNvPr id="34" name="Image 33" descr="Une image contenant tabouret&#10;&#10;Le contenu généré par l’IA peut être incorrect.">
            <a:extLst>
              <a:ext uri="{FF2B5EF4-FFF2-40B4-BE49-F238E27FC236}">
                <a16:creationId xmlns:a16="http://schemas.microsoft.com/office/drawing/2014/main" id="{C2119269-8470-9F43-D278-D35320A70C70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92D05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88109" y="1706988"/>
            <a:ext cx="706851" cy="665119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36" name="Image 35" descr="Une image contenant cercl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B563A6AC-44EE-7600-2C2D-1F5979A109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6977" y="1728521"/>
            <a:ext cx="609685" cy="609685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42" name="Image 41" descr="Une image contenant Graphique, rouge, cercle, graphisme&#10;&#10;Le contenu généré par l’IA peut être incorrect.">
            <a:extLst>
              <a:ext uri="{FF2B5EF4-FFF2-40B4-BE49-F238E27FC236}">
                <a16:creationId xmlns:a16="http://schemas.microsoft.com/office/drawing/2014/main" id="{22713751-4820-E75B-1D4F-DDDA5B71F2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126" y="1740532"/>
            <a:ext cx="609685" cy="609685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CFFD36D0-A0A0-A5E4-5FA5-8BC808635AC7}"/>
              </a:ext>
            </a:extLst>
          </p:cNvPr>
          <p:cNvCxnSpPr>
            <a:cxnSpLocks/>
          </p:cNvCxnSpPr>
          <p:nvPr/>
        </p:nvCxnSpPr>
        <p:spPr>
          <a:xfrm>
            <a:off x="1383886" y="4027773"/>
            <a:ext cx="947834" cy="0"/>
          </a:xfrm>
          <a:prstGeom prst="line">
            <a:avLst/>
          </a:prstGeom>
          <a:ln w="34925">
            <a:solidFill>
              <a:srgbClr val="E200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B3980DAB-AD70-6CCC-6F5F-11F63097FC29}"/>
              </a:ext>
            </a:extLst>
          </p:cNvPr>
          <p:cNvCxnSpPr>
            <a:cxnSpLocks/>
          </p:cNvCxnSpPr>
          <p:nvPr/>
        </p:nvCxnSpPr>
        <p:spPr>
          <a:xfrm>
            <a:off x="7202078" y="2491363"/>
            <a:ext cx="2154986" cy="0"/>
          </a:xfrm>
          <a:prstGeom prst="line">
            <a:avLst/>
          </a:prstGeom>
          <a:ln w="34925">
            <a:solidFill>
              <a:srgbClr val="E200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Image 57" descr="Une image contenant Graphique, Police, lampe, symbole&#10;&#10;Le contenu généré par l’IA peut être incorrect.">
            <a:extLst>
              <a:ext uri="{FF2B5EF4-FFF2-40B4-BE49-F238E27FC236}">
                <a16:creationId xmlns:a16="http://schemas.microsoft.com/office/drawing/2014/main" id="{17AC878B-5BC1-B8D7-CE67-2A49584B6C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69380" y="1904706"/>
            <a:ext cx="609685" cy="609685"/>
          </a:xfrm>
          <a:prstGeom prst="rect">
            <a:avLst/>
          </a:prstGeom>
          <a:effectLst/>
        </p:spPr>
      </p:pic>
      <p:pic>
        <p:nvPicPr>
          <p:cNvPr id="62" name="Image 61" descr="Une image contenant Graphique, Police, cercle, texte&#10;&#10;Le contenu généré par l’IA peut être incorrect.">
            <a:extLst>
              <a:ext uri="{FF2B5EF4-FFF2-40B4-BE49-F238E27FC236}">
                <a16:creationId xmlns:a16="http://schemas.microsoft.com/office/drawing/2014/main" id="{B580E935-700F-7C99-E3DF-8A59B7E8567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6852" y="3455796"/>
            <a:ext cx="609685" cy="609685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B2F244FB-7303-6171-A1F2-3230BBC95FF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Objectif et contexte</a:t>
            </a:r>
            <a:endParaRPr lang="fr-F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Header">
            <a:extLst>
              <a:ext uri="{FF2B5EF4-FFF2-40B4-BE49-F238E27FC236}">
                <a16:creationId xmlns:a16="http://schemas.microsoft.com/office/drawing/2014/main" id="{5FE54EBC-9B24-953D-23C4-5DCC2320E1CC}"/>
              </a:ext>
            </a:extLst>
          </p:cNvPr>
          <p:cNvGrpSpPr/>
          <p:nvPr/>
        </p:nvGrpSpPr>
        <p:grpSpPr>
          <a:xfrm>
            <a:off x="502920" y="329184"/>
            <a:ext cx="9784080" cy="795528"/>
            <a:chOff x="502920" y="329184"/>
            <a:chExt cx="9784080" cy="795528"/>
          </a:xfrm>
        </p:grpSpPr>
        <p:sp>
          <p:nvSpPr>
            <p:cNvPr id="2" name="Titre slide 3"/>
            <p:cNvSpPr/>
            <p:nvPr/>
          </p:nvSpPr>
          <p:spPr>
            <a:xfrm>
              <a:off x="502920" y="329184"/>
              <a:ext cx="9784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17252A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Cheminement du projet</a:t>
              </a:r>
              <a:endParaRPr lang="en-US" sz="2500" dirty="0"/>
            </a:p>
          </p:txBody>
        </p:sp>
        <p:sp>
          <p:nvSpPr>
            <p:cNvPr id="3" name="Sous-titre slide 3"/>
            <p:cNvSpPr/>
            <p:nvPr/>
          </p:nvSpPr>
          <p:spPr>
            <a:xfrm>
              <a:off x="530352" y="768096"/>
              <a:ext cx="7132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607D8B"/>
                  </a:solidFill>
                </a:rPr>
                <a:t>De la donnée brute à la recommandation sportive</a:t>
              </a:r>
              <a:endParaRPr lang="en-US" sz="1100" dirty="0"/>
            </a:p>
          </p:txBody>
        </p:sp>
        <p:sp>
          <p:nvSpPr>
            <p:cNvPr id="47" name="Shape 2">
              <a:extLst>
                <a:ext uri="{FF2B5EF4-FFF2-40B4-BE49-F238E27FC236}">
                  <a16:creationId xmlns:a16="http://schemas.microsoft.com/office/drawing/2014/main" id="{C5011BE9-A4D9-7FBE-4178-E7D606486778}"/>
                </a:ext>
              </a:extLst>
            </p:cNvPr>
            <p:cNvSpPr/>
            <p:nvPr/>
          </p:nvSpPr>
          <p:spPr>
            <a:xfrm>
              <a:off x="502920" y="1124712"/>
              <a:ext cx="2148840" cy="0"/>
            </a:xfrm>
            <a:prstGeom prst="line">
              <a:avLst/>
            </a:prstGeom>
            <a:noFill/>
            <a:ln w="38100">
              <a:solidFill>
                <a:srgbClr val="E20044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</p:grpSp>
      <p:grpSp>
        <p:nvGrpSpPr>
          <p:cNvPr id="50" name="bloc Source FBref">
            <a:extLst>
              <a:ext uri="{FF2B5EF4-FFF2-40B4-BE49-F238E27FC236}">
                <a16:creationId xmlns:a16="http://schemas.microsoft.com/office/drawing/2014/main" id="{202D4663-BB19-6DC5-7A17-74A3F5DB0463}"/>
              </a:ext>
            </a:extLst>
          </p:cNvPr>
          <p:cNvGrpSpPr/>
          <p:nvPr/>
        </p:nvGrpSpPr>
        <p:grpSpPr>
          <a:xfrm>
            <a:off x="496158" y="1432426"/>
            <a:ext cx="1692000" cy="2633670"/>
            <a:chOff x="685800" y="1432426"/>
            <a:chExt cx="1606959" cy="2633670"/>
          </a:xfrm>
        </p:grpSpPr>
        <p:sp>
          <p:nvSpPr>
            <p:cNvPr id="9" name="Shape 6"/>
            <p:cNvSpPr/>
            <p:nvPr/>
          </p:nvSpPr>
          <p:spPr>
            <a:xfrm>
              <a:off x="685800" y="1600199"/>
              <a:ext cx="1606959" cy="2465897"/>
            </a:xfrm>
            <a:prstGeom prst="roundRect">
              <a:avLst>
                <a:gd name="adj" fmla="val 5926"/>
              </a:avLst>
            </a:prstGeom>
            <a:gradFill flip="none" rotWithShape="1">
              <a:gsLst>
                <a:gs pos="100000">
                  <a:srgbClr val="F8FCFE">
                    <a:alpha val="99000"/>
                  </a:srgbClr>
                </a:gs>
                <a:gs pos="0">
                  <a:srgbClr val="F5FAFD"/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gradFill flip="none" rotWithShape="1">
                <a:gsLst>
                  <a:gs pos="37000">
                    <a:srgbClr val="DB779D"/>
                  </a:gs>
                  <a:gs pos="0">
                    <a:srgbClr val="E20044">
                      <a:lumMod val="96000"/>
                      <a:alpha val="92000"/>
                    </a:srgbClr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0" name="numéro"/>
            <p:cNvSpPr/>
            <p:nvPr/>
          </p:nvSpPr>
          <p:spPr>
            <a:xfrm>
              <a:off x="1356744" y="1432426"/>
              <a:ext cx="341906" cy="360000"/>
            </a:xfrm>
            <a:prstGeom prst="ellipse">
              <a:avLst/>
            </a:prstGeom>
            <a:solidFill>
              <a:srgbClr val="E20044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en-US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Text Source FBref"/>
            <p:cNvSpPr/>
            <p:nvPr/>
          </p:nvSpPr>
          <p:spPr>
            <a:xfrm>
              <a:off x="737333" y="2432302"/>
              <a:ext cx="1537212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E20044"/>
                  </a:solidFill>
                </a:rPr>
                <a:t>Source des données</a:t>
              </a:r>
              <a:endParaRPr lang="en-US" sz="1200" dirty="0">
                <a:solidFill>
                  <a:srgbClr val="E20044"/>
                </a:solidFill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834486" y="2834638"/>
              <a:ext cx="1312461" cy="10397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607D8B"/>
                  </a:solidFill>
                </a:rPr>
                <a:t>Données Fbref</a:t>
              </a:r>
            </a:p>
            <a:p>
              <a:r>
                <a:rPr lang="en-US" sz="900" dirty="0">
                  <a:solidFill>
                    <a:srgbClr val="607D8B"/>
                  </a:solidFill>
                </a:rPr>
                <a:t>        Ligue 1 – Saison 2025</a:t>
              </a: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607D8B"/>
                  </a:solidFill>
                </a:rPr>
                <a:t>Fichier Excel initial </a:t>
              </a:r>
              <a:endParaRPr lang="en-US" sz="900" dirty="0"/>
            </a:p>
          </p:txBody>
        </p:sp>
      </p:grpSp>
      <p:grpSp>
        <p:nvGrpSpPr>
          <p:cNvPr id="70" name="bloc Modélisation">
            <a:extLst>
              <a:ext uri="{FF2B5EF4-FFF2-40B4-BE49-F238E27FC236}">
                <a16:creationId xmlns:a16="http://schemas.microsoft.com/office/drawing/2014/main" id="{36531050-1D2A-DE8D-374C-CF268C24A05E}"/>
              </a:ext>
            </a:extLst>
          </p:cNvPr>
          <p:cNvGrpSpPr/>
          <p:nvPr/>
        </p:nvGrpSpPr>
        <p:grpSpPr>
          <a:xfrm>
            <a:off x="2363374" y="1437685"/>
            <a:ext cx="1713672" cy="2630524"/>
            <a:chOff x="2560319" y="1444585"/>
            <a:chExt cx="1663708" cy="2630524"/>
          </a:xfrm>
        </p:grpSpPr>
        <p:sp>
          <p:nvSpPr>
            <p:cNvPr id="65" name="Shape 6">
              <a:extLst>
                <a:ext uri="{FF2B5EF4-FFF2-40B4-BE49-F238E27FC236}">
                  <a16:creationId xmlns:a16="http://schemas.microsoft.com/office/drawing/2014/main" id="{71E6CEF4-8BE6-CFC1-1207-D87D7A025A85}"/>
                </a:ext>
              </a:extLst>
            </p:cNvPr>
            <p:cNvSpPr/>
            <p:nvPr/>
          </p:nvSpPr>
          <p:spPr>
            <a:xfrm>
              <a:off x="2560319" y="1609109"/>
              <a:ext cx="1642668" cy="2466000"/>
            </a:xfrm>
            <a:prstGeom prst="roundRect">
              <a:avLst>
                <a:gd name="adj" fmla="val 5926"/>
              </a:avLst>
            </a:prstGeom>
            <a:gradFill flip="none" rotWithShape="1">
              <a:gsLst>
                <a:gs pos="100000">
                  <a:srgbClr val="F8FCFE"/>
                </a:gs>
                <a:gs pos="0">
                  <a:srgbClr val="F5FAFD"/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gradFill flip="none" rotWithShape="1">
                <a:gsLst>
                  <a:gs pos="0">
                    <a:srgbClr val="002060">
                      <a:lumMod val="99000"/>
                    </a:srgbClr>
                  </a:gs>
                  <a:gs pos="97000">
                    <a:schemeClr val="accent3">
                      <a:lumMod val="20000"/>
                      <a:lumOff val="80000"/>
                    </a:schemeClr>
                  </a:gs>
                  <a:gs pos="37000">
                    <a:srgbClr val="00B0F0"/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5" name="numéro"/>
            <p:cNvSpPr/>
            <p:nvPr/>
          </p:nvSpPr>
          <p:spPr>
            <a:xfrm>
              <a:off x="3208877" y="1444585"/>
              <a:ext cx="349504" cy="360000"/>
            </a:xfrm>
            <a:prstGeom prst="ellipse">
              <a:avLst/>
            </a:prstGeom>
            <a:solidFill>
              <a:srgbClr val="0F5B7F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en-US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6" name="Text Modélisation"/>
            <p:cNvSpPr/>
            <p:nvPr/>
          </p:nvSpPr>
          <p:spPr>
            <a:xfrm>
              <a:off x="2581359" y="2451992"/>
              <a:ext cx="164266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2060"/>
                  </a:solidFill>
                </a:rPr>
                <a:t>Modélisation</a:t>
              </a:r>
              <a:endParaRPr lang="en-US" sz="1200" dirty="0">
                <a:solidFill>
                  <a:srgbClr val="002060"/>
                </a:solidFill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2724911" y="2853163"/>
              <a:ext cx="1329024" cy="9279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607D8B"/>
                  </a:solidFill>
                </a:rPr>
                <a:t>Identification des entités et relation</a:t>
              </a: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607D8B"/>
                  </a:solidFill>
                </a:rPr>
                <a:t>Dictionnaire des données et schéma relationnel</a:t>
              </a:r>
              <a:endParaRPr lang="en-US" sz="900" dirty="0"/>
            </a:p>
          </p:txBody>
        </p:sp>
      </p:grpSp>
      <p:grpSp>
        <p:nvGrpSpPr>
          <p:cNvPr id="71" name="bloc Chargement">
            <a:extLst>
              <a:ext uri="{FF2B5EF4-FFF2-40B4-BE49-F238E27FC236}">
                <a16:creationId xmlns:a16="http://schemas.microsoft.com/office/drawing/2014/main" id="{414DC886-97F7-7272-5834-CB5DBF76D82F}"/>
              </a:ext>
            </a:extLst>
          </p:cNvPr>
          <p:cNvGrpSpPr/>
          <p:nvPr/>
        </p:nvGrpSpPr>
        <p:grpSpPr>
          <a:xfrm>
            <a:off x="4230592" y="1430067"/>
            <a:ext cx="1692000" cy="2649845"/>
            <a:chOff x="4435639" y="1445185"/>
            <a:chExt cx="1692000" cy="2649845"/>
          </a:xfrm>
        </p:grpSpPr>
        <p:sp>
          <p:nvSpPr>
            <p:cNvPr id="66" name="Shape 6">
              <a:extLst>
                <a:ext uri="{FF2B5EF4-FFF2-40B4-BE49-F238E27FC236}">
                  <a16:creationId xmlns:a16="http://schemas.microsoft.com/office/drawing/2014/main" id="{ED6135DA-B993-28D1-E7F7-31DDC71D2818}"/>
                </a:ext>
              </a:extLst>
            </p:cNvPr>
            <p:cNvSpPr/>
            <p:nvPr/>
          </p:nvSpPr>
          <p:spPr>
            <a:xfrm>
              <a:off x="4435639" y="1629030"/>
              <a:ext cx="1692000" cy="2466000"/>
            </a:xfrm>
            <a:prstGeom prst="roundRect">
              <a:avLst>
                <a:gd name="adj" fmla="val 5926"/>
              </a:avLst>
            </a:prstGeom>
            <a:gradFill flip="none" rotWithShape="1">
              <a:gsLst>
                <a:gs pos="100000">
                  <a:srgbClr val="F8FCFE"/>
                </a:gs>
                <a:gs pos="0">
                  <a:srgbClr val="F5FAFD"/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gradFill flip="none" rotWithShape="1">
                <a:gsLst>
                  <a:gs pos="0">
                    <a:srgbClr val="2E7D32"/>
                  </a:gs>
                  <a:gs pos="97000">
                    <a:schemeClr val="accent3">
                      <a:lumMod val="20000"/>
                      <a:lumOff val="80000"/>
                    </a:schemeClr>
                  </a:gs>
                  <a:gs pos="37000">
                    <a:srgbClr val="92D050"/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0" name="numéro"/>
            <p:cNvSpPr/>
            <p:nvPr/>
          </p:nvSpPr>
          <p:spPr>
            <a:xfrm>
              <a:off x="5040481" y="1445185"/>
              <a:ext cx="360000" cy="360000"/>
            </a:xfrm>
            <a:prstGeom prst="ellipse">
              <a:avLst/>
            </a:prstGeom>
            <a:solidFill>
              <a:srgbClr val="2E7D32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en-US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1" name="Text Chargement"/>
            <p:cNvSpPr/>
            <p:nvPr/>
          </p:nvSpPr>
          <p:spPr>
            <a:xfrm>
              <a:off x="4446770" y="2460210"/>
              <a:ext cx="1680869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66829"/>
                  </a:solidFill>
                </a:rPr>
                <a:t>Chargement</a:t>
              </a:r>
              <a:endParaRPr lang="en-US" sz="1200" dirty="0">
                <a:solidFill>
                  <a:srgbClr val="266829"/>
                </a:solidFill>
              </a:endParaRPr>
            </a:p>
          </p:txBody>
        </p:sp>
        <p:sp>
          <p:nvSpPr>
            <p:cNvPr id="22" name="Text 19"/>
            <p:cNvSpPr/>
            <p:nvPr/>
          </p:nvSpPr>
          <p:spPr>
            <a:xfrm>
              <a:off x="4599431" y="2833242"/>
              <a:ext cx="1374679" cy="10562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607D8B"/>
                  </a:solidFill>
                </a:rPr>
                <a:t>Création des tables dans PostgreSQL</a:t>
              </a: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607D8B"/>
                  </a:solidFill>
                </a:rPr>
                <a:t>Import des CSV et contôles de base</a:t>
              </a:r>
              <a:endParaRPr lang="en-US" sz="900" dirty="0"/>
            </a:p>
          </p:txBody>
        </p:sp>
      </p:grpSp>
      <p:grpSp>
        <p:nvGrpSpPr>
          <p:cNvPr id="72" name="bloc contrôles">
            <a:extLst>
              <a:ext uri="{FF2B5EF4-FFF2-40B4-BE49-F238E27FC236}">
                <a16:creationId xmlns:a16="http://schemas.microsoft.com/office/drawing/2014/main" id="{98654C7E-86FD-15C9-6EE5-DA37B9B46344}"/>
              </a:ext>
            </a:extLst>
          </p:cNvPr>
          <p:cNvGrpSpPr/>
          <p:nvPr/>
        </p:nvGrpSpPr>
        <p:grpSpPr>
          <a:xfrm>
            <a:off x="6097809" y="1437685"/>
            <a:ext cx="1692000" cy="2678097"/>
            <a:chOff x="6345137" y="1461925"/>
            <a:chExt cx="1692000" cy="2116269"/>
          </a:xfrm>
        </p:grpSpPr>
        <p:sp>
          <p:nvSpPr>
            <p:cNvPr id="67" name="Shape 6">
              <a:extLst>
                <a:ext uri="{FF2B5EF4-FFF2-40B4-BE49-F238E27FC236}">
                  <a16:creationId xmlns:a16="http://schemas.microsoft.com/office/drawing/2014/main" id="{EF53EA0F-6C86-2291-4BF1-B8D87AF7C595}"/>
                </a:ext>
              </a:extLst>
            </p:cNvPr>
            <p:cNvSpPr/>
            <p:nvPr/>
          </p:nvSpPr>
          <p:spPr>
            <a:xfrm>
              <a:off x="6345137" y="1629527"/>
              <a:ext cx="1692000" cy="1948667"/>
            </a:xfrm>
            <a:prstGeom prst="roundRect">
              <a:avLst>
                <a:gd name="adj" fmla="val 5926"/>
              </a:avLst>
            </a:prstGeom>
            <a:gradFill flip="none" rotWithShape="1">
              <a:gsLst>
                <a:gs pos="100000">
                  <a:srgbClr val="F8FCFE"/>
                </a:gs>
                <a:gs pos="0">
                  <a:srgbClr val="F5FAFD"/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gradFill flip="none" rotWithShape="1">
                <a:gsLst>
                  <a:gs pos="0">
                    <a:srgbClr val="FFC000"/>
                  </a:gs>
                  <a:gs pos="97000">
                    <a:schemeClr val="accent3">
                      <a:lumMod val="20000"/>
                      <a:lumOff val="80000"/>
                    </a:schemeClr>
                  </a:gs>
                  <a:gs pos="37000">
                    <a:srgbClr val="FFFF00"/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5" name="numéro"/>
            <p:cNvSpPr/>
            <p:nvPr/>
          </p:nvSpPr>
          <p:spPr>
            <a:xfrm>
              <a:off x="7007391" y="1461925"/>
              <a:ext cx="360000" cy="284477"/>
            </a:xfrm>
            <a:prstGeom prst="ellipse">
              <a:avLst/>
            </a:prstGeom>
            <a:solidFill>
              <a:srgbClr val="F2B705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en-US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6" name="Text Contrôles"/>
            <p:cNvSpPr/>
            <p:nvPr/>
          </p:nvSpPr>
          <p:spPr>
            <a:xfrm>
              <a:off x="6345137" y="2236030"/>
              <a:ext cx="1692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CA304"/>
                  </a:solidFill>
                </a:rPr>
                <a:t>Contrôles qualité</a:t>
              </a:r>
              <a:endParaRPr lang="en-US" sz="1200" dirty="0">
                <a:solidFill>
                  <a:srgbClr val="FCA304"/>
                </a:solidFill>
              </a:endParaRPr>
            </a:p>
          </p:txBody>
        </p:sp>
        <p:sp>
          <p:nvSpPr>
            <p:cNvPr id="27" name="Text 24"/>
            <p:cNvSpPr/>
            <p:nvPr/>
          </p:nvSpPr>
          <p:spPr>
            <a:xfrm>
              <a:off x="6473952" y="2526126"/>
              <a:ext cx="1436048" cy="86133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607D8B"/>
                  </a:solidFill>
                </a:rPr>
                <a:t>Vérification des volumes par table</a:t>
              </a: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607D8B"/>
                  </a:solidFill>
                </a:rPr>
                <a:t>Contrôle des jointures et valeurs clés</a:t>
              </a: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607D8B"/>
                  </a:solidFill>
                </a:rPr>
                <a:t>Détection des doublons</a:t>
              </a:r>
              <a:endParaRPr lang="en-US" sz="900" dirty="0"/>
            </a:p>
          </p:txBody>
        </p:sp>
      </p:grpSp>
      <p:grpSp>
        <p:nvGrpSpPr>
          <p:cNvPr id="73" name="bloc Analyses SQL">
            <a:extLst>
              <a:ext uri="{FF2B5EF4-FFF2-40B4-BE49-F238E27FC236}">
                <a16:creationId xmlns:a16="http://schemas.microsoft.com/office/drawing/2014/main" id="{46C36CE6-D116-2C2F-F007-FF643CD741A2}"/>
              </a:ext>
            </a:extLst>
          </p:cNvPr>
          <p:cNvGrpSpPr/>
          <p:nvPr/>
        </p:nvGrpSpPr>
        <p:grpSpPr>
          <a:xfrm>
            <a:off x="7958246" y="1428993"/>
            <a:ext cx="1698780" cy="2639217"/>
            <a:chOff x="8247855" y="1466890"/>
            <a:chExt cx="1698780" cy="2639217"/>
          </a:xfrm>
        </p:grpSpPr>
        <p:sp>
          <p:nvSpPr>
            <p:cNvPr id="68" name="Shape 6">
              <a:extLst>
                <a:ext uri="{FF2B5EF4-FFF2-40B4-BE49-F238E27FC236}">
                  <a16:creationId xmlns:a16="http://schemas.microsoft.com/office/drawing/2014/main" id="{AC29DD19-4432-7289-4AB2-23FF3B51710E}"/>
                </a:ext>
              </a:extLst>
            </p:cNvPr>
            <p:cNvSpPr/>
            <p:nvPr/>
          </p:nvSpPr>
          <p:spPr>
            <a:xfrm>
              <a:off x="8254635" y="1640107"/>
              <a:ext cx="1692000" cy="2466000"/>
            </a:xfrm>
            <a:prstGeom prst="roundRect">
              <a:avLst>
                <a:gd name="adj" fmla="val 5926"/>
              </a:avLst>
            </a:prstGeom>
            <a:gradFill flip="none" rotWithShape="1">
              <a:gsLst>
                <a:gs pos="100000">
                  <a:srgbClr val="F8FCFE"/>
                </a:gs>
                <a:gs pos="0">
                  <a:srgbClr val="F5FAFD"/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gradFill flip="none" rotWithShape="1">
                <a:gsLst>
                  <a:gs pos="0">
                    <a:srgbClr val="502CD1"/>
                  </a:gs>
                  <a:gs pos="97000">
                    <a:schemeClr val="accent3">
                      <a:lumMod val="20000"/>
                      <a:lumOff val="80000"/>
                    </a:schemeClr>
                  </a:gs>
                  <a:gs pos="37000">
                    <a:srgbClr val="785DDD"/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8924381" y="1466890"/>
              <a:ext cx="360000" cy="360000"/>
            </a:xfrm>
            <a:prstGeom prst="ellipse">
              <a:avLst/>
            </a:prstGeom>
            <a:solidFill>
              <a:srgbClr val="502CD1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</a:t>
              </a:r>
              <a:endParaRPr lang="en-US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1" name="Text 28"/>
            <p:cNvSpPr/>
            <p:nvPr/>
          </p:nvSpPr>
          <p:spPr>
            <a:xfrm>
              <a:off x="8247855" y="2481887"/>
              <a:ext cx="1692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502CD1"/>
                  </a:solidFill>
                </a:rPr>
                <a:t>Analyses SQL</a:t>
              </a:r>
              <a:endParaRPr lang="en-US" sz="1200" dirty="0">
                <a:solidFill>
                  <a:srgbClr val="502CD1"/>
                </a:solidFill>
              </a:endParaRPr>
            </a:p>
          </p:txBody>
        </p:sp>
        <p:sp>
          <p:nvSpPr>
            <p:cNvPr id="32" name="Text 29"/>
            <p:cNvSpPr/>
            <p:nvPr/>
          </p:nvSpPr>
          <p:spPr>
            <a:xfrm>
              <a:off x="8347185" y="2779200"/>
              <a:ext cx="1538939" cy="11331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607D8B"/>
                  </a:solidFill>
                </a:rPr>
                <a:t>Réponses aux questions métier</a:t>
              </a: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607D8B"/>
                  </a:solidFill>
                </a:rPr>
                <a:t>Résultats, indicateurs et interprétations</a:t>
              </a:r>
              <a:endParaRPr lang="en-US" sz="900" dirty="0"/>
            </a:p>
          </p:txBody>
        </p:sp>
      </p:grpSp>
      <p:grpSp>
        <p:nvGrpSpPr>
          <p:cNvPr id="74" name="bloc Recommandation">
            <a:extLst>
              <a:ext uri="{FF2B5EF4-FFF2-40B4-BE49-F238E27FC236}">
                <a16:creationId xmlns:a16="http://schemas.microsoft.com/office/drawing/2014/main" id="{B6971323-ED5A-7A74-4A09-B92E0C1D0B1A}"/>
              </a:ext>
            </a:extLst>
          </p:cNvPr>
          <p:cNvGrpSpPr/>
          <p:nvPr/>
        </p:nvGrpSpPr>
        <p:grpSpPr>
          <a:xfrm>
            <a:off x="9832243" y="1428993"/>
            <a:ext cx="1692000" cy="2647074"/>
            <a:chOff x="10129362" y="1430179"/>
            <a:chExt cx="1692000" cy="2647074"/>
          </a:xfrm>
        </p:grpSpPr>
        <p:sp>
          <p:nvSpPr>
            <p:cNvPr id="69" name="Shape 6">
              <a:extLst>
                <a:ext uri="{FF2B5EF4-FFF2-40B4-BE49-F238E27FC236}">
                  <a16:creationId xmlns:a16="http://schemas.microsoft.com/office/drawing/2014/main" id="{40A6765B-E5D6-A886-8323-C6091B7BDC25}"/>
                </a:ext>
              </a:extLst>
            </p:cNvPr>
            <p:cNvSpPr/>
            <p:nvPr/>
          </p:nvSpPr>
          <p:spPr>
            <a:xfrm>
              <a:off x="10129362" y="1611253"/>
              <a:ext cx="1692000" cy="2466000"/>
            </a:xfrm>
            <a:prstGeom prst="roundRect">
              <a:avLst>
                <a:gd name="adj" fmla="val 5926"/>
              </a:avLst>
            </a:prstGeom>
            <a:gradFill flip="none" rotWithShape="1">
              <a:gsLst>
                <a:gs pos="100000">
                  <a:srgbClr val="F8FCFE"/>
                </a:gs>
                <a:gs pos="0">
                  <a:srgbClr val="F5FAFD"/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gradFill flip="none" rotWithShape="1">
                <a:gsLst>
                  <a:gs pos="0">
                    <a:srgbClr val="008A73"/>
                  </a:gs>
                  <a:gs pos="97000">
                    <a:schemeClr val="accent3">
                      <a:lumMod val="20000"/>
                      <a:lumOff val="80000"/>
                    </a:schemeClr>
                  </a:gs>
                  <a:gs pos="37000">
                    <a:srgbClr val="00BC9D"/>
                  </a:gs>
                </a:gsLst>
                <a:lin ang="54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5" name="numéro"/>
            <p:cNvSpPr/>
            <p:nvPr/>
          </p:nvSpPr>
          <p:spPr>
            <a:xfrm>
              <a:off x="10795362" y="1430179"/>
              <a:ext cx="360000" cy="360000"/>
            </a:xfrm>
            <a:prstGeom prst="ellipse">
              <a:avLst/>
            </a:prstGeom>
            <a:solidFill>
              <a:srgbClr val="008A73"/>
            </a:solidFill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6</a:t>
              </a:r>
              <a:endParaRPr lang="en-US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36" name="Text Recommandation"/>
            <p:cNvSpPr/>
            <p:nvPr/>
          </p:nvSpPr>
          <p:spPr>
            <a:xfrm>
              <a:off x="10129362" y="2452471"/>
              <a:ext cx="16920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8A73"/>
                  </a:solidFill>
                </a:rPr>
                <a:t>Décision &amp; action</a:t>
              </a:r>
              <a:endParaRPr lang="en-US" sz="1200" dirty="0">
                <a:solidFill>
                  <a:srgbClr val="008A73"/>
                </a:solidFill>
              </a:endParaRPr>
            </a:p>
          </p:txBody>
        </p:sp>
        <p:sp>
          <p:nvSpPr>
            <p:cNvPr id="37" name="Text 34"/>
            <p:cNvSpPr/>
            <p:nvPr/>
          </p:nvSpPr>
          <p:spPr>
            <a:xfrm>
              <a:off x="10222992" y="2847448"/>
              <a:ext cx="1461706" cy="10281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607D8B"/>
                  </a:solidFill>
                </a:rPr>
                <a:t>Shortlist de recrutement</a:t>
              </a:r>
            </a:p>
            <a:p>
              <a:pPr marL="171450" indent="-1714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sz="900" dirty="0">
                  <a:solidFill>
                    <a:srgbClr val="607D8B"/>
                  </a:solidFill>
                </a:rPr>
                <a:t>Insights pour les decisions tactiques et sportives</a:t>
              </a:r>
              <a:endParaRPr lang="en-US" sz="900" dirty="0"/>
            </a:p>
          </p:txBody>
        </p:sp>
      </p:grpSp>
      <p:grpSp>
        <p:nvGrpSpPr>
          <p:cNvPr id="56" name="bloc principe directeur">
            <a:extLst>
              <a:ext uri="{FF2B5EF4-FFF2-40B4-BE49-F238E27FC236}">
                <a16:creationId xmlns:a16="http://schemas.microsoft.com/office/drawing/2014/main" id="{51C213C1-8D6F-A2B9-9838-F5A17508C8E0}"/>
              </a:ext>
            </a:extLst>
          </p:cNvPr>
          <p:cNvGrpSpPr/>
          <p:nvPr/>
        </p:nvGrpSpPr>
        <p:grpSpPr>
          <a:xfrm>
            <a:off x="438198" y="4356066"/>
            <a:ext cx="11086045" cy="1876810"/>
            <a:chOff x="1174822" y="3862023"/>
            <a:chExt cx="9933513" cy="1876810"/>
          </a:xfrm>
        </p:grpSpPr>
        <p:sp>
          <p:nvSpPr>
            <p:cNvPr id="38" name="Shape 35"/>
            <p:cNvSpPr/>
            <p:nvPr/>
          </p:nvSpPr>
          <p:spPr>
            <a:xfrm>
              <a:off x="1174822" y="3868157"/>
              <a:ext cx="6529326" cy="1870676"/>
            </a:xfrm>
            <a:prstGeom prst="roundRect">
              <a:avLst>
                <a:gd name="adj" fmla="val 5926"/>
              </a:avLst>
            </a:prstGeom>
            <a:solidFill>
              <a:schemeClr val="bg1">
                <a:alpha val="87000"/>
              </a:schemeClr>
            </a:solidFill>
            <a:ln w="19050">
              <a:gradFill flip="none" rotWithShape="1">
                <a:gsLst>
                  <a:gs pos="0">
                    <a:srgbClr val="E20044"/>
                  </a:gs>
                  <a:gs pos="34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3">
                      <a:lumMod val="40000"/>
                      <a:lumOff val="60000"/>
                    </a:schemeClr>
                  </a:gs>
                </a:gsLst>
                <a:lin ang="2700000" scaled="1"/>
                <a:tileRect/>
              </a:gradFill>
              <a:prstDash val="solid"/>
            </a:ln>
          </p:spPr>
          <p:txBody>
            <a:bodyPr anchor="ctr"/>
            <a:lstStyle/>
            <a:p>
              <a:endParaRPr lang="fr-FR" dirty="0"/>
            </a:p>
          </p:txBody>
        </p:sp>
        <p:sp>
          <p:nvSpPr>
            <p:cNvPr id="39" name="Text 36"/>
            <p:cNvSpPr/>
            <p:nvPr/>
          </p:nvSpPr>
          <p:spPr>
            <a:xfrm>
              <a:off x="1309043" y="4010692"/>
              <a:ext cx="1974422" cy="4876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E20044"/>
                  </a:solidFill>
                </a:rPr>
                <a:t>Principe directeur</a:t>
              </a:r>
              <a:endParaRPr lang="en-US" sz="1600" dirty="0">
                <a:solidFill>
                  <a:srgbClr val="E20044"/>
                </a:solidFill>
              </a:endParaRPr>
            </a:p>
          </p:txBody>
        </p:sp>
        <p:sp>
          <p:nvSpPr>
            <p:cNvPr id="40" name="Text 37"/>
            <p:cNvSpPr/>
            <p:nvPr/>
          </p:nvSpPr>
          <p:spPr>
            <a:xfrm>
              <a:off x="1309043" y="4509962"/>
              <a:ext cx="2619061" cy="99742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just">
                <a:buNone/>
              </a:pPr>
              <a:r>
                <a:rPr lang="fr-FR" sz="1100" dirty="0"/>
                <a:t>Conserver les données brutes pour garantir la traçabilité, puis créer une vue consolidée afin de contrôler l’impact des doublons fonctionnels.</a:t>
              </a:r>
              <a:endParaRPr lang="en-US" sz="1100" dirty="0"/>
            </a:p>
          </p:txBody>
        </p:sp>
        <p:sp>
          <p:nvSpPr>
            <p:cNvPr id="107" name="Shape 35">
              <a:extLst>
                <a:ext uri="{FF2B5EF4-FFF2-40B4-BE49-F238E27FC236}">
                  <a16:creationId xmlns:a16="http://schemas.microsoft.com/office/drawing/2014/main" id="{F44708EB-735D-39C8-A027-9E3CFA5AB84B}"/>
                </a:ext>
              </a:extLst>
            </p:cNvPr>
            <p:cNvSpPr/>
            <p:nvPr/>
          </p:nvSpPr>
          <p:spPr>
            <a:xfrm>
              <a:off x="7881503" y="3862023"/>
              <a:ext cx="3226832" cy="1876810"/>
            </a:xfrm>
            <a:prstGeom prst="roundRect">
              <a:avLst>
                <a:gd name="adj" fmla="val 5926"/>
              </a:avLst>
            </a:prstGeom>
            <a:solidFill>
              <a:schemeClr val="bg1">
                <a:alpha val="87000"/>
              </a:schemeClr>
            </a:solidFill>
            <a:ln w="19050">
              <a:gradFill flip="none" rotWithShape="1">
                <a:gsLst>
                  <a:gs pos="0">
                    <a:srgbClr val="002060"/>
                  </a:gs>
                  <a:gs pos="34000">
                    <a:srgbClr val="0070C0"/>
                  </a:gs>
                  <a:gs pos="100000">
                    <a:schemeClr val="accent3">
                      <a:lumMod val="40000"/>
                      <a:lumOff val="60000"/>
                    </a:schemeClr>
                  </a:gs>
                </a:gsLst>
                <a:lin ang="2700000" scaled="1"/>
                <a:tileRect/>
              </a:gradFill>
              <a:prstDash val="solid"/>
            </a:ln>
          </p:spPr>
          <p:txBody>
            <a:bodyPr anchor="ctr"/>
            <a:lstStyle/>
            <a:p>
              <a:endParaRPr lang="fr-FR" dirty="0"/>
            </a:p>
          </p:txBody>
        </p:sp>
      </p:grpSp>
      <p:grpSp>
        <p:nvGrpSpPr>
          <p:cNvPr id="57" name="Données brutes">
            <a:extLst>
              <a:ext uri="{FF2B5EF4-FFF2-40B4-BE49-F238E27FC236}">
                <a16:creationId xmlns:a16="http://schemas.microsoft.com/office/drawing/2014/main" id="{D390DAEB-3054-8F7A-B0B5-9A973DBE1943}"/>
              </a:ext>
            </a:extLst>
          </p:cNvPr>
          <p:cNvGrpSpPr/>
          <p:nvPr/>
        </p:nvGrpSpPr>
        <p:grpSpPr>
          <a:xfrm>
            <a:off x="3692011" y="4671140"/>
            <a:ext cx="1152000" cy="1346094"/>
            <a:chOff x="2057400" y="5231610"/>
            <a:chExt cx="1152000" cy="1346094"/>
          </a:xfrm>
        </p:grpSpPr>
        <p:sp>
          <p:nvSpPr>
            <p:cNvPr id="41" name="Shape 38"/>
            <p:cNvSpPr/>
            <p:nvPr/>
          </p:nvSpPr>
          <p:spPr>
            <a:xfrm>
              <a:off x="2057400" y="5231610"/>
              <a:ext cx="1152000" cy="1346094"/>
            </a:xfrm>
            <a:prstGeom prst="roundRect">
              <a:avLst>
                <a:gd name="adj" fmla="val 14706"/>
              </a:avLst>
            </a:prstGeom>
            <a:solidFill>
              <a:srgbClr val="E20044">
                <a:alpha val="10000"/>
              </a:srgbClr>
            </a:solidFill>
            <a:ln w="12700">
              <a:solidFill>
                <a:srgbClr val="E20044"/>
              </a:solidFill>
              <a:prstDash val="solid"/>
            </a:ln>
          </p:spPr>
        </p:sp>
        <p:sp>
          <p:nvSpPr>
            <p:cNvPr id="42" name="Text 39"/>
            <p:cNvSpPr/>
            <p:nvPr/>
          </p:nvSpPr>
          <p:spPr>
            <a:xfrm>
              <a:off x="2104926" y="6035022"/>
              <a:ext cx="1066318" cy="526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E2004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Données brutes</a:t>
              </a:r>
              <a:endParaRPr lang="en-US" sz="1200" dirty="0">
                <a:solidFill>
                  <a:srgbClr val="E2004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58" name="Vue consolidée">
            <a:extLst>
              <a:ext uri="{FF2B5EF4-FFF2-40B4-BE49-F238E27FC236}">
                <a16:creationId xmlns:a16="http://schemas.microsoft.com/office/drawing/2014/main" id="{A8CB50CE-F4A0-B96C-DA5F-B7E48E51261C}"/>
              </a:ext>
            </a:extLst>
          </p:cNvPr>
          <p:cNvGrpSpPr/>
          <p:nvPr/>
        </p:nvGrpSpPr>
        <p:grpSpPr>
          <a:xfrm>
            <a:off x="5038230" y="4682029"/>
            <a:ext cx="1152000" cy="1319399"/>
            <a:chOff x="3794760" y="5303519"/>
            <a:chExt cx="1152000" cy="1319399"/>
          </a:xfrm>
        </p:grpSpPr>
        <p:sp>
          <p:nvSpPr>
            <p:cNvPr id="43" name="Shape 40"/>
            <p:cNvSpPr/>
            <p:nvPr/>
          </p:nvSpPr>
          <p:spPr>
            <a:xfrm>
              <a:off x="3794760" y="5303519"/>
              <a:ext cx="1152000" cy="1319399"/>
            </a:xfrm>
            <a:prstGeom prst="roundRect">
              <a:avLst>
                <a:gd name="adj" fmla="val 14706"/>
              </a:avLst>
            </a:prstGeom>
            <a:solidFill>
              <a:srgbClr val="2E7D32">
                <a:alpha val="10000"/>
              </a:srgbClr>
            </a:solidFill>
            <a:ln w="12700">
              <a:solidFill>
                <a:srgbClr val="2E7D32"/>
              </a:solidFill>
              <a:prstDash val="solid"/>
            </a:ln>
          </p:spPr>
        </p:sp>
        <p:sp>
          <p:nvSpPr>
            <p:cNvPr id="44" name="Text 41"/>
            <p:cNvSpPr/>
            <p:nvPr/>
          </p:nvSpPr>
          <p:spPr>
            <a:xfrm>
              <a:off x="3871551" y="6086562"/>
              <a:ext cx="954399" cy="4726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66829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Vue consolidée</a:t>
              </a:r>
              <a:endParaRPr lang="en-US" sz="1200" dirty="0">
                <a:solidFill>
                  <a:srgbClr val="26682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59" name="Comparaison d’impact">
            <a:extLst>
              <a:ext uri="{FF2B5EF4-FFF2-40B4-BE49-F238E27FC236}">
                <a16:creationId xmlns:a16="http://schemas.microsoft.com/office/drawing/2014/main" id="{068569AE-76C4-BC87-56C1-FC9F143B75F4}"/>
              </a:ext>
            </a:extLst>
          </p:cNvPr>
          <p:cNvGrpSpPr/>
          <p:nvPr/>
        </p:nvGrpSpPr>
        <p:grpSpPr>
          <a:xfrm>
            <a:off x="6384449" y="4695738"/>
            <a:ext cx="1152000" cy="1305695"/>
            <a:chOff x="5687568" y="5253939"/>
            <a:chExt cx="1152000" cy="378671"/>
          </a:xfrm>
        </p:grpSpPr>
        <p:sp>
          <p:nvSpPr>
            <p:cNvPr id="45" name="Shape 42"/>
            <p:cNvSpPr/>
            <p:nvPr/>
          </p:nvSpPr>
          <p:spPr>
            <a:xfrm>
              <a:off x="5687568" y="5253939"/>
              <a:ext cx="1152000" cy="378671"/>
            </a:xfrm>
            <a:prstGeom prst="roundRect">
              <a:avLst>
                <a:gd name="adj" fmla="val 14706"/>
              </a:avLst>
            </a:prstGeom>
            <a:solidFill>
              <a:srgbClr val="0F5B7F">
                <a:alpha val="10000"/>
              </a:srgbClr>
            </a:solidFill>
            <a:ln w="12700">
              <a:solidFill>
                <a:srgbClr val="0F5B7F"/>
              </a:solidFill>
              <a:prstDash val="solid"/>
            </a:ln>
          </p:spPr>
        </p:sp>
        <p:sp>
          <p:nvSpPr>
            <p:cNvPr id="46" name="Text 43"/>
            <p:cNvSpPr/>
            <p:nvPr/>
          </p:nvSpPr>
          <p:spPr>
            <a:xfrm>
              <a:off x="5751735" y="5462840"/>
              <a:ext cx="1038051" cy="15039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206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Comparaison d’impact</a:t>
              </a:r>
              <a:endParaRPr lang="en-US" sz="12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9" name="pied de page">
            <a:extLst>
              <a:ext uri="{FF2B5EF4-FFF2-40B4-BE49-F238E27FC236}">
                <a16:creationId xmlns:a16="http://schemas.microsoft.com/office/drawing/2014/main" id="{59831D53-A036-8AB4-FDB2-EF9EB23204E5}"/>
              </a:ext>
            </a:extLst>
          </p:cNvPr>
          <p:cNvGrpSpPr/>
          <p:nvPr/>
        </p:nvGrpSpPr>
        <p:grpSpPr>
          <a:xfrm>
            <a:off x="502920" y="6446520"/>
            <a:ext cx="11155680" cy="228600"/>
            <a:chOff x="502920" y="6446520"/>
            <a:chExt cx="11155680" cy="228600"/>
          </a:xfrm>
        </p:grpSpPr>
        <p:sp>
          <p:nvSpPr>
            <p:cNvPr id="7" name="Text 4"/>
            <p:cNvSpPr/>
            <p:nvPr/>
          </p:nvSpPr>
          <p:spPr>
            <a:xfrm>
              <a:off x="502920" y="6510528"/>
              <a:ext cx="4754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SportDataPulse · Business Intelligence Analyst</a:t>
              </a:r>
              <a:endParaRPr lang="en-US" sz="750" dirty="0"/>
            </a:p>
          </p:txBody>
        </p:sp>
        <p:sp>
          <p:nvSpPr>
            <p:cNvPr id="8" name="numéro de slide"/>
            <p:cNvSpPr/>
            <p:nvPr/>
          </p:nvSpPr>
          <p:spPr>
            <a:xfrm>
              <a:off x="11201400" y="6510528"/>
              <a:ext cx="411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3</a:t>
              </a:r>
              <a:endParaRPr lang="en-US" sz="750" dirty="0"/>
            </a:p>
          </p:txBody>
        </p:sp>
        <p:sp>
          <p:nvSpPr>
            <p:cNvPr id="6" name="Shape 3"/>
            <p:cNvSpPr/>
            <p:nvPr/>
          </p:nvSpPr>
          <p:spPr>
            <a:xfrm>
              <a:off x="502920" y="6446520"/>
              <a:ext cx="11155680" cy="0"/>
            </a:xfrm>
            <a:prstGeom prst="line">
              <a:avLst/>
            </a:prstGeom>
            <a:noFill/>
            <a:ln w="7620">
              <a:solidFill>
                <a:srgbClr val="DCE4EA"/>
              </a:solidFill>
              <a:prstDash val="solid"/>
            </a:ln>
          </p:spPr>
        </p:sp>
      </p:grpSp>
      <p:pic>
        <p:nvPicPr>
          <p:cNvPr id="78" name="Image 77" descr="Une image contenant tabouret&#10;&#10;Le contenu généré par l’IA peut être incorrect.">
            <a:extLst>
              <a:ext uri="{FF2B5EF4-FFF2-40B4-BE49-F238E27FC236}">
                <a16:creationId xmlns:a16="http://schemas.microsoft.com/office/drawing/2014/main" id="{F2544F2F-A067-4957-5239-F3DCE41C0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732" y="1881974"/>
            <a:ext cx="706851" cy="540000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13" name="chevron 1"/>
          <p:cNvSpPr/>
          <p:nvPr/>
        </p:nvSpPr>
        <p:spPr>
          <a:xfrm>
            <a:off x="2115216" y="1971050"/>
            <a:ext cx="305682" cy="298175"/>
          </a:xfrm>
          <a:prstGeom prst="chevron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97000">
                <a:schemeClr val="accent3">
                  <a:lumMod val="20000"/>
                  <a:lumOff val="80000"/>
                </a:schemeClr>
              </a:gs>
              <a:gs pos="37000">
                <a:srgbClr val="00BC9D"/>
              </a:gs>
            </a:gsLst>
            <a:lin ang="5400000" scaled="1"/>
          </a:gradFill>
          <a:ln w="12700">
            <a:solidFill>
              <a:srgbClr val="DCE4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79" name="chevron 1">
            <a:extLst>
              <a:ext uri="{FF2B5EF4-FFF2-40B4-BE49-F238E27FC236}">
                <a16:creationId xmlns:a16="http://schemas.microsoft.com/office/drawing/2014/main" id="{11BD09E0-43E1-69C4-D1FC-0CB054454BF6}"/>
              </a:ext>
            </a:extLst>
          </p:cNvPr>
          <p:cNvSpPr/>
          <p:nvPr/>
        </p:nvSpPr>
        <p:spPr>
          <a:xfrm>
            <a:off x="3972129" y="1992447"/>
            <a:ext cx="305682" cy="298175"/>
          </a:xfrm>
          <a:prstGeom prst="chevron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97000">
                <a:schemeClr val="accent3">
                  <a:lumMod val="20000"/>
                  <a:lumOff val="80000"/>
                </a:schemeClr>
              </a:gs>
              <a:gs pos="37000">
                <a:srgbClr val="00BC9D"/>
              </a:gs>
            </a:gsLst>
            <a:lin ang="5400000" scaled="1"/>
          </a:gradFill>
          <a:ln w="12700">
            <a:solidFill>
              <a:srgbClr val="DCE4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80" name="chevron 1">
            <a:extLst>
              <a:ext uri="{FF2B5EF4-FFF2-40B4-BE49-F238E27FC236}">
                <a16:creationId xmlns:a16="http://schemas.microsoft.com/office/drawing/2014/main" id="{EC7AB0FE-A8FD-42AC-2A2E-B8D7D848CB89}"/>
              </a:ext>
            </a:extLst>
          </p:cNvPr>
          <p:cNvSpPr/>
          <p:nvPr/>
        </p:nvSpPr>
        <p:spPr>
          <a:xfrm>
            <a:off x="5872976" y="1972051"/>
            <a:ext cx="305682" cy="298175"/>
          </a:xfrm>
          <a:prstGeom prst="chevron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97000">
                <a:schemeClr val="accent3">
                  <a:lumMod val="20000"/>
                  <a:lumOff val="80000"/>
                </a:schemeClr>
              </a:gs>
              <a:gs pos="37000">
                <a:srgbClr val="00BC9D"/>
              </a:gs>
            </a:gsLst>
            <a:lin ang="5400000" scaled="1"/>
          </a:gradFill>
          <a:ln w="12700">
            <a:solidFill>
              <a:srgbClr val="DCE4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81" name="chevron 1">
            <a:extLst>
              <a:ext uri="{FF2B5EF4-FFF2-40B4-BE49-F238E27FC236}">
                <a16:creationId xmlns:a16="http://schemas.microsoft.com/office/drawing/2014/main" id="{8B2BD0A0-5138-8B34-E781-B94DE654EB62}"/>
              </a:ext>
            </a:extLst>
          </p:cNvPr>
          <p:cNvSpPr/>
          <p:nvPr/>
        </p:nvSpPr>
        <p:spPr>
          <a:xfrm>
            <a:off x="7737314" y="1985118"/>
            <a:ext cx="305682" cy="298175"/>
          </a:xfrm>
          <a:prstGeom prst="chevron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97000">
                <a:schemeClr val="accent3">
                  <a:lumMod val="20000"/>
                  <a:lumOff val="80000"/>
                </a:schemeClr>
              </a:gs>
              <a:gs pos="37000">
                <a:srgbClr val="00BC9D"/>
              </a:gs>
            </a:gsLst>
            <a:lin ang="5400000" scaled="1"/>
          </a:gradFill>
          <a:ln w="12700">
            <a:solidFill>
              <a:srgbClr val="DCE4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82" name="chevron 1">
            <a:extLst>
              <a:ext uri="{FF2B5EF4-FFF2-40B4-BE49-F238E27FC236}">
                <a16:creationId xmlns:a16="http://schemas.microsoft.com/office/drawing/2014/main" id="{8CB0FE76-A074-B9C0-1E20-C4A98134FF37}"/>
              </a:ext>
            </a:extLst>
          </p:cNvPr>
          <p:cNvSpPr/>
          <p:nvPr/>
        </p:nvSpPr>
        <p:spPr>
          <a:xfrm>
            <a:off x="9581936" y="2003045"/>
            <a:ext cx="305682" cy="298175"/>
          </a:xfrm>
          <a:prstGeom prst="chevron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97000">
                <a:schemeClr val="accent3">
                  <a:lumMod val="20000"/>
                  <a:lumOff val="80000"/>
                </a:schemeClr>
              </a:gs>
              <a:gs pos="37000">
                <a:srgbClr val="00BC9D"/>
              </a:gs>
            </a:gsLst>
            <a:lin ang="5400000" scaled="1"/>
          </a:gradFill>
          <a:ln w="12700">
            <a:solidFill>
              <a:srgbClr val="DCE4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AF42D309-B2ED-2DDA-848C-B4046D02672E}"/>
              </a:ext>
            </a:extLst>
          </p:cNvPr>
          <p:cNvCxnSpPr>
            <a:cxnSpLocks/>
          </p:cNvCxnSpPr>
          <p:nvPr/>
        </p:nvCxnSpPr>
        <p:spPr>
          <a:xfrm>
            <a:off x="1119508" y="2716615"/>
            <a:ext cx="445299" cy="0"/>
          </a:xfrm>
          <a:prstGeom prst="line">
            <a:avLst/>
          </a:prstGeom>
          <a:ln w="25400" cap="rnd">
            <a:solidFill>
              <a:srgbClr val="E200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89A01BCF-0A7B-2A56-CE72-DB7212CBC818}"/>
              </a:ext>
            </a:extLst>
          </p:cNvPr>
          <p:cNvCxnSpPr>
            <a:cxnSpLocks/>
          </p:cNvCxnSpPr>
          <p:nvPr/>
        </p:nvCxnSpPr>
        <p:spPr>
          <a:xfrm>
            <a:off x="2918801" y="2716615"/>
            <a:ext cx="445299" cy="0"/>
          </a:xfrm>
          <a:prstGeom prst="line">
            <a:avLst/>
          </a:prstGeom>
          <a:ln w="25400" cap="rnd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Image 89" descr="Une image contenant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89472149-9203-5C3A-B261-FEFB826D0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0142" y="1884497"/>
            <a:ext cx="518463" cy="518463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C30371FF-ADF5-E51B-277E-1A362489C8EC}"/>
              </a:ext>
            </a:extLst>
          </p:cNvPr>
          <p:cNvCxnSpPr>
            <a:cxnSpLocks/>
          </p:cNvCxnSpPr>
          <p:nvPr/>
        </p:nvCxnSpPr>
        <p:spPr>
          <a:xfrm>
            <a:off x="4835434" y="2719881"/>
            <a:ext cx="445299" cy="0"/>
          </a:xfrm>
          <a:prstGeom prst="line">
            <a:avLst/>
          </a:prstGeom>
          <a:ln w="25400" cap="rnd">
            <a:solidFill>
              <a:srgbClr val="2668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3" name="Image 92" descr="Une image contenant ligne, Caractère coloré, Graphique, symbole&#10;&#10;Le contenu généré par l’IA peut être incorrect.">
            <a:extLst>
              <a:ext uri="{FF2B5EF4-FFF2-40B4-BE49-F238E27FC236}">
                <a16:creationId xmlns:a16="http://schemas.microsoft.com/office/drawing/2014/main" id="{F700E1D8-0BAA-5374-411F-F8985EFF7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8666" y="1824159"/>
            <a:ext cx="669514" cy="669514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496D7BFC-115F-AA0E-115E-6A0D062B802C}"/>
              </a:ext>
            </a:extLst>
          </p:cNvPr>
          <p:cNvCxnSpPr>
            <a:cxnSpLocks/>
          </p:cNvCxnSpPr>
          <p:nvPr/>
        </p:nvCxnSpPr>
        <p:spPr>
          <a:xfrm>
            <a:off x="6717413" y="2707657"/>
            <a:ext cx="445299" cy="0"/>
          </a:xfrm>
          <a:prstGeom prst="line">
            <a:avLst/>
          </a:prstGeom>
          <a:ln w="25400" cap="rnd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Image 95" descr="Une image contenant symbole, jaune, Police, logo&#10;&#10;Le contenu généré par l’IA peut être incorrect.">
            <a:extLst>
              <a:ext uri="{FF2B5EF4-FFF2-40B4-BE49-F238E27FC236}">
                <a16:creationId xmlns:a16="http://schemas.microsoft.com/office/drawing/2014/main" id="{5EF10707-E727-6CDF-E6DF-F58DF417E4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310" y="1901564"/>
            <a:ext cx="748998" cy="514703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BBE6B50E-1655-3459-14A0-D7AC9F5B9EA6}"/>
              </a:ext>
            </a:extLst>
          </p:cNvPr>
          <p:cNvCxnSpPr>
            <a:cxnSpLocks/>
          </p:cNvCxnSpPr>
          <p:nvPr/>
        </p:nvCxnSpPr>
        <p:spPr>
          <a:xfrm>
            <a:off x="8537968" y="2707657"/>
            <a:ext cx="445299" cy="0"/>
          </a:xfrm>
          <a:prstGeom prst="line">
            <a:avLst/>
          </a:prstGeom>
          <a:ln w="25400" cap="rnd">
            <a:solidFill>
              <a:srgbClr val="502C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Image 98" descr="Une image contenant Graphique, cercle, symbole, logo&#10;&#10;Le contenu généré par l’IA peut être incorrect.">
            <a:extLst>
              <a:ext uri="{FF2B5EF4-FFF2-40B4-BE49-F238E27FC236}">
                <a16:creationId xmlns:a16="http://schemas.microsoft.com/office/drawing/2014/main" id="{2A6789CA-0F56-6DA9-0C5A-3FE3DDC3EF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7957" y="1899884"/>
            <a:ext cx="612578" cy="487281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cxnSp>
        <p:nvCxnSpPr>
          <p:cNvPr id="100" name="Connecteur droit 99">
            <a:extLst>
              <a:ext uri="{FF2B5EF4-FFF2-40B4-BE49-F238E27FC236}">
                <a16:creationId xmlns:a16="http://schemas.microsoft.com/office/drawing/2014/main" id="{7941B5F2-4704-A2BB-C6D6-FE26D248AF28}"/>
              </a:ext>
            </a:extLst>
          </p:cNvPr>
          <p:cNvCxnSpPr>
            <a:cxnSpLocks/>
          </p:cNvCxnSpPr>
          <p:nvPr/>
        </p:nvCxnSpPr>
        <p:spPr>
          <a:xfrm>
            <a:off x="10412944" y="2719881"/>
            <a:ext cx="445299" cy="0"/>
          </a:xfrm>
          <a:prstGeom prst="line">
            <a:avLst/>
          </a:prstGeom>
          <a:ln w="25400" cap="rnd">
            <a:solidFill>
              <a:srgbClr val="008A7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" name="Image 101" descr="Une image contenant Graphique, Police, symbole, cercle&#10;&#10;Le contenu généré par l’IA peut être incorrect.">
            <a:extLst>
              <a:ext uri="{FF2B5EF4-FFF2-40B4-BE49-F238E27FC236}">
                <a16:creationId xmlns:a16="http://schemas.microsoft.com/office/drawing/2014/main" id="{B99ED8D6-FE6F-AD76-A910-8841217740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73400" y="1815296"/>
            <a:ext cx="609685" cy="609685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103" name="Image 102" descr="Une image contenant tabouret&#10;&#10;Le contenu généré par l’IA peut être incorrect.">
            <a:extLst>
              <a:ext uri="{FF2B5EF4-FFF2-40B4-BE49-F238E27FC236}">
                <a16:creationId xmlns:a16="http://schemas.microsoft.com/office/drawing/2014/main" id="{2DA156B2-33B1-B663-2971-719F8BE75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386" y="4793177"/>
            <a:ext cx="706851" cy="642825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104" name="Image 103" descr="Une image contenant tabouret&#10;&#10;Le contenu généré par l’IA peut être incorrect.">
            <a:extLst>
              <a:ext uri="{FF2B5EF4-FFF2-40B4-BE49-F238E27FC236}">
                <a16:creationId xmlns:a16="http://schemas.microsoft.com/office/drawing/2014/main" id="{5286437C-0299-4DF5-AD45-9BFA37F16B8B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rgbClr val="92D05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55683" y="4747039"/>
            <a:ext cx="706851" cy="665119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106" name="Image 105" descr="Une image contenant cercle, symbole, Graphiqu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5EC44357-9554-DD6B-FC8C-28C3D855E36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8163" y="4750354"/>
            <a:ext cx="684571" cy="684571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108" name="Text 36">
            <a:extLst>
              <a:ext uri="{FF2B5EF4-FFF2-40B4-BE49-F238E27FC236}">
                <a16:creationId xmlns:a16="http://schemas.microsoft.com/office/drawing/2014/main" id="{62BDF8EF-D545-0D4F-C282-BA30BAD56D22}"/>
              </a:ext>
            </a:extLst>
          </p:cNvPr>
          <p:cNvSpPr/>
          <p:nvPr/>
        </p:nvSpPr>
        <p:spPr>
          <a:xfrm>
            <a:off x="8977819" y="4476903"/>
            <a:ext cx="2161826" cy="48028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5B7F"/>
                </a:solidFill>
              </a:rPr>
              <a:t>Objectif final</a:t>
            </a:r>
            <a:endParaRPr lang="en-US" sz="1600" dirty="0">
              <a:solidFill>
                <a:srgbClr val="0F5B7F"/>
              </a:solidFill>
            </a:endParaRPr>
          </a:p>
        </p:txBody>
      </p:sp>
      <p:pic>
        <p:nvPicPr>
          <p:cNvPr id="110" name="Image 109" descr="Une image contenant croquis, clipart, conception&#10;&#10;Le contenu généré par l’IA peut être incorrect.">
            <a:extLst>
              <a:ext uri="{FF2B5EF4-FFF2-40B4-BE49-F238E27FC236}">
                <a16:creationId xmlns:a16="http://schemas.microsoft.com/office/drawing/2014/main" id="{92B17B27-C636-7F9C-0FF8-2C87E1F2475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7824" y="4638311"/>
            <a:ext cx="760284" cy="1178027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111" name="Text 37">
            <a:extLst>
              <a:ext uri="{FF2B5EF4-FFF2-40B4-BE49-F238E27FC236}">
                <a16:creationId xmlns:a16="http://schemas.microsoft.com/office/drawing/2014/main" id="{9B6419C6-31D5-6EF9-8851-5FF6B02B0663}"/>
              </a:ext>
            </a:extLst>
          </p:cNvPr>
          <p:cNvSpPr/>
          <p:nvPr/>
        </p:nvSpPr>
        <p:spPr>
          <a:xfrm>
            <a:off x="8994772" y="4922489"/>
            <a:ext cx="2392807" cy="10789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buNone/>
            </a:pPr>
            <a:r>
              <a:rPr lang="fr-FR" sz="1100" dirty="0"/>
              <a:t>Fournir au staff sportif des analyses fiables, reproductibles et actionnables pour ameliorer les performances et la stratégie du club</a:t>
            </a:r>
            <a:endParaRPr lang="en-US" sz="1100" dirty="0"/>
          </a:p>
        </p:txBody>
      </p:sp>
      <p:sp>
        <p:nvSpPr>
          <p:cNvPr id="112" name="chevron 1">
            <a:extLst>
              <a:ext uri="{FF2B5EF4-FFF2-40B4-BE49-F238E27FC236}">
                <a16:creationId xmlns:a16="http://schemas.microsoft.com/office/drawing/2014/main" id="{33F845A4-E734-49D1-D8A5-591B83ED5112}"/>
              </a:ext>
            </a:extLst>
          </p:cNvPr>
          <p:cNvSpPr/>
          <p:nvPr/>
        </p:nvSpPr>
        <p:spPr>
          <a:xfrm>
            <a:off x="4745750" y="4922489"/>
            <a:ext cx="305682" cy="298175"/>
          </a:xfrm>
          <a:prstGeom prst="chevron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97000">
                <a:schemeClr val="accent3">
                  <a:lumMod val="20000"/>
                  <a:lumOff val="80000"/>
                </a:schemeClr>
              </a:gs>
              <a:gs pos="37000">
                <a:srgbClr val="00BC9D"/>
              </a:gs>
            </a:gsLst>
            <a:lin ang="5400000" scaled="1"/>
          </a:gradFill>
          <a:ln w="12700">
            <a:solidFill>
              <a:srgbClr val="DCE4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13" name="chevron 1">
            <a:extLst>
              <a:ext uri="{FF2B5EF4-FFF2-40B4-BE49-F238E27FC236}">
                <a16:creationId xmlns:a16="http://schemas.microsoft.com/office/drawing/2014/main" id="{6BC329A1-C1C4-3B67-3388-6A9E262E6EE9}"/>
              </a:ext>
            </a:extLst>
          </p:cNvPr>
          <p:cNvSpPr/>
          <p:nvPr/>
        </p:nvSpPr>
        <p:spPr>
          <a:xfrm>
            <a:off x="6114549" y="4922489"/>
            <a:ext cx="305682" cy="298175"/>
          </a:xfrm>
          <a:prstGeom prst="chevron">
            <a:avLst/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97000">
                <a:schemeClr val="accent3">
                  <a:lumMod val="20000"/>
                  <a:lumOff val="80000"/>
                </a:schemeClr>
              </a:gs>
              <a:gs pos="37000">
                <a:srgbClr val="00BC9D"/>
              </a:gs>
            </a:gsLst>
            <a:lin ang="5400000" scaled="1"/>
          </a:gradFill>
          <a:ln w="12700">
            <a:solidFill>
              <a:srgbClr val="DCE4E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pic>
        <p:nvPicPr>
          <p:cNvPr id="114" name="Logo image" descr="/mnt/data/assets_spdp/logo_icon.png">
            <a:extLst>
              <a:ext uri="{FF2B5EF4-FFF2-40B4-BE49-F238E27FC236}">
                <a16:creationId xmlns:a16="http://schemas.microsoft.com/office/drawing/2014/main" id="{FC381858-EE95-997E-E643-B7CCF71A62B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115" name="Shape 2">
            <a:extLst>
              <a:ext uri="{FF2B5EF4-FFF2-40B4-BE49-F238E27FC236}">
                <a16:creationId xmlns:a16="http://schemas.microsoft.com/office/drawing/2014/main" id="{B0216455-EB2F-70A6-13F0-66451248C126}"/>
              </a:ext>
            </a:extLst>
          </p:cNvPr>
          <p:cNvSpPr/>
          <p:nvPr/>
        </p:nvSpPr>
        <p:spPr>
          <a:xfrm>
            <a:off x="571339" y="4976205"/>
            <a:ext cx="1710222" cy="0"/>
          </a:xfrm>
          <a:prstGeom prst="line">
            <a:avLst/>
          </a:prstGeom>
          <a:noFill/>
          <a:ln w="38100">
            <a:solidFill>
              <a:srgbClr val="E2004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16" name="Shape 2">
            <a:extLst>
              <a:ext uri="{FF2B5EF4-FFF2-40B4-BE49-F238E27FC236}">
                <a16:creationId xmlns:a16="http://schemas.microsoft.com/office/drawing/2014/main" id="{F0714A8A-A0C1-4852-69FC-1210805239EA}"/>
              </a:ext>
            </a:extLst>
          </p:cNvPr>
          <p:cNvSpPr/>
          <p:nvPr/>
        </p:nvSpPr>
        <p:spPr>
          <a:xfrm flipV="1">
            <a:off x="8977819" y="4933729"/>
            <a:ext cx="1213746" cy="0"/>
          </a:xfrm>
          <a:prstGeom prst="line">
            <a:avLst/>
          </a:prstGeom>
          <a:noFill/>
          <a:ln w="38100">
            <a:solidFill>
              <a:schemeClr val="accent3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B47BB0F-D3B9-6A73-5661-6510F06F87F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en-US" b="1" dirty="0" err="1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Cheminement</a:t>
            </a:r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du projet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Header">
            <a:extLst>
              <a:ext uri="{FF2B5EF4-FFF2-40B4-BE49-F238E27FC236}">
                <a16:creationId xmlns:a16="http://schemas.microsoft.com/office/drawing/2014/main" id="{AC9DCE1A-75D7-7AD8-88B7-83D5A4BD2BB6}"/>
              </a:ext>
            </a:extLst>
          </p:cNvPr>
          <p:cNvGrpSpPr/>
          <p:nvPr/>
        </p:nvGrpSpPr>
        <p:grpSpPr>
          <a:xfrm>
            <a:off x="502920" y="329184"/>
            <a:ext cx="9784080" cy="795528"/>
            <a:chOff x="502920" y="329184"/>
            <a:chExt cx="9784080" cy="795528"/>
          </a:xfrm>
        </p:grpSpPr>
        <p:sp>
          <p:nvSpPr>
            <p:cNvPr id="2" name="Tite slide 4"/>
            <p:cNvSpPr/>
            <p:nvPr/>
          </p:nvSpPr>
          <p:spPr>
            <a:xfrm>
              <a:off x="502920" y="329184"/>
              <a:ext cx="9784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17252A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Données initiales et préparation</a:t>
              </a:r>
              <a:endParaRPr lang="en-US" sz="2500" dirty="0"/>
            </a:p>
          </p:txBody>
        </p:sp>
        <p:sp>
          <p:nvSpPr>
            <p:cNvPr id="3" name="Sous-titre slide 4"/>
            <p:cNvSpPr/>
            <p:nvPr/>
          </p:nvSpPr>
          <p:spPr>
            <a:xfrm>
              <a:off x="530352" y="768096"/>
              <a:ext cx="7132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607D8B"/>
                  </a:solidFill>
                </a:rPr>
                <a:t>Source FBref : données joueurs, équipes et statistiques 2025</a:t>
              </a:r>
            </a:p>
          </p:txBody>
        </p:sp>
        <p:sp>
          <p:nvSpPr>
            <p:cNvPr id="25" name="Shape 2">
              <a:extLst>
                <a:ext uri="{FF2B5EF4-FFF2-40B4-BE49-F238E27FC236}">
                  <a16:creationId xmlns:a16="http://schemas.microsoft.com/office/drawing/2014/main" id="{0917E9AE-2A33-1D99-75D6-5488F6BA3B16}"/>
                </a:ext>
              </a:extLst>
            </p:cNvPr>
            <p:cNvSpPr/>
            <p:nvPr/>
          </p:nvSpPr>
          <p:spPr>
            <a:xfrm>
              <a:off x="502920" y="1124712"/>
              <a:ext cx="2148840" cy="0"/>
            </a:xfrm>
            <a:prstGeom prst="line">
              <a:avLst/>
            </a:prstGeom>
            <a:noFill/>
            <a:ln w="38100">
              <a:solidFill>
                <a:srgbClr val="E20044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</p:grpSp>
      <p:grpSp>
        <p:nvGrpSpPr>
          <p:cNvPr id="30" name="bloc Chaîne de traitement">
            <a:extLst>
              <a:ext uri="{FF2B5EF4-FFF2-40B4-BE49-F238E27FC236}">
                <a16:creationId xmlns:a16="http://schemas.microsoft.com/office/drawing/2014/main" id="{B0B1C56D-2A3B-4FE3-9E29-69E32ECFA308}"/>
              </a:ext>
            </a:extLst>
          </p:cNvPr>
          <p:cNvGrpSpPr/>
          <p:nvPr/>
        </p:nvGrpSpPr>
        <p:grpSpPr>
          <a:xfrm>
            <a:off x="530352" y="2223757"/>
            <a:ext cx="5188171" cy="3840480"/>
            <a:chOff x="530352" y="1325880"/>
            <a:chExt cx="5188171" cy="3840480"/>
          </a:xfrm>
        </p:grpSpPr>
        <p:sp>
          <p:nvSpPr>
            <p:cNvPr id="9" name="Shape 6"/>
            <p:cNvSpPr/>
            <p:nvPr/>
          </p:nvSpPr>
          <p:spPr>
            <a:xfrm>
              <a:off x="530352" y="1325880"/>
              <a:ext cx="5188171" cy="3840480"/>
            </a:xfrm>
            <a:prstGeom prst="roundRect">
              <a:avLst>
                <a:gd name="adj" fmla="val 1905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C00000"/>
                  </a:gs>
                  <a:gs pos="51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0" name="titre bloc Chaîne de traitement"/>
            <p:cNvSpPr/>
            <p:nvPr/>
          </p:nvSpPr>
          <p:spPr>
            <a:xfrm>
              <a:off x="1409543" y="1511586"/>
              <a:ext cx="2743200" cy="4515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E20044"/>
                  </a:solidFill>
                </a:rPr>
                <a:t>Chaîne de traitement</a:t>
              </a:r>
              <a:endParaRPr lang="en-US" sz="2200" dirty="0">
                <a:solidFill>
                  <a:srgbClr val="E20044"/>
                </a:solidFill>
              </a:endParaRPr>
            </a:p>
          </p:txBody>
        </p:sp>
        <p:sp>
          <p:nvSpPr>
            <p:cNvPr id="11" name="Liste Chaîne de traitement"/>
            <p:cNvSpPr/>
            <p:nvPr/>
          </p:nvSpPr>
          <p:spPr>
            <a:xfrm>
              <a:off x="2027649" y="2345388"/>
              <a:ext cx="3008093" cy="451545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r>
                <a:rPr lang="en-US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Import du fichier source puis séparation en tables métier.</a:t>
              </a:r>
              <a:endParaRPr lang="en-US" sz="1320" dirty="0"/>
            </a:p>
          </p:txBody>
        </p:sp>
        <p:sp>
          <p:nvSpPr>
            <p:cNvPr id="42" name="Liste Chaîne de traitement">
              <a:extLst>
                <a:ext uri="{FF2B5EF4-FFF2-40B4-BE49-F238E27FC236}">
                  <a16:creationId xmlns:a16="http://schemas.microsoft.com/office/drawing/2014/main" id="{1AF3D404-31A3-6B30-0D9B-B664A32D05A1}"/>
                </a:ext>
              </a:extLst>
            </p:cNvPr>
            <p:cNvSpPr/>
            <p:nvPr/>
          </p:nvSpPr>
          <p:spPr>
            <a:xfrm>
              <a:off x="2014785" y="2991571"/>
              <a:ext cx="3008093" cy="450000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r>
                <a:rPr lang="en-US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Contrôle des formats, valeurs manquantes et caractères spéciaux.</a:t>
              </a:r>
              <a:endParaRPr lang="en-US" sz="1320" dirty="0"/>
            </a:p>
          </p:txBody>
        </p:sp>
        <p:sp>
          <p:nvSpPr>
            <p:cNvPr id="43" name="Liste Chaîne de traitement">
              <a:extLst>
                <a:ext uri="{FF2B5EF4-FFF2-40B4-BE49-F238E27FC236}">
                  <a16:creationId xmlns:a16="http://schemas.microsoft.com/office/drawing/2014/main" id="{F9B34D4C-894C-AE2A-CF9F-C6D3DFF11DAD}"/>
                </a:ext>
              </a:extLst>
            </p:cNvPr>
            <p:cNvSpPr/>
            <p:nvPr/>
          </p:nvSpPr>
          <p:spPr>
            <a:xfrm>
              <a:off x="2014784" y="3693997"/>
              <a:ext cx="3008093" cy="450000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r>
                <a:rPr lang="en-US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Extraction des CSV avec maintien de la cohérence des identifiants.</a:t>
              </a:r>
              <a:endParaRPr lang="en-US" sz="1320" dirty="0"/>
            </a:p>
          </p:txBody>
        </p:sp>
        <p:sp>
          <p:nvSpPr>
            <p:cNvPr id="44" name="Liste Chaîne de traitement">
              <a:extLst>
                <a:ext uri="{FF2B5EF4-FFF2-40B4-BE49-F238E27FC236}">
                  <a16:creationId xmlns:a16="http://schemas.microsoft.com/office/drawing/2014/main" id="{A6656734-B3E5-DAEF-5EE0-EC1AC1E164D3}"/>
                </a:ext>
              </a:extLst>
            </p:cNvPr>
            <p:cNvSpPr/>
            <p:nvPr/>
          </p:nvSpPr>
          <p:spPr>
            <a:xfrm>
              <a:off x="2014783" y="4349732"/>
              <a:ext cx="3008093" cy="450000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r>
                <a:rPr lang="en-US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Détection de doublons fonctionnels et création d’une vue SQL consolidée.</a:t>
              </a:r>
              <a:endParaRPr lang="en-US" sz="1320" dirty="0"/>
            </a:p>
          </p:txBody>
        </p:sp>
      </p:grpSp>
      <p:grpSp>
        <p:nvGrpSpPr>
          <p:cNvPr id="31" name="bloc ligne joueur">
            <a:extLst>
              <a:ext uri="{FF2B5EF4-FFF2-40B4-BE49-F238E27FC236}">
                <a16:creationId xmlns:a16="http://schemas.microsoft.com/office/drawing/2014/main" id="{60ACDE3E-1677-E656-D4F5-BB251FBBFF64}"/>
              </a:ext>
            </a:extLst>
          </p:cNvPr>
          <p:cNvGrpSpPr/>
          <p:nvPr/>
        </p:nvGrpSpPr>
        <p:grpSpPr>
          <a:xfrm>
            <a:off x="6007716" y="1281104"/>
            <a:ext cx="1849556" cy="796347"/>
            <a:chOff x="6537960" y="1385970"/>
            <a:chExt cx="1849556" cy="796347"/>
          </a:xfrm>
        </p:grpSpPr>
        <p:sp>
          <p:nvSpPr>
            <p:cNvPr id="12" name="Shape 9"/>
            <p:cNvSpPr/>
            <p:nvPr/>
          </p:nvSpPr>
          <p:spPr>
            <a:xfrm>
              <a:off x="6537960" y="1385970"/>
              <a:ext cx="1849556" cy="796347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C00000"/>
                  </a:gs>
                  <a:gs pos="51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3" name="nombre ligne joueur"/>
            <p:cNvSpPr/>
            <p:nvPr/>
          </p:nvSpPr>
          <p:spPr>
            <a:xfrm>
              <a:off x="7202736" y="1514527"/>
              <a:ext cx="118478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E20044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551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4" name="Text 11"/>
            <p:cNvSpPr/>
            <p:nvPr/>
          </p:nvSpPr>
          <p:spPr>
            <a:xfrm>
              <a:off x="7226602" y="1833064"/>
              <a:ext cx="1137048" cy="2561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07D8B"/>
                  </a:solidFill>
                </a:rPr>
                <a:t>lignes joueurs</a:t>
              </a:r>
              <a:endParaRPr lang="en-US" sz="1000" dirty="0"/>
            </a:p>
          </p:txBody>
        </p:sp>
      </p:grpSp>
      <p:grpSp>
        <p:nvGrpSpPr>
          <p:cNvPr id="32" name="bloc performance">
            <a:extLst>
              <a:ext uri="{FF2B5EF4-FFF2-40B4-BE49-F238E27FC236}">
                <a16:creationId xmlns:a16="http://schemas.microsoft.com/office/drawing/2014/main" id="{20324A64-6937-6203-EEB7-899815AC7FC9}"/>
              </a:ext>
            </a:extLst>
          </p:cNvPr>
          <p:cNvGrpSpPr/>
          <p:nvPr/>
        </p:nvGrpSpPr>
        <p:grpSpPr>
          <a:xfrm>
            <a:off x="8033302" y="1285406"/>
            <a:ext cx="1776918" cy="796426"/>
            <a:chOff x="6910674" y="1283842"/>
            <a:chExt cx="1626745" cy="457188"/>
          </a:xfrm>
        </p:grpSpPr>
        <p:sp>
          <p:nvSpPr>
            <p:cNvPr id="15" name="Shape 12"/>
            <p:cNvSpPr/>
            <p:nvPr/>
          </p:nvSpPr>
          <p:spPr>
            <a:xfrm>
              <a:off x="6910674" y="1283842"/>
              <a:ext cx="1626745" cy="457188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22225">
              <a:gradFill>
                <a:gsLst>
                  <a:gs pos="0">
                    <a:srgbClr val="2E7D32"/>
                  </a:gs>
                  <a:gs pos="51000">
                    <a:srgbClr val="1ACC2F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5400000" scaled="1"/>
              </a:gradFill>
              <a:prstDash val="solid"/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6" name="nombre de performance"/>
            <p:cNvSpPr/>
            <p:nvPr/>
          </p:nvSpPr>
          <p:spPr>
            <a:xfrm>
              <a:off x="7520474" y="1360816"/>
              <a:ext cx="987967" cy="1748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2E7D3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551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7549452" y="1527571"/>
              <a:ext cx="987967" cy="1957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07D8B"/>
                  </a:solidFill>
                </a:rPr>
                <a:t>performances</a:t>
              </a:r>
              <a:endParaRPr lang="en-US" sz="1000" dirty="0"/>
            </a:p>
          </p:txBody>
        </p:sp>
      </p:grpSp>
      <p:grpSp>
        <p:nvGrpSpPr>
          <p:cNvPr id="33" name="bloc équipe">
            <a:extLst>
              <a:ext uri="{FF2B5EF4-FFF2-40B4-BE49-F238E27FC236}">
                <a16:creationId xmlns:a16="http://schemas.microsoft.com/office/drawing/2014/main" id="{38C6F393-582D-235C-C730-DE8BC1B92957}"/>
              </a:ext>
            </a:extLst>
          </p:cNvPr>
          <p:cNvGrpSpPr/>
          <p:nvPr/>
        </p:nvGrpSpPr>
        <p:grpSpPr>
          <a:xfrm>
            <a:off x="9986250" y="1278886"/>
            <a:ext cx="1608341" cy="796347"/>
            <a:chOff x="10363203" y="1325880"/>
            <a:chExt cx="1433808" cy="796347"/>
          </a:xfrm>
        </p:grpSpPr>
        <p:sp>
          <p:nvSpPr>
            <p:cNvPr id="18" name="Shape 15"/>
            <p:cNvSpPr/>
            <p:nvPr/>
          </p:nvSpPr>
          <p:spPr>
            <a:xfrm>
              <a:off x="10363203" y="1325880"/>
              <a:ext cx="1433808" cy="796347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22225">
              <a:gradFill>
                <a:gsLst>
                  <a:gs pos="0">
                    <a:srgbClr val="0F5B7F"/>
                  </a:gs>
                  <a:gs pos="5100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5400000" scaled="1"/>
              </a:gradFill>
              <a:prstDash val="solid"/>
            </a:ln>
          </p:spPr>
        </p:sp>
        <p:sp>
          <p:nvSpPr>
            <p:cNvPr id="19" name="nombre d'équipe"/>
            <p:cNvSpPr/>
            <p:nvPr/>
          </p:nvSpPr>
          <p:spPr>
            <a:xfrm>
              <a:off x="10999993" y="1452297"/>
              <a:ext cx="768879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dirty="0">
                  <a:solidFill>
                    <a:srgbClr val="0F5B7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18</a:t>
              </a:r>
              <a:endPara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0" name="Text 17"/>
            <p:cNvSpPr/>
            <p:nvPr/>
          </p:nvSpPr>
          <p:spPr>
            <a:xfrm>
              <a:off x="11080107" y="1803742"/>
              <a:ext cx="688764" cy="1702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607D8B"/>
                  </a:solidFill>
                </a:rPr>
                <a:t>équipes</a:t>
              </a:r>
              <a:endParaRPr lang="en-US" sz="1000" dirty="0"/>
            </a:p>
          </p:txBody>
        </p:sp>
      </p:grpSp>
      <p:grpSp>
        <p:nvGrpSpPr>
          <p:cNvPr id="95" name="Groupe 94">
            <a:extLst>
              <a:ext uri="{FF2B5EF4-FFF2-40B4-BE49-F238E27FC236}">
                <a16:creationId xmlns:a16="http://schemas.microsoft.com/office/drawing/2014/main" id="{D94401D7-57AE-3E77-7547-65DCC0390C52}"/>
              </a:ext>
            </a:extLst>
          </p:cNvPr>
          <p:cNvGrpSpPr/>
          <p:nvPr/>
        </p:nvGrpSpPr>
        <p:grpSpPr>
          <a:xfrm>
            <a:off x="5991670" y="2232347"/>
            <a:ext cx="5602921" cy="3840020"/>
            <a:chOff x="5991670" y="2232347"/>
            <a:chExt cx="5602921" cy="3840020"/>
          </a:xfrm>
        </p:grpSpPr>
        <p:sp>
          <p:nvSpPr>
            <p:cNvPr id="21" name="Shape 18"/>
            <p:cNvSpPr/>
            <p:nvPr/>
          </p:nvSpPr>
          <p:spPr>
            <a:xfrm>
              <a:off x="5991670" y="2232347"/>
              <a:ext cx="5602921" cy="3840020"/>
            </a:xfrm>
            <a:prstGeom prst="roundRect">
              <a:avLst>
                <a:gd name="adj" fmla="val 2759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2E7D32"/>
                  </a:gs>
                  <a:gs pos="51000">
                    <a:srgbClr val="92D050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22" name="titre bloc Contrôles qualité ajoutés"/>
            <p:cNvSpPr/>
            <p:nvPr/>
          </p:nvSpPr>
          <p:spPr>
            <a:xfrm>
              <a:off x="6915705" y="2389282"/>
              <a:ext cx="4019573" cy="501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200" b="1" dirty="0">
                  <a:solidFill>
                    <a:srgbClr val="2E7D32"/>
                  </a:solidFill>
                </a:rPr>
                <a:t>Contrôles qualité ajoutés</a:t>
              </a:r>
              <a:endParaRPr lang="en-US" sz="2200" dirty="0">
                <a:solidFill>
                  <a:srgbClr val="2E7D32"/>
                </a:solidFill>
              </a:endParaRPr>
            </a:p>
          </p:txBody>
        </p:sp>
        <p:sp>
          <p:nvSpPr>
            <p:cNvPr id="23" name="liste Contrôles qualité ajoutés"/>
            <p:cNvSpPr/>
            <p:nvPr/>
          </p:nvSpPr>
          <p:spPr>
            <a:xfrm>
              <a:off x="6791202" y="3176800"/>
              <a:ext cx="4410198" cy="407465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fr-FR" sz="1320" dirty="0"/>
                <a:t>Données brutes vs vue consolidée </a:t>
              </a:r>
              <a:r>
                <a:rPr lang="en-US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;</a:t>
              </a:r>
              <a:endParaRPr lang="en-US" sz="1320" dirty="0"/>
            </a:p>
          </p:txBody>
        </p:sp>
        <p:sp>
          <p:nvSpPr>
            <p:cNvPr id="93" name="Rectangle : coins arrondis 92">
              <a:extLst>
                <a:ext uri="{FF2B5EF4-FFF2-40B4-BE49-F238E27FC236}">
                  <a16:creationId xmlns:a16="http://schemas.microsoft.com/office/drawing/2014/main" id="{23F6A346-C26B-50D0-263F-A53919E8931A}"/>
                </a:ext>
              </a:extLst>
            </p:cNvPr>
            <p:cNvSpPr/>
            <p:nvPr/>
          </p:nvSpPr>
          <p:spPr>
            <a:xfrm>
              <a:off x="6235769" y="4859997"/>
              <a:ext cx="5109893" cy="967545"/>
            </a:xfrm>
            <a:prstGeom prst="roundRect">
              <a:avLst>
                <a:gd name="adj" fmla="val 8530"/>
              </a:avLst>
            </a:prstGeom>
            <a:solidFill>
              <a:srgbClr val="C2FEB8">
                <a:alpha val="34902"/>
              </a:srgb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4" name="Text conclusion"/>
            <p:cNvSpPr/>
            <p:nvPr/>
          </p:nvSpPr>
          <p:spPr>
            <a:xfrm>
              <a:off x="7202954" y="4917882"/>
              <a:ext cx="3219430" cy="83625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2E7D32"/>
                  </a:solidFill>
                </a:rPr>
                <a:t>Conclusion : </a:t>
              </a:r>
              <a:r>
                <a:rPr lang="fr-FR" sz="1250" b="1" dirty="0">
                  <a:solidFill>
                    <a:srgbClr val="2E7D32"/>
                  </a:solidFill>
                </a:rPr>
                <a:t>l’impact global reste limité, mais la consolidation est pertinente pour fiabiliser les analyses par joueur.</a:t>
              </a:r>
              <a:endParaRPr lang="en-US" sz="1250" dirty="0"/>
            </a:p>
          </p:txBody>
        </p:sp>
        <p:sp>
          <p:nvSpPr>
            <p:cNvPr id="85" name="liste Contrôles qualité ajoutés">
              <a:extLst>
                <a:ext uri="{FF2B5EF4-FFF2-40B4-BE49-F238E27FC236}">
                  <a16:creationId xmlns:a16="http://schemas.microsoft.com/office/drawing/2014/main" id="{91C59BB3-F313-8E08-652F-47E043A35FB2}"/>
                </a:ext>
              </a:extLst>
            </p:cNvPr>
            <p:cNvSpPr/>
            <p:nvPr/>
          </p:nvSpPr>
          <p:spPr>
            <a:xfrm>
              <a:off x="6787017" y="3765667"/>
              <a:ext cx="4414383" cy="258733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Doublons fonctionnels ;</a:t>
              </a:r>
              <a:endParaRPr lang="en-US" sz="1320" dirty="0"/>
            </a:p>
          </p:txBody>
        </p:sp>
        <p:sp>
          <p:nvSpPr>
            <p:cNvPr id="86" name="liste Contrôles qualité ajoutés">
              <a:extLst>
                <a:ext uri="{FF2B5EF4-FFF2-40B4-BE49-F238E27FC236}">
                  <a16:creationId xmlns:a16="http://schemas.microsoft.com/office/drawing/2014/main" id="{A497BE31-E44D-89EA-E941-C30308C50E8A}"/>
                </a:ext>
              </a:extLst>
            </p:cNvPr>
            <p:cNvSpPr/>
            <p:nvPr/>
          </p:nvSpPr>
          <p:spPr>
            <a:xfrm>
              <a:off x="6782163" y="4249040"/>
              <a:ext cx="4184421" cy="35620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fr-FR" sz="1320" dirty="0"/>
                <a:t>Écarts affichés uniquement si le résultat diffère</a:t>
              </a:r>
              <a:r>
                <a:rPr lang="en-US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.</a:t>
              </a:r>
              <a:endParaRPr lang="en-US" sz="1320" dirty="0"/>
            </a:p>
          </p:txBody>
        </p:sp>
      </p:grpSp>
      <p:pic>
        <p:nvPicPr>
          <p:cNvPr id="36" name="Image 35">
            <a:extLst>
              <a:ext uri="{FF2B5EF4-FFF2-40B4-BE49-F238E27FC236}">
                <a16:creationId xmlns:a16="http://schemas.microsoft.com/office/drawing/2014/main" id="{5F5D0344-17EC-917C-2FD4-C71824C23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793" y="2409464"/>
            <a:ext cx="515022" cy="451545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38" name="numéro">
            <a:extLst>
              <a:ext uri="{FF2B5EF4-FFF2-40B4-BE49-F238E27FC236}">
                <a16:creationId xmlns:a16="http://schemas.microsoft.com/office/drawing/2014/main" id="{9BEF816D-6B17-130A-66F0-A77DDE3C7C5D}"/>
              </a:ext>
            </a:extLst>
          </p:cNvPr>
          <p:cNvSpPr/>
          <p:nvPr/>
        </p:nvSpPr>
        <p:spPr>
          <a:xfrm>
            <a:off x="757604" y="3297361"/>
            <a:ext cx="360000" cy="360000"/>
          </a:xfrm>
          <a:prstGeom prst="ellipse">
            <a:avLst/>
          </a:prstGeom>
          <a:gradFill flip="none" rotWithShape="1">
            <a:gsLst>
              <a:gs pos="0">
                <a:srgbClr val="E20044">
                  <a:tint val="66000"/>
                  <a:satMod val="160000"/>
                  <a:alpha val="35000"/>
                </a:srgbClr>
              </a:gs>
              <a:gs pos="50000">
                <a:srgbClr val="E20044">
                  <a:tint val="44500"/>
                  <a:satMod val="160000"/>
                  <a:alpha val="35000"/>
                </a:srgbClr>
              </a:gs>
              <a:gs pos="100000">
                <a:srgbClr val="E20044">
                  <a:tint val="23500"/>
                  <a:satMod val="160000"/>
                  <a:alpha val="35000"/>
                </a:srgbClr>
              </a:gs>
            </a:gsLst>
            <a:path path="circle">
              <a:fillToRect l="50000" t="50000" r="50000" b="50000"/>
            </a:path>
            <a:tileRect/>
          </a:gra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004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en-US" sz="1300" dirty="0">
              <a:solidFill>
                <a:srgbClr val="E2004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9" name="numéro">
            <a:extLst>
              <a:ext uri="{FF2B5EF4-FFF2-40B4-BE49-F238E27FC236}">
                <a16:creationId xmlns:a16="http://schemas.microsoft.com/office/drawing/2014/main" id="{96AF101B-E7B4-65BF-A015-C8007520EBDE}"/>
              </a:ext>
            </a:extLst>
          </p:cNvPr>
          <p:cNvSpPr/>
          <p:nvPr/>
        </p:nvSpPr>
        <p:spPr>
          <a:xfrm>
            <a:off x="759779" y="3959681"/>
            <a:ext cx="360000" cy="360000"/>
          </a:xfrm>
          <a:prstGeom prst="ellipse">
            <a:avLst/>
          </a:prstGeom>
          <a:gradFill flip="none" rotWithShape="1">
            <a:gsLst>
              <a:gs pos="0">
                <a:srgbClr val="E20044">
                  <a:tint val="66000"/>
                  <a:satMod val="160000"/>
                  <a:alpha val="35000"/>
                </a:srgbClr>
              </a:gs>
              <a:gs pos="50000">
                <a:srgbClr val="E20044">
                  <a:tint val="44500"/>
                  <a:satMod val="160000"/>
                  <a:alpha val="35000"/>
                </a:srgbClr>
              </a:gs>
              <a:gs pos="100000">
                <a:srgbClr val="E20044">
                  <a:tint val="23500"/>
                  <a:satMod val="160000"/>
                  <a:alpha val="35000"/>
                </a:srgbClr>
              </a:gs>
            </a:gsLst>
            <a:path path="circle">
              <a:fillToRect l="50000" t="50000" r="50000" b="50000"/>
            </a:path>
            <a:tileRect/>
          </a:gra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004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en-US" sz="1300" dirty="0">
              <a:solidFill>
                <a:srgbClr val="E2004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" name="numéro">
            <a:extLst>
              <a:ext uri="{FF2B5EF4-FFF2-40B4-BE49-F238E27FC236}">
                <a16:creationId xmlns:a16="http://schemas.microsoft.com/office/drawing/2014/main" id="{9789DB37-5C8B-59C4-134D-16BCFFD183EC}"/>
              </a:ext>
            </a:extLst>
          </p:cNvPr>
          <p:cNvSpPr/>
          <p:nvPr/>
        </p:nvSpPr>
        <p:spPr>
          <a:xfrm>
            <a:off x="777541" y="4628863"/>
            <a:ext cx="360000" cy="360000"/>
          </a:xfrm>
          <a:prstGeom prst="ellipse">
            <a:avLst/>
          </a:prstGeom>
          <a:gradFill flip="none" rotWithShape="1">
            <a:gsLst>
              <a:gs pos="0">
                <a:srgbClr val="E20044">
                  <a:tint val="66000"/>
                  <a:satMod val="160000"/>
                  <a:alpha val="35000"/>
                </a:srgbClr>
              </a:gs>
              <a:gs pos="50000">
                <a:srgbClr val="E20044">
                  <a:tint val="44500"/>
                  <a:satMod val="160000"/>
                  <a:alpha val="35000"/>
                </a:srgbClr>
              </a:gs>
              <a:gs pos="100000">
                <a:srgbClr val="E20044">
                  <a:tint val="23500"/>
                  <a:satMod val="160000"/>
                  <a:alpha val="35000"/>
                </a:srgbClr>
              </a:gs>
            </a:gsLst>
            <a:path path="circle">
              <a:fillToRect l="50000" t="50000" r="50000" b="50000"/>
            </a:path>
            <a:tileRect/>
          </a:gra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004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en-US" sz="1300" dirty="0">
              <a:solidFill>
                <a:srgbClr val="E2004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" name="numéro">
            <a:extLst>
              <a:ext uri="{FF2B5EF4-FFF2-40B4-BE49-F238E27FC236}">
                <a16:creationId xmlns:a16="http://schemas.microsoft.com/office/drawing/2014/main" id="{F731219E-743E-63DA-7F98-CBBCB011B4B7}"/>
              </a:ext>
            </a:extLst>
          </p:cNvPr>
          <p:cNvSpPr/>
          <p:nvPr/>
        </p:nvSpPr>
        <p:spPr>
          <a:xfrm>
            <a:off x="761954" y="5275975"/>
            <a:ext cx="360000" cy="360000"/>
          </a:xfrm>
          <a:prstGeom prst="ellipse">
            <a:avLst/>
          </a:prstGeom>
          <a:gradFill flip="none" rotWithShape="1">
            <a:gsLst>
              <a:gs pos="0">
                <a:srgbClr val="E20044">
                  <a:tint val="66000"/>
                  <a:satMod val="160000"/>
                  <a:alpha val="35000"/>
                </a:srgbClr>
              </a:gs>
              <a:gs pos="50000">
                <a:srgbClr val="E20044">
                  <a:tint val="44500"/>
                  <a:satMod val="160000"/>
                  <a:alpha val="35000"/>
                </a:srgbClr>
              </a:gs>
              <a:gs pos="100000">
                <a:srgbClr val="E20044">
                  <a:tint val="23500"/>
                  <a:satMod val="160000"/>
                  <a:alpha val="35000"/>
                </a:srgbClr>
              </a:gs>
            </a:gsLst>
            <a:path path="circle">
              <a:fillToRect l="50000" t="50000" r="50000" b="50000"/>
            </a:path>
            <a:tileRect/>
          </a:gra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004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en-US" sz="1300" dirty="0">
              <a:solidFill>
                <a:srgbClr val="E2004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6" name="Image 45" descr="Une image contenant Graphique, symbole, Police, logo&#10;&#10;Le contenu généré par l’IA peut être incorrect.">
            <a:extLst>
              <a:ext uri="{FF2B5EF4-FFF2-40B4-BE49-F238E27FC236}">
                <a16:creationId xmlns:a16="http://schemas.microsoft.com/office/drawing/2014/main" id="{31DE14C8-D602-4247-F50C-064911A39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340" y="3249694"/>
            <a:ext cx="450000" cy="450000"/>
          </a:xfrm>
          <a:prstGeom prst="rect">
            <a:avLst/>
          </a:prstGeom>
        </p:spPr>
      </p:pic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106AC5EB-DFFA-45E1-39D6-52EC8E98F183}"/>
              </a:ext>
            </a:extLst>
          </p:cNvPr>
          <p:cNvCxnSpPr>
            <a:cxnSpLocks/>
          </p:cNvCxnSpPr>
          <p:nvPr/>
        </p:nvCxnSpPr>
        <p:spPr>
          <a:xfrm>
            <a:off x="718506" y="3800578"/>
            <a:ext cx="4723506" cy="0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73962DD5-EB1E-C686-24E5-715480CC77AC}"/>
              </a:ext>
            </a:extLst>
          </p:cNvPr>
          <p:cNvCxnSpPr>
            <a:cxnSpLocks/>
          </p:cNvCxnSpPr>
          <p:nvPr/>
        </p:nvCxnSpPr>
        <p:spPr>
          <a:xfrm>
            <a:off x="718505" y="4480688"/>
            <a:ext cx="4723507" cy="0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2D1A0383-ED7E-3638-87A9-F2EA76108FEB}"/>
              </a:ext>
            </a:extLst>
          </p:cNvPr>
          <p:cNvCxnSpPr>
            <a:cxnSpLocks/>
          </p:cNvCxnSpPr>
          <p:nvPr/>
        </p:nvCxnSpPr>
        <p:spPr>
          <a:xfrm>
            <a:off x="755428" y="5136424"/>
            <a:ext cx="4686584" cy="0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Image 54" descr="Une image contenant cercl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96AC2DED-A730-2661-E6FE-89A10D4539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2282" y="3923051"/>
            <a:ext cx="450000" cy="450000"/>
          </a:xfrm>
          <a:prstGeom prst="rect">
            <a:avLst/>
          </a:prstGeom>
        </p:spPr>
      </p:pic>
      <p:pic>
        <p:nvPicPr>
          <p:cNvPr id="61" name="Image 60" descr="Une image contenant Caractère coloré, cercle, lampe, art&#10;&#10;Le contenu généré par l’IA peut être incorrect.">
            <a:extLst>
              <a:ext uri="{FF2B5EF4-FFF2-40B4-BE49-F238E27FC236}">
                <a16:creationId xmlns:a16="http://schemas.microsoft.com/office/drawing/2014/main" id="{31FC4DB0-2ECF-E6A6-4909-B001140EB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340" y="4583863"/>
            <a:ext cx="450000" cy="450000"/>
          </a:xfrm>
          <a:prstGeom prst="rect">
            <a:avLst/>
          </a:prstGeom>
        </p:spPr>
      </p:pic>
      <p:pic>
        <p:nvPicPr>
          <p:cNvPr id="67" name="Image 66" descr="Une image contenant texte, capture d’écran, rouge, conception&#10;&#10;Le contenu généré par l’IA peut être incorrect.">
            <a:extLst>
              <a:ext uri="{FF2B5EF4-FFF2-40B4-BE49-F238E27FC236}">
                <a16:creationId xmlns:a16="http://schemas.microsoft.com/office/drawing/2014/main" id="{45EDE9AF-30F5-85CD-5F79-BA3D1ABD92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2282" y="5238986"/>
            <a:ext cx="450000" cy="450000"/>
          </a:xfrm>
          <a:prstGeom prst="rect">
            <a:avLst/>
          </a:prstGeom>
        </p:spPr>
      </p:pic>
      <p:sp>
        <p:nvSpPr>
          <p:cNvPr id="70" name="Ellipse 69">
            <a:extLst>
              <a:ext uri="{FF2B5EF4-FFF2-40B4-BE49-F238E27FC236}">
                <a16:creationId xmlns:a16="http://schemas.microsoft.com/office/drawing/2014/main" id="{337E3DE1-9C2E-CE4A-BD6F-2034D6EB7AB6}"/>
              </a:ext>
            </a:extLst>
          </p:cNvPr>
          <p:cNvSpPr/>
          <p:nvPr/>
        </p:nvSpPr>
        <p:spPr>
          <a:xfrm>
            <a:off x="6157652" y="1416853"/>
            <a:ext cx="514841" cy="514800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  <a:alpha val="35000"/>
                </a:schemeClr>
              </a:gs>
              <a:gs pos="50000">
                <a:schemeClr val="accent1">
                  <a:tint val="44500"/>
                  <a:satMod val="160000"/>
                  <a:alpha val="35000"/>
                </a:schemeClr>
              </a:gs>
              <a:gs pos="100000">
                <a:schemeClr val="accent1">
                  <a:tint val="23500"/>
                  <a:satMod val="160000"/>
                  <a:alpha val="3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9" name="Image 68" descr="Une image contenant Graphique&#10;&#10;Le contenu généré par l’IA peut être incorrect.">
            <a:extLst>
              <a:ext uri="{FF2B5EF4-FFF2-40B4-BE49-F238E27FC236}">
                <a16:creationId xmlns:a16="http://schemas.microsoft.com/office/drawing/2014/main" id="{234960FA-7F6A-6717-7909-014F138648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1517" y="1460116"/>
            <a:ext cx="490976" cy="490976"/>
          </a:xfrm>
          <a:prstGeom prst="rect">
            <a:avLst/>
          </a:prstGeom>
        </p:spPr>
      </p:pic>
      <p:sp>
        <p:nvSpPr>
          <p:cNvPr id="71" name="Ellipse 70">
            <a:extLst>
              <a:ext uri="{FF2B5EF4-FFF2-40B4-BE49-F238E27FC236}">
                <a16:creationId xmlns:a16="http://schemas.microsoft.com/office/drawing/2014/main" id="{523BEB39-89E4-AE57-40EE-51BFA9FA2A56}"/>
              </a:ext>
            </a:extLst>
          </p:cNvPr>
          <p:cNvSpPr/>
          <p:nvPr/>
        </p:nvSpPr>
        <p:spPr>
          <a:xfrm>
            <a:off x="8212201" y="1421652"/>
            <a:ext cx="514841" cy="514800"/>
          </a:xfrm>
          <a:prstGeom prst="ellipse">
            <a:avLst/>
          </a:prstGeom>
          <a:gradFill flip="none" rotWithShape="1">
            <a:gsLst>
              <a:gs pos="0">
                <a:srgbClr val="266829">
                  <a:alpha val="35000"/>
                </a:srgbClr>
              </a:gs>
              <a:gs pos="50000">
                <a:srgbClr val="00B050">
                  <a:alpha val="35000"/>
                </a:srgbClr>
              </a:gs>
              <a:gs pos="100000">
                <a:srgbClr val="92D050">
                  <a:alpha val="3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3" name="Image 72" descr="Une image contenant texte, Police, Graphique, lampe&#10;&#10;Le contenu généré par l’IA peut être incorrect.">
            <a:extLst>
              <a:ext uri="{FF2B5EF4-FFF2-40B4-BE49-F238E27FC236}">
                <a16:creationId xmlns:a16="http://schemas.microsoft.com/office/drawing/2014/main" id="{62593B23-2AF1-ADA1-67F4-542EA18469A0}"/>
              </a:ext>
            </a:extLst>
          </p:cNvPr>
          <p:cNvPicPr>
            <a:picLocks noChangeAspect="1"/>
          </p:cNvPicPr>
          <p:nvPr/>
        </p:nvPicPr>
        <p:blipFill>
          <a:blip r:embed="rId9">
            <a:grayscl/>
          </a:blip>
          <a:stretch>
            <a:fillRect/>
          </a:stretch>
        </p:blipFill>
        <p:spPr>
          <a:xfrm>
            <a:off x="8280930" y="1488109"/>
            <a:ext cx="353743" cy="353743"/>
          </a:xfrm>
          <a:prstGeom prst="rect">
            <a:avLst/>
          </a:prstGeom>
          <a:effectLst/>
        </p:spPr>
      </p:pic>
      <p:sp>
        <p:nvSpPr>
          <p:cNvPr id="74" name="Ellipse 73">
            <a:extLst>
              <a:ext uri="{FF2B5EF4-FFF2-40B4-BE49-F238E27FC236}">
                <a16:creationId xmlns:a16="http://schemas.microsoft.com/office/drawing/2014/main" id="{080DEBC9-CD42-8E6E-F2EB-60B01822B3E6}"/>
              </a:ext>
            </a:extLst>
          </p:cNvPr>
          <p:cNvSpPr/>
          <p:nvPr/>
        </p:nvSpPr>
        <p:spPr>
          <a:xfrm>
            <a:off x="10137412" y="1419529"/>
            <a:ext cx="514841" cy="514800"/>
          </a:xfrm>
          <a:prstGeom prst="ellipse">
            <a:avLst/>
          </a:prstGeom>
          <a:gradFill flip="none" rotWithShape="1">
            <a:gsLst>
              <a:gs pos="0">
                <a:srgbClr val="0F5B7F">
                  <a:tint val="66000"/>
                  <a:satMod val="160000"/>
                  <a:alpha val="35000"/>
                </a:srgbClr>
              </a:gs>
              <a:gs pos="50000">
                <a:srgbClr val="0F5B7F">
                  <a:tint val="44500"/>
                  <a:satMod val="160000"/>
                  <a:alpha val="35000"/>
                </a:srgbClr>
              </a:gs>
              <a:gs pos="100000">
                <a:srgbClr val="0F5B7F">
                  <a:tint val="23500"/>
                  <a:satMod val="160000"/>
                  <a:alpha val="3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5" name="Image 74" descr="Une image contenant cercl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33F7D2C-46C8-0D49-E230-C0F00002DC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1118" y="1489747"/>
            <a:ext cx="387745" cy="387745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82" name="Image 81">
            <a:extLst>
              <a:ext uri="{FF2B5EF4-FFF2-40B4-BE49-F238E27FC236}">
                <a16:creationId xmlns:a16="http://schemas.microsoft.com/office/drawing/2014/main" id="{7FC7F925-4403-5F18-3DC4-FB21DAF183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1517" y="2358900"/>
            <a:ext cx="609685" cy="609685"/>
          </a:xfrm>
          <a:prstGeom prst="rect">
            <a:avLst/>
          </a:prstGeom>
        </p:spPr>
      </p:pic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1CC25760-44E9-A7F0-5D17-59DC89496062}"/>
              </a:ext>
            </a:extLst>
          </p:cNvPr>
          <p:cNvCxnSpPr>
            <a:cxnSpLocks/>
          </p:cNvCxnSpPr>
          <p:nvPr/>
        </p:nvCxnSpPr>
        <p:spPr>
          <a:xfrm>
            <a:off x="6486359" y="4174685"/>
            <a:ext cx="4723506" cy="0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>
            <a:extLst>
              <a:ext uri="{FF2B5EF4-FFF2-40B4-BE49-F238E27FC236}">
                <a16:creationId xmlns:a16="http://schemas.microsoft.com/office/drawing/2014/main" id="{A1032B2D-D964-EC79-6441-35F9544BFCBC}"/>
              </a:ext>
            </a:extLst>
          </p:cNvPr>
          <p:cNvCxnSpPr>
            <a:cxnSpLocks/>
          </p:cNvCxnSpPr>
          <p:nvPr/>
        </p:nvCxnSpPr>
        <p:spPr>
          <a:xfrm>
            <a:off x="6325248" y="3657361"/>
            <a:ext cx="4876152" cy="6583"/>
          </a:xfrm>
          <a:prstGeom prst="line">
            <a:avLst/>
          </a:prstGeom>
          <a:ln w="158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9" name="Image 88" descr="Une image contenant symbole, Graphique, logo, Police&#10;&#10;Le contenu généré par l’IA peut être incorrect.">
            <a:extLst>
              <a:ext uri="{FF2B5EF4-FFF2-40B4-BE49-F238E27FC236}">
                <a16:creationId xmlns:a16="http://schemas.microsoft.com/office/drawing/2014/main" id="{0D0BBBD8-5DFA-5DEE-5A41-5DCBE91F8B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9093" y="3280261"/>
            <a:ext cx="288000" cy="288000"/>
          </a:xfrm>
          <a:prstGeom prst="rect">
            <a:avLst/>
          </a:prstGeom>
        </p:spPr>
      </p:pic>
      <p:pic>
        <p:nvPicPr>
          <p:cNvPr id="90" name="Image 89" descr="Une image contenant symbole, Graphique, logo, Police&#10;&#10;Le contenu généré par l’IA peut être incorrect.">
            <a:extLst>
              <a:ext uri="{FF2B5EF4-FFF2-40B4-BE49-F238E27FC236}">
                <a16:creationId xmlns:a16="http://schemas.microsoft.com/office/drawing/2014/main" id="{A43EECF6-FB39-744B-61C8-CE1FE66A7D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9093" y="3774790"/>
            <a:ext cx="288000" cy="288000"/>
          </a:xfrm>
          <a:prstGeom prst="rect">
            <a:avLst/>
          </a:prstGeom>
        </p:spPr>
      </p:pic>
      <p:pic>
        <p:nvPicPr>
          <p:cNvPr id="91" name="Image 90" descr="Une image contenant symbole, Graphique, logo, Police&#10;&#10;Le contenu généré par l’IA peut être incorrect.">
            <a:extLst>
              <a:ext uri="{FF2B5EF4-FFF2-40B4-BE49-F238E27FC236}">
                <a16:creationId xmlns:a16="http://schemas.microsoft.com/office/drawing/2014/main" id="{E349B562-E5F4-76EB-5314-1F95B0871B2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5248" y="4295863"/>
            <a:ext cx="288000" cy="288000"/>
          </a:xfrm>
          <a:prstGeom prst="rect">
            <a:avLst/>
          </a:prstGeom>
        </p:spPr>
      </p:pic>
      <p:grpSp>
        <p:nvGrpSpPr>
          <p:cNvPr id="29" name="Footer">
            <a:extLst>
              <a:ext uri="{FF2B5EF4-FFF2-40B4-BE49-F238E27FC236}">
                <a16:creationId xmlns:a16="http://schemas.microsoft.com/office/drawing/2014/main" id="{3A37E87F-8668-86DA-0064-16C215A1E3F8}"/>
              </a:ext>
            </a:extLst>
          </p:cNvPr>
          <p:cNvGrpSpPr/>
          <p:nvPr/>
        </p:nvGrpSpPr>
        <p:grpSpPr>
          <a:xfrm>
            <a:off x="502920" y="6446520"/>
            <a:ext cx="11155680" cy="228600"/>
            <a:chOff x="502920" y="6446520"/>
            <a:chExt cx="11155680" cy="228600"/>
          </a:xfrm>
        </p:grpSpPr>
        <p:sp>
          <p:nvSpPr>
            <p:cNvPr id="6" name="Shape 3"/>
            <p:cNvSpPr/>
            <p:nvPr/>
          </p:nvSpPr>
          <p:spPr>
            <a:xfrm>
              <a:off x="502920" y="6446520"/>
              <a:ext cx="11155680" cy="0"/>
            </a:xfrm>
            <a:prstGeom prst="line">
              <a:avLst/>
            </a:prstGeom>
            <a:noFill/>
            <a:ln w="7620">
              <a:solidFill>
                <a:srgbClr val="DCE4E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02920" y="6510528"/>
              <a:ext cx="4754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SportDataPulse · Business Intelligence Analyst</a:t>
              </a:r>
              <a:endParaRPr lang="en-US" sz="750" dirty="0"/>
            </a:p>
          </p:txBody>
        </p:sp>
        <p:sp>
          <p:nvSpPr>
            <p:cNvPr id="8" name="numéro de slide"/>
            <p:cNvSpPr/>
            <p:nvPr/>
          </p:nvSpPr>
          <p:spPr>
            <a:xfrm>
              <a:off x="11201400" y="6510528"/>
              <a:ext cx="411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4</a:t>
              </a:r>
              <a:endParaRPr lang="en-US" sz="750" dirty="0"/>
            </a:p>
          </p:txBody>
        </p:sp>
      </p:grpSp>
      <p:pic>
        <p:nvPicPr>
          <p:cNvPr id="96" name="Image 95" descr="Une image contenant symbole, Graphique, logo, Police&#10;&#10;Le contenu généré par l’IA peut être incorrect.">
            <a:extLst>
              <a:ext uri="{FF2B5EF4-FFF2-40B4-BE49-F238E27FC236}">
                <a16:creationId xmlns:a16="http://schemas.microsoft.com/office/drawing/2014/main" id="{DF56EA3A-E977-15B3-EDFE-674CAB3B323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7977" y="5095653"/>
            <a:ext cx="506048" cy="506048"/>
          </a:xfrm>
          <a:prstGeom prst="rect">
            <a:avLst/>
          </a:prstGeom>
        </p:spPr>
      </p:pic>
      <p:pic>
        <p:nvPicPr>
          <p:cNvPr id="97" name="Logo image" descr="/mnt/data/assets_spdp/logo_icon.png">
            <a:extLst>
              <a:ext uri="{FF2B5EF4-FFF2-40B4-BE49-F238E27FC236}">
                <a16:creationId xmlns:a16="http://schemas.microsoft.com/office/drawing/2014/main" id="{3BB66348-726F-8E42-AC24-0F5BFEF67E3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98" name="Shape 2">
            <a:extLst>
              <a:ext uri="{FF2B5EF4-FFF2-40B4-BE49-F238E27FC236}">
                <a16:creationId xmlns:a16="http://schemas.microsoft.com/office/drawing/2014/main" id="{CD1261CC-1397-8095-C744-58A7F2AF4977}"/>
              </a:ext>
            </a:extLst>
          </p:cNvPr>
          <p:cNvSpPr/>
          <p:nvPr/>
        </p:nvSpPr>
        <p:spPr>
          <a:xfrm flipV="1">
            <a:off x="1409543" y="2874443"/>
            <a:ext cx="2672264" cy="8029"/>
          </a:xfrm>
          <a:prstGeom prst="line">
            <a:avLst/>
          </a:prstGeom>
          <a:noFill/>
          <a:ln w="38100">
            <a:solidFill>
              <a:srgbClr val="E2004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99" name="Shape 2">
            <a:extLst>
              <a:ext uri="{FF2B5EF4-FFF2-40B4-BE49-F238E27FC236}">
                <a16:creationId xmlns:a16="http://schemas.microsoft.com/office/drawing/2014/main" id="{2A69B4EA-E599-5C2E-75AE-7BCDD00C4B2E}"/>
              </a:ext>
            </a:extLst>
          </p:cNvPr>
          <p:cNvSpPr/>
          <p:nvPr/>
        </p:nvSpPr>
        <p:spPr>
          <a:xfrm>
            <a:off x="6954024" y="2918846"/>
            <a:ext cx="3183387" cy="190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1D78CD80-2716-E350-CEF4-5B24D25668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Données </a:t>
            </a:r>
            <a:r>
              <a:rPr lang="en-US" b="1" dirty="0" err="1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initiales</a:t>
            </a:r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et préparation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Header">
            <a:extLst>
              <a:ext uri="{FF2B5EF4-FFF2-40B4-BE49-F238E27FC236}">
                <a16:creationId xmlns:a16="http://schemas.microsoft.com/office/drawing/2014/main" id="{BC43EEC1-17AA-9E2C-7339-A3416CD8DAB4}"/>
              </a:ext>
            </a:extLst>
          </p:cNvPr>
          <p:cNvGrpSpPr/>
          <p:nvPr/>
        </p:nvGrpSpPr>
        <p:grpSpPr>
          <a:xfrm>
            <a:off x="502920" y="329184"/>
            <a:ext cx="9784080" cy="795528"/>
            <a:chOff x="502920" y="329184"/>
            <a:chExt cx="9784080" cy="795528"/>
          </a:xfrm>
        </p:grpSpPr>
        <p:sp>
          <p:nvSpPr>
            <p:cNvPr id="2" name="titre slide 5"/>
            <p:cNvSpPr/>
            <p:nvPr/>
          </p:nvSpPr>
          <p:spPr>
            <a:xfrm>
              <a:off x="502920" y="329184"/>
              <a:ext cx="9784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17252A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Dictionnaire de données mis à jour</a:t>
              </a:r>
              <a:endParaRPr lang="en-US" sz="2500" dirty="0"/>
            </a:p>
          </p:txBody>
        </p:sp>
        <p:sp>
          <p:nvSpPr>
            <p:cNvPr id="3" name="Sous titre slide 5"/>
            <p:cNvSpPr/>
            <p:nvPr/>
          </p:nvSpPr>
          <p:spPr>
            <a:xfrm>
              <a:off x="530352" y="768096"/>
              <a:ext cx="7132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607D8B"/>
                  </a:solidFill>
                </a:rPr>
                <a:t>Structurer les champs pour fiabiliser les requêtes SQL</a:t>
              </a:r>
              <a:endParaRPr lang="en-US" sz="1100" dirty="0"/>
            </a:p>
          </p:txBody>
        </p:sp>
        <p:sp>
          <p:nvSpPr>
            <p:cNvPr id="23" name="Shape 2">
              <a:extLst>
                <a:ext uri="{FF2B5EF4-FFF2-40B4-BE49-F238E27FC236}">
                  <a16:creationId xmlns:a16="http://schemas.microsoft.com/office/drawing/2014/main" id="{4725B05C-DA09-6E78-5569-5C130A6C4C5E}"/>
                </a:ext>
              </a:extLst>
            </p:cNvPr>
            <p:cNvSpPr/>
            <p:nvPr/>
          </p:nvSpPr>
          <p:spPr>
            <a:xfrm>
              <a:off x="502920" y="1124712"/>
              <a:ext cx="2148840" cy="0"/>
            </a:xfrm>
            <a:prstGeom prst="line">
              <a:avLst/>
            </a:prstGeom>
            <a:noFill/>
            <a:ln w="38100">
              <a:solidFill>
                <a:srgbClr val="E20044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</p:grpSp>
      <p:grpSp>
        <p:nvGrpSpPr>
          <p:cNvPr id="24" name="Extrait du dictionnaire">
            <a:extLst>
              <a:ext uri="{FF2B5EF4-FFF2-40B4-BE49-F238E27FC236}">
                <a16:creationId xmlns:a16="http://schemas.microsoft.com/office/drawing/2014/main" id="{243617F0-2DC6-B2C9-D820-EE2041261787}"/>
              </a:ext>
            </a:extLst>
          </p:cNvPr>
          <p:cNvGrpSpPr/>
          <p:nvPr/>
        </p:nvGrpSpPr>
        <p:grpSpPr>
          <a:xfrm>
            <a:off x="174930" y="1447504"/>
            <a:ext cx="11331270" cy="2084118"/>
            <a:chOff x="174930" y="1447504"/>
            <a:chExt cx="11331270" cy="2084118"/>
          </a:xfrm>
        </p:grpSpPr>
        <p:sp>
          <p:nvSpPr>
            <p:cNvPr id="9" name="Shape 6"/>
            <p:cNvSpPr/>
            <p:nvPr/>
          </p:nvSpPr>
          <p:spPr>
            <a:xfrm>
              <a:off x="502920" y="1447504"/>
              <a:ext cx="11003280" cy="1875797"/>
            </a:xfrm>
            <a:prstGeom prst="roundRect">
              <a:avLst>
                <a:gd name="adj" fmla="val 2667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E20044"/>
                  </a:gs>
                  <a:gs pos="51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1" name="Text 7"/>
            <p:cNvSpPr/>
            <p:nvPr/>
          </p:nvSpPr>
          <p:spPr>
            <a:xfrm>
              <a:off x="174930" y="3339601"/>
              <a:ext cx="3467432" cy="1920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Extrait du dictionnaire : codes, signification, types, longueurs</a:t>
              </a:r>
              <a:endParaRPr lang="en-US" sz="750" dirty="0"/>
            </a:p>
          </p:txBody>
        </p:sp>
        <p:pic>
          <p:nvPicPr>
            <p:cNvPr id="22" name="Image 21">
              <a:extLst>
                <a:ext uri="{FF2B5EF4-FFF2-40B4-BE49-F238E27FC236}">
                  <a16:creationId xmlns:a16="http://schemas.microsoft.com/office/drawing/2014/main" id="{5DBCAD25-47BA-4D2D-19BC-E779D7C92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6136" y="1640081"/>
              <a:ext cx="10660625" cy="1484999"/>
            </a:xfrm>
            <a:prstGeom prst="rect">
              <a:avLst/>
            </a:prstGeom>
            <a:ln w="12700">
              <a:solidFill>
                <a:srgbClr val="7F1734"/>
              </a:solidFill>
            </a:ln>
          </p:spPr>
        </p:pic>
      </p:grpSp>
      <p:grpSp>
        <p:nvGrpSpPr>
          <p:cNvPr id="29" name="bloc Synthèse du dictionnaire">
            <a:extLst>
              <a:ext uri="{FF2B5EF4-FFF2-40B4-BE49-F238E27FC236}">
                <a16:creationId xmlns:a16="http://schemas.microsoft.com/office/drawing/2014/main" id="{BA740BA1-F7CF-1D19-A1E5-BE986D89DF49}"/>
              </a:ext>
            </a:extLst>
          </p:cNvPr>
          <p:cNvGrpSpPr/>
          <p:nvPr/>
        </p:nvGrpSpPr>
        <p:grpSpPr>
          <a:xfrm>
            <a:off x="530352" y="3737933"/>
            <a:ext cx="5387619" cy="2500266"/>
            <a:chOff x="6341431" y="3646092"/>
            <a:chExt cx="5387619" cy="2500266"/>
          </a:xfrm>
        </p:grpSpPr>
        <p:sp>
          <p:nvSpPr>
            <p:cNvPr id="30" name="Shape 8">
              <a:extLst>
                <a:ext uri="{FF2B5EF4-FFF2-40B4-BE49-F238E27FC236}">
                  <a16:creationId xmlns:a16="http://schemas.microsoft.com/office/drawing/2014/main" id="{53954745-EE9A-F120-FBCC-E82781DC1C33}"/>
                </a:ext>
              </a:extLst>
            </p:cNvPr>
            <p:cNvSpPr/>
            <p:nvPr/>
          </p:nvSpPr>
          <p:spPr>
            <a:xfrm>
              <a:off x="6341431" y="3646092"/>
              <a:ext cx="5387619" cy="2500266"/>
            </a:xfrm>
            <a:prstGeom prst="roundRect">
              <a:avLst>
                <a:gd name="adj" fmla="val 2667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002060"/>
                  </a:gs>
                  <a:gs pos="51000">
                    <a:srgbClr val="19567C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31" name="Text 9">
              <a:extLst>
                <a:ext uri="{FF2B5EF4-FFF2-40B4-BE49-F238E27FC236}">
                  <a16:creationId xmlns:a16="http://schemas.microsoft.com/office/drawing/2014/main" id="{A3AB1BA0-D6B3-9564-90B0-C50A14305A81}"/>
                </a:ext>
              </a:extLst>
            </p:cNvPr>
            <p:cNvSpPr/>
            <p:nvPr/>
          </p:nvSpPr>
          <p:spPr>
            <a:xfrm>
              <a:off x="7723076" y="3801781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002060"/>
                  </a:solidFill>
                </a:rPr>
                <a:t>Structure documentée</a:t>
              </a:r>
              <a:endParaRPr lang="en-US" sz="1700" dirty="0">
                <a:solidFill>
                  <a:srgbClr val="002060"/>
                </a:solidFill>
              </a:endParaRPr>
            </a:p>
          </p:txBody>
        </p:sp>
        <p:sp>
          <p:nvSpPr>
            <p:cNvPr id="32" name="Text 10">
              <a:extLst>
                <a:ext uri="{FF2B5EF4-FFF2-40B4-BE49-F238E27FC236}">
                  <a16:creationId xmlns:a16="http://schemas.microsoft.com/office/drawing/2014/main" id="{6745D22B-8669-1FFC-EE9E-AD66A6C9951F}"/>
                </a:ext>
              </a:extLst>
            </p:cNvPr>
            <p:cNvSpPr/>
            <p:nvPr/>
          </p:nvSpPr>
          <p:spPr>
            <a:xfrm>
              <a:off x="7723076" y="4018603"/>
              <a:ext cx="3840480" cy="1536455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285750" indent="-285750">
                <a:buClr>
                  <a:srgbClr val="0F5B7F"/>
                </a:buClr>
                <a:buFont typeface="Arial" panose="020B0604020202020204" pitchFamily="34" charset="0"/>
                <a:buChar char="•"/>
              </a:pPr>
              <a:r>
                <a:rPr lang="fr-FR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8 tables documentées</a:t>
              </a:r>
            </a:p>
            <a:p>
              <a:pPr marL="285750" indent="-285750">
                <a:buClr>
                  <a:srgbClr val="0F5B7F"/>
                </a:buClr>
                <a:buFont typeface="Arial" panose="020B0604020202020204" pitchFamily="34" charset="0"/>
                <a:buChar char="•"/>
              </a:pPr>
              <a:r>
                <a:rPr lang="fr-FR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Champs renommés sans espaces ni accents</a:t>
              </a:r>
            </a:p>
            <a:p>
              <a:pPr marL="285750" indent="-285750">
                <a:buClr>
                  <a:srgbClr val="0F5B7F"/>
                </a:buClr>
                <a:buFont typeface="Arial" panose="020B0604020202020204" pitchFamily="34" charset="0"/>
                <a:buChar char="•"/>
              </a:pPr>
              <a:r>
                <a:rPr lang="fr-FR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Types SQL définis</a:t>
              </a:r>
            </a:p>
            <a:p>
              <a:pPr marL="285750" indent="-285750">
                <a:buClr>
                  <a:srgbClr val="0F5B7F"/>
                </a:buClr>
                <a:buFont typeface="Arial" panose="020B0604020202020204" pitchFamily="34" charset="0"/>
                <a:buChar char="•"/>
              </a:pPr>
              <a:r>
                <a:rPr lang="fr-FR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Clés primaires et étrangères précisées</a:t>
              </a:r>
            </a:p>
            <a:p>
              <a:pPr marL="285750" indent="-285750">
                <a:buClr>
                  <a:srgbClr val="0F5B7F"/>
                </a:buClr>
                <a:buFont typeface="Arial" panose="020B0604020202020204" pitchFamily="34" charset="0"/>
                <a:buChar char="•"/>
              </a:pPr>
              <a:r>
                <a:rPr lang="fr-FR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Règles de calcul indiquées</a:t>
              </a:r>
              <a:endParaRPr lang="en-US" sz="1320" dirty="0"/>
            </a:p>
          </p:txBody>
        </p:sp>
        <p:grpSp>
          <p:nvGrpSpPr>
            <p:cNvPr id="33" name="Groupe 32">
              <a:extLst>
                <a:ext uri="{FF2B5EF4-FFF2-40B4-BE49-F238E27FC236}">
                  <a16:creationId xmlns:a16="http://schemas.microsoft.com/office/drawing/2014/main" id="{8DEAAD1F-D846-CEA3-F52D-91CF1A08B424}"/>
                </a:ext>
              </a:extLst>
            </p:cNvPr>
            <p:cNvGrpSpPr/>
            <p:nvPr/>
          </p:nvGrpSpPr>
          <p:grpSpPr>
            <a:xfrm>
              <a:off x="6620306" y="5543293"/>
              <a:ext cx="1170432" cy="362730"/>
              <a:chOff x="6620306" y="5567146"/>
              <a:chExt cx="1170432" cy="362730"/>
            </a:xfrm>
          </p:grpSpPr>
          <p:sp>
            <p:nvSpPr>
              <p:cNvPr id="40" name="Shape 11">
                <a:extLst>
                  <a:ext uri="{FF2B5EF4-FFF2-40B4-BE49-F238E27FC236}">
                    <a16:creationId xmlns:a16="http://schemas.microsoft.com/office/drawing/2014/main" id="{8404C985-40A6-EC9F-2EC0-D1B6ED3C82B1}"/>
                  </a:ext>
                </a:extLst>
              </p:cNvPr>
              <p:cNvSpPr/>
              <p:nvPr/>
            </p:nvSpPr>
            <p:spPr>
              <a:xfrm>
                <a:off x="6620306" y="5568404"/>
                <a:ext cx="1170432" cy="361472"/>
              </a:xfrm>
              <a:prstGeom prst="roundRect">
                <a:avLst>
                  <a:gd name="adj" fmla="val 15625"/>
                </a:avLst>
              </a:prstGeom>
              <a:solidFill>
                <a:srgbClr val="E20044"/>
              </a:solidFill>
              <a:ln w="12700">
                <a:solidFill>
                  <a:srgbClr val="E20044">
                    <a:alpha val="0"/>
                  </a:srgbClr>
                </a:solidFill>
                <a:prstDash val="solid"/>
              </a:ln>
            </p:spPr>
          </p:sp>
          <p:sp>
            <p:nvSpPr>
              <p:cNvPr id="41" name="Text 12">
                <a:extLst>
                  <a:ext uri="{FF2B5EF4-FFF2-40B4-BE49-F238E27FC236}">
                    <a16:creationId xmlns:a16="http://schemas.microsoft.com/office/drawing/2014/main" id="{A0D65106-D75A-2FCE-1AA0-3C35A16E7A4A}"/>
                  </a:ext>
                </a:extLst>
              </p:cNvPr>
              <p:cNvSpPr/>
              <p:nvPr/>
            </p:nvSpPr>
            <p:spPr>
              <a:xfrm>
                <a:off x="6952723" y="5567146"/>
                <a:ext cx="767401" cy="35149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8 tables</a:t>
                </a:r>
                <a:endParaRPr lang="en-U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34" name="Groupe 33">
              <a:extLst>
                <a:ext uri="{FF2B5EF4-FFF2-40B4-BE49-F238E27FC236}">
                  <a16:creationId xmlns:a16="http://schemas.microsoft.com/office/drawing/2014/main" id="{8C7CB505-9494-3FAF-850B-45CCFC1B9080}"/>
                </a:ext>
              </a:extLst>
            </p:cNvPr>
            <p:cNvGrpSpPr/>
            <p:nvPr/>
          </p:nvGrpSpPr>
          <p:grpSpPr>
            <a:xfrm>
              <a:off x="8086794" y="5531368"/>
              <a:ext cx="1170000" cy="361472"/>
              <a:chOff x="8086794" y="5555221"/>
              <a:chExt cx="1170000" cy="361472"/>
            </a:xfrm>
          </p:grpSpPr>
          <p:sp>
            <p:nvSpPr>
              <p:cNvPr id="38" name="Shape 13">
                <a:extLst>
                  <a:ext uri="{FF2B5EF4-FFF2-40B4-BE49-F238E27FC236}">
                    <a16:creationId xmlns:a16="http://schemas.microsoft.com/office/drawing/2014/main" id="{EAACD891-1B29-E6B8-9EC7-D0E51B98314B}"/>
                  </a:ext>
                </a:extLst>
              </p:cNvPr>
              <p:cNvSpPr/>
              <p:nvPr/>
            </p:nvSpPr>
            <p:spPr>
              <a:xfrm>
                <a:off x="8086794" y="5555221"/>
                <a:ext cx="1170000" cy="361472"/>
              </a:xfrm>
              <a:prstGeom prst="roundRect">
                <a:avLst>
                  <a:gd name="adj" fmla="val 15625"/>
                </a:avLst>
              </a:prstGeom>
              <a:solidFill>
                <a:srgbClr val="266829"/>
              </a:solidFill>
              <a:ln w="12700">
                <a:solidFill>
                  <a:srgbClr val="2E7D32">
                    <a:alpha val="0"/>
                  </a:srgbClr>
                </a:solidFill>
                <a:prstDash val="solid"/>
              </a:ln>
            </p:spPr>
          </p:sp>
          <p:sp>
            <p:nvSpPr>
              <p:cNvPr id="39" name="Text 14">
                <a:extLst>
                  <a:ext uri="{FF2B5EF4-FFF2-40B4-BE49-F238E27FC236}">
                    <a16:creationId xmlns:a16="http://schemas.microsoft.com/office/drawing/2014/main" id="{CB945070-62D1-06CB-9F6F-24FB84CC0C51}"/>
                  </a:ext>
                </a:extLst>
              </p:cNvPr>
              <p:cNvSpPr/>
              <p:nvPr/>
            </p:nvSpPr>
            <p:spPr>
              <a:xfrm>
                <a:off x="8432788" y="5585955"/>
                <a:ext cx="824005" cy="32489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PK / FK</a:t>
                </a:r>
                <a:endParaRPr lang="en-U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35" name="Groupe 34">
              <a:extLst>
                <a:ext uri="{FF2B5EF4-FFF2-40B4-BE49-F238E27FC236}">
                  <a16:creationId xmlns:a16="http://schemas.microsoft.com/office/drawing/2014/main" id="{5A93033C-8BC9-98AE-1042-F002F0567062}"/>
                </a:ext>
              </a:extLst>
            </p:cNvPr>
            <p:cNvGrpSpPr/>
            <p:nvPr/>
          </p:nvGrpSpPr>
          <p:grpSpPr>
            <a:xfrm>
              <a:off x="9548251" y="5544551"/>
              <a:ext cx="1185699" cy="360000"/>
              <a:chOff x="9548251" y="5568404"/>
              <a:chExt cx="1185699" cy="360000"/>
            </a:xfrm>
          </p:grpSpPr>
          <p:sp>
            <p:nvSpPr>
              <p:cNvPr id="36" name="Shape 15">
                <a:extLst>
                  <a:ext uri="{FF2B5EF4-FFF2-40B4-BE49-F238E27FC236}">
                    <a16:creationId xmlns:a16="http://schemas.microsoft.com/office/drawing/2014/main" id="{654F86DA-EA1E-E796-89E3-58742EA7C234}"/>
                  </a:ext>
                </a:extLst>
              </p:cNvPr>
              <p:cNvSpPr/>
              <p:nvPr/>
            </p:nvSpPr>
            <p:spPr>
              <a:xfrm>
                <a:off x="9548251" y="5568404"/>
                <a:ext cx="1170000" cy="360000"/>
              </a:xfrm>
              <a:prstGeom prst="roundRect">
                <a:avLst>
                  <a:gd name="adj" fmla="val 15625"/>
                </a:avLst>
              </a:prstGeom>
              <a:solidFill>
                <a:srgbClr val="0F5B7F"/>
              </a:solidFill>
              <a:ln w="12700">
                <a:solidFill>
                  <a:srgbClr val="0F5B7F">
                    <a:alpha val="0"/>
                  </a:srgbClr>
                </a:solidFill>
                <a:prstDash val="solid"/>
              </a:ln>
            </p:spPr>
          </p:sp>
          <p:sp>
            <p:nvSpPr>
              <p:cNvPr id="37" name="Text 16">
                <a:extLst>
                  <a:ext uri="{FF2B5EF4-FFF2-40B4-BE49-F238E27FC236}">
                    <a16:creationId xmlns:a16="http://schemas.microsoft.com/office/drawing/2014/main" id="{5DA245A2-D221-C127-5322-7E2368B0D0AF}"/>
                  </a:ext>
                </a:extLst>
              </p:cNvPr>
              <p:cNvSpPr/>
              <p:nvPr/>
            </p:nvSpPr>
            <p:spPr>
              <a:xfrm>
                <a:off x="9828694" y="5585955"/>
                <a:ext cx="905256" cy="34096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Calculs</a:t>
                </a:r>
                <a:endParaRPr lang="en-U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28" name="bloc Pourquoi c’est important ?">
            <a:extLst>
              <a:ext uri="{FF2B5EF4-FFF2-40B4-BE49-F238E27FC236}">
                <a16:creationId xmlns:a16="http://schemas.microsoft.com/office/drawing/2014/main" id="{06F063C2-2043-D103-B60A-DD881CD311EB}"/>
              </a:ext>
            </a:extLst>
          </p:cNvPr>
          <p:cNvGrpSpPr/>
          <p:nvPr/>
        </p:nvGrpSpPr>
        <p:grpSpPr>
          <a:xfrm>
            <a:off x="6262378" y="3737933"/>
            <a:ext cx="5243821" cy="2500266"/>
            <a:chOff x="6985819" y="3646092"/>
            <a:chExt cx="5243821" cy="2500266"/>
          </a:xfrm>
        </p:grpSpPr>
        <p:sp>
          <p:nvSpPr>
            <p:cNvPr id="12" name="Shape 8"/>
            <p:cNvSpPr/>
            <p:nvPr/>
          </p:nvSpPr>
          <p:spPr>
            <a:xfrm>
              <a:off x="6985819" y="3646092"/>
              <a:ext cx="5243821" cy="2500266"/>
            </a:xfrm>
            <a:prstGeom prst="roundRect">
              <a:avLst>
                <a:gd name="adj" fmla="val 2667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2E7D32"/>
                  </a:gs>
                  <a:gs pos="51000">
                    <a:srgbClr val="00B050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3" name="Text 9"/>
            <p:cNvSpPr/>
            <p:nvPr/>
          </p:nvSpPr>
          <p:spPr>
            <a:xfrm>
              <a:off x="8362461" y="3829482"/>
              <a:ext cx="329184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266829"/>
                  </a:solidFill>
                </a:rPr>
                <a:t>Pourquoi c’est important ?</a:t>
              </a:r>
              <a:endParaRPr lang="en-US" sz="1700" dirty="0">
                <a:solidFill>
                  <a:srgbClr val="266829"/>
                </a:solidFill>
              </a:endParaRPr>
            </a:p>
          </p:txBody>
        </p:sp>
        <p:sp>
          <p:nvSpPr>
            <p:cNvPr id="14" name="Text 10"/>
            <p:cNvSpPr/>
            <p:nvPr/>
          </p:nvSpPr>
          <p:spPr>
            <a:xfrm>
              <a:off x="8362461" y="4056173"/>
              <a:ext cx="3840480" cy="1600200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285750" indent="-285750">
                <a:buClr>
                  <a:srgbClr val="2E7D32"/>
                </a:buClr>
                <a:buFont typeface="Arial" panose="020B0604020202020204" pitchFamily="34" charset="0"/>
                <a:buChar char="•"/>
              </a:pPr>
              <a:r>
                <a:rPr lang="en-US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Normaliser les noms de champs.</a:t>
              </a:r>
              <a:endParaRPr lang="en-US" sz="1320" dirty="0"/>
            </a:p>
            <a:p>
              <a:pPr marL="285750" indent="-285750">
                <a:buClr>
                  <a:srgbClr val="2E7D32"/>
                </a:buClr>
                <a:buFont typeface="Arial" panose="020B0604020202020204" pitchFamily="34" charset="0"/>
                <a:buChar char="•"/>
              </a:pPr>
              <a:r>
                <a:rPr lang="en-US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Définir les types SQL et contraintes.</a:t>
              </a:r>
              <a:endParaRPr lang="en-US" sz="1320" dirty="0"/>
            </a:p>
            <a:p>
              <a:pPr marL="285750" indent="-285750">
                <a:buClr>
                  <a:srgbClr val="2E7D32"/>
                </a:buClr>
                <a:buFont typeface="Arial" panose="020B0604020202020204" pitchFamily="34" charset="0"/>
                <a:buChar char="•"/>
              </a:pPr>
              <a:r>
                <a:rPr lang="en-US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Faciliter les contrôles de cohérence.</a:t>
              </a:r>
              <a:endParaRPr lang="en-US" sz="1320" dirty="0"/>
            </a:p>
            <a:p>
              <a:pPr marL="285750" indent="-285750">
                <a:buClr>
                  <a:srgbClr val="2E7D32"/>
                </a:buClr>
                <a:buFont typeface="Arial" panose="020B0604020202020204" pitchFamily="34" charset="0"/>
                <a:buChar char="•"/>
              </a:pPr>
              <a:r>
                <a:rPr lang="en-US" sz="132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Rendre les requêtes compréhensibles et maintenables.</a:t>
              </a:r>
              <a:endParaRPr lang="en-US" sz="1320" dirty="0"/>
            </a:p>
          </p:txBody>
        </p:sp>
        <p:grpSp>
          <p:nvGrpSpPr>
            <p:cNvPr id="25" name="Groupe 24">
              <a:extLst>
                <a:ext uri="{FF2B5EF4-FFF2-40B4-BE49-F238E27FC236}">
                  <a16:creationId xmlns:a16="http://schemas.microsoft.com/office/drawing/2014/main" id="{1FE19172-28F9-D31E-0DC2-8AE13C3A0304}"/>
                </a:ext>
              </a:extLst>
            </p:cNvPr>
            <p:cNvGrpSpPr/>
            <p:nvPr/>
          </p:nvGrpSpPr>
          <p:grpSpPr>
            <a:xfrm>
              <a:off x="7260140" y="5620742"/>
              <a:ext cx="1260000" cy="360000"/>
              <a:chOff x="7260140" y="5644595"/>
              <a:chExt cx="1260000" cy="360000"/>
            </a:xfrm>
          </p:grpSpPr>
          <p:sp>
            <p:nvSpPr>
              <p:cNvPr id="15" name="Shape 11"/>
              <p:cNvSpPr/>
              <p:nvPr/>
            </p:nvSpPr>
            <p:spPr>
              <a:xfrm>
                <a:off x="7260140" y="5644595"/>
                <a:ext cx="1260000" cy="360000"/>
              </a:xfrm>
              <a:prstGeom prst="roundRect">
                <a:avLst>
                  <a:gd name="adj" fmla="val 15625"/>
                </a:avLst>
              </a:prstGeom>
              <a:solidFill>
                <a:srgbClr val="E20044"/>
              </a:solidFill>
              <a:ln w="12700">
                <a:solidFill>
                  <a:srgbClr val="E20044">
                    <a:alpha val="0"/>
                  </a:srgbClr>
                </a:solidFill>
                <a:prstDash val="solid"/>
              </a:ln>
            </p:spPr>
          </p:sp>
          <p:sp>
            <p:nvSpPr>
              <p:cNvPr id="16" name="Text 12"/>
              <p:cNvSpPr/>
              <p:nvPr/>
            </p:nvSpPr>
            <p:spPr>
              <a:xfrm>
                <a:off x="7463606" y="5648467"/>
                <a:ext cx="1056534" cy="3561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Traçabilité</a:t>
                </a:r>
                <a:endParaRPr lang="en-U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BC50D605-E489-7CE9-EEA5-E70C97889EB3}"/>
                </a:ext>
              </a:extLst>
            </p:cNvPr>
            <p:cNvGrpSpPr/>
            <p:nvPr/>
          </p:nvGrpSpPr>
          <p:grpSpPr>
            <a:xfrm>
              <a:off x="8828969" y="5620742"/>
              <a:ext cx="1069347" cy="360000"/>
              <a:chOff x="8828969" y="5644595"/>
              <a:chExt cx="1069347" cy="360000"/>
            </a:xfrm>
          </p:grpSpPr>
          <p:sp>
            <p:nvSpPr>
              <p:cNvPr id="17" name="Shape 13"/>
              <p:cNvSpPr/>
              <p:nvPr/>
            </p:nvSpPr>
            <p:spPr>
              <a:xfrm>
                <a:off x="8828969" y="5644595"/>
                <a:ext cx="1069347" cy="360000"/>
              </a:xfrm>
              <a:prstGeom prst="roundRect">
                <a:avLst>
                  <a:gd name="adj" fmla="val 15625"/>
                </a:avLst>
              </a:prstGeom>
              <a:solidFill>
                <a:srgbClr val="266829"/>
              </a:solidFill>
              <a:ln w="12700">
                <a:solidFill>
                  <a:srgbClr val="2E7D32">
                    <a:alpha val="0"/>
                  </a:srgbClr>
                </a:solidFill>
                <a:prstDash val="solid"/>
              </a:ln>
            </p:spPr>
          </p:sp>
          <p:sp>
            <p:nvSpPr>
              <p:cNvPr id="18" name="Text 14"/>
              <p:cNvSpPr/>
              <p:nvPr/>
            </p:nvSpPr>
            <p:spPr>
              <a:xfrm>
                <a:off x="9044968" y="5648467"/>
                <a:ext cx="853347" cy="34548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Qualité</a:t>
                </a:r>
                <a:endParaRPr lang="en-U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8F3959DD-6453-6547-4052-736E99082A8A}"/>
                </a:ext>
              </a:extLst>
            </p:cNvPr>
            <p:cNvGrpSpPr/>
            <p:nvPr/>
          </p:nvGrpSpPr>
          <p:grpSpPr>
            <a:xfrm>
              <a:off x="10172829" y="5610100"/>
              <a:ext cx="988709" cy="360000"/>
              <a:chOff x="10172829" y="5633953"/>
              <a:chExt cx="988709" cy="360000"/>
            </a:xfrm>
          </p:grpSpPr>
          <p:sp>
            <p:nvSpPr>
              <p:cNvPr id="19" name="Shape 15"/>
              <p:cNvSpPr/>
              <p:nvPr/>
            </p:nvSpPr>
            <p:spPr>
              <a:xfrm>
                <a:off x="10172829" y="5633953"/>
                <a:ext cx="988709" cy="360000"/>
              </a:xfrm>
              <a:prstGeom prst="roundRect">
                <a:avLst>
                  <a:gd name="adj" fmla="val 15625"/>
                </a:avLst>
              </a:prstGeom>
              <a:solidFill>
                <a:srgbClr val="0F5B7F"/>
              </a:solidFill>
              <a:ln w="12700">
                <a:solidFill>
                  <a:srgbClr val="0F5B7F">
                    <a:alpha val="0"/>
                  </a:srgbClr>
                </a:solidFill>
                <a:prstDash val="solid"/>
              </a:ln>
            </p:spPr>
          </p:sp>
          <p:sp>
            <p:nvSpPr>
              <p:cNvPr id="20" name="Text 16"/>
              <p:cNvSpPr/>
              <p:nvPr/>
            </p:nvSpPr>
            <p:spPr>
              <a:xfrm>
                <a:off x="10434810" y="5648467"/>
                <a:ext cx="665810" cy="34548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SQL</a:t>
                </a:r>
                <a:endParaRPr lang="en-U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21" name="footer">
            <a:extLst>
              <a:ext uri="{FF2B5EF4-FFF2-40B4-BE49-F238E27FC236}">
                <a16:creationId xmlns:a16="http://schemas.microsoft.com/office/drawing/2014/main" id="{8105F59C-D06F-516A-5B85-11C88E064BB4}"/>
              </a:ext>
            </a:extLst>
          </p:cNvPr>
          <p:cNvGrpSpPr/>
          <p:nvPr/>
        </p:nvGrpSpPr>
        <p:grpSpPr>
          <a:xfrm>
            <a:off x="502920" y="6446520"/>
            <a:ext cx="11155680" cy="228600"/>
            <a:chOff x="502920" y="6446520"/>
            <a:chExt cx="11155680" cy="228600"/>
          </a:xfrm>
        </p:grpSpPr>
        <p:sp>
          <p:nvSpPr>
            <p:cNvPr id="6" name="Shape 3"/>
            <p:cNvSpPr/>
            <p:nvPr/>
          </p:nvSpPr>
          <p:spPr>
            <a:xfrm>
              <a:off x="502920" y="6446520"/>
              <a:ext cx="11155680" cy="0"/>
            </a:xfrm>
            <a:prstGeom prst="line">
              <a:avLst/>
            </a:prstGeom>
            <a:noFill/>
            <a:ln w="7620">
              <a:solidFill>
                <a:srgbClr val="DCE4E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02920" y="6510528"/>
              <a:ext cx="4754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SportDataPulse · Business Intelligence Analyst</a:t>
              </a:r>
              <a:endParaRPr lang="en-US" sz="7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1201400" y="6510528"/>
              <a:ext cx="411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5</a:t>
              </a:r>
              <a:endParaRPr lang="en-US" sz="750" dirty="0"/>
            </a:p>
          </p:txBody>
        </p:sp>
      </p:grpSp>
      <p:pic>
        <p:nvPicPr>
          <p:cNvPr id="46" name="Image 45">
            <a:extLst>
              <a:ext uri="{FF2B5EF4-FFF2-40B4-BE49-F238E27FC236}">
                <a16:creationId xmlns:a16="http://schemas.microsoft.com/office/drawing/2014/main" id="{96EA5CB5-4FA7-90FF-BD18-776327531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644" y="5716455"/>
            <a:ext cx="216000" cy="216000"/>
          </a:xfrm>
          <a:prstGeom prst="rect">
            <a:avLst/>
          </a:prstGeom>
        </p:spPr>
      </p:pic>
      <p:pic>
        <p:nvPicPr>
          <p:cNvPr id="48" name="Image 47">
            <a:extLst>
              <a:ext uri="{FF2B5EF4-FFF2-40B4-BE49-F238E27FC236}">
                <a16:creationId xmlns:a16="http://schemas.microsoft.com/office/drawing/2014/main" id="{4E1988C0-BDA1-EFA3-255E-32691CD028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2052" y="5709475"/>
            <a:ext cx="216000" cy="216000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61A565FA-94D4-D76C-4C46-0892262457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8725" y="5701624"/>
            <a:ext cx="216000" cy="216000"/>
          </a:xfrm>
          <a:prstGeom prst="rect">
            <a:avLst/>
          </a:prstGeom>
        </p:spPr>
      </p:pic>
      <p:pic>
        <p:nvPicPr>
          <p:cNvPr id="52" name="Image 51">
            <a:extLst>
              <a:ext uri="{FF2B5EF4-FFF2-40B4-BE49-F238E27FC236}">
                <a16:creationId xmlns:a16="http://schemas.microsoft.com/office/drawing/2014/main" id="{9FD668C9-4AFB-E4EA-49B7-8748A272DC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2165" y="5792331"/>
            <a:ext cx="216000" cy="216000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7FD77654-2441-F423-0862-3934F47DEB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3526" y="5792331"/>
            <a:ext cx="216000" cy="216000"/>
          </a:xfrm>
          <a:prstGeom prst="rect">
            <a:avLst/>
          </a:prstGeom>
        </p:spPr>
      </p:pic>
      <p:pic>
        <p:nvPicPr>
          <p:cNvPr id="55" name="Image 54">
            <a:extLst>
              <a:ext uri="{FF2B5EF4-FFF2-40B4-BE49-F238E27FC236}">
                <a16:creationId xmlns:a16="http://schemas.microsoft.com/office/drawing/2014/main" id="{3307936E-16E8-44B3-4228-5DAA4BA3D6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2451" y="5768681"/>
            <a:ext cx="216000" cy="216000"/>
          </a:xfrm>
          <a:prstGeom prst="rect">
            <a:avLst/>
          </a:prstGeom>
        </p:spPr>
      </p:pic>
      <p:sp>
        <p:nvSpPr>
          <p:cNvPr id="56" name="Shape 42">
            <a:extLst>
              <a:ext uri="{FF2B5EF4-FFF2-40B4-BE49-F238E27FC236}">
                <a16:creationId xmlns:a16="http://schemas.microsoft.com/office/drawing/2014/main" id="{5BA3C757-2B6C-03B5-0B13-9D32FCE8C048}"/>
              </a:ext>
            </a:extLst>
          </p:cNvPr>
          <p:cNvSpPr/>
          <p:nvPr/>
        </p:nvSpPr>
        <p:spPr>
          <a:xfrm>
            <a:off x="807821" y="3921323"/>
            <a:ext cx="828000" cy="828000"/>
          </a:xfrm>
          <a:prstGeom prst="roundRect">
            <a:avLst>
              <a:gd name="adj" fmla="val 14706"/>
            </a:avLst>
          </a:prstGeom>
          <a:solidFill>
            <a:srgbClr val="0F5B7F">
              <a:alpha val="10000"/>
            </a:srgbClr>
          </a:solidFill>
          <a:ln w="12700">
            <a:solidFill>
              <a:srgbClr val="0F5B7F"/>
            </a:solidFill>
            <a:prstDash val="solid"/>
          </a:ln>
        </p:spPr>
      </p:sp>
      <p:sp>
        <p:nvSpPr>
          <p:cNvPr id="57" name="Shape 40">
            <a:extLst>
              <a:ext uri="{FF2B5EF4-FFF2-40B4-BE49-F238E27FC236}">
                <a16:creationId xmlns:a16="http://schemas.microsoft.com/office/drawing/2014/main" id="{C94F5876-8025-19E0-AF6E-58BF6EBD4C4D}"/>
              </a:ext>
            </a:extLst>
          </p:cNvPr>
          <p:cNvSpPr/>
          <p:nvPr/>
        </p:nvSpPr>
        <p:spPr>
          <a:xfrm>
            <a:off x="6536699" y="3920882"/>
            <a:ext cx="828000" cy="828000"/>
          </a:xfrm>
          <a:prstGeom prst="roundRect">
            <a:avLst>
              <a:gd name="adj" fmla="val 14706"/>
            </a:avLst>
          </a:prstGeom>
          <a:solidFill>
            <a:srgbClr val="2E7D32">
              <a:alpha val="10000"/>
            </a:srgbClr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59" name="Image 58" descr="Une image contenant Graphique, Caractère coloré, vert&#10;&#10;Le contenu généré par l’IA peut être incorrect.">
            <a:extLst>
              <a:ext uri="{FF2B5EF4-FFF2-40B4-BE49-F238E27FC236}">
                <a16:creationId xmlns:a16="http://schemas.microsoft.com/office/drawing/2014/main" id="{0E1EA4DF-0943-D826-C36D-0BAFFA6BE1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54137" y="4030039"/>
            <a:ext cx="609685" cy="609685"/>
          </a:xfrm>
          <a:prstGeom prst="rect">
            <a:avLst/>
          </a:prstGeom>
        </p:spPr>
      </p:pic>
      <p:pic>
        <p:nvPicPr>
          <p:cNvPr id="61" name="Image 60" descr="Une image contenant capture d’écran, Rectangle, carré, ligne&#10;&#10;Le contenu généré par l’IA peut être incorrect.">
            <a:extLst>
              <a:ext uri="{FF2B5EF4-FFF2-40B4-BE49-F238E27FC236}">
                <a16:creationId xmlns:a16="http://schemas.microsoft.com/office/drawing/2014/main" id="{67F47F0D-4712-48A3-AFCF-0C5F79BFC84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9205" y="4035634"/>
            <a:ext cx="609685" cy="609685"/>
          </a:xfrm>
          <a:prstGeom prst="rect">
            <a:avLst/>
          </a:prstGeom>
        </p:spPr>
      </p:pic>
      <p:pic>
        <p:nvPicPr>
          <p:cNvPr id="62" name="Logo image" descr="/mnt/data/assets_spdp/logo_icon.png">
            <a:extLst>
              <a:ext uri="{FF2B5EF4-FFF2-40B4-BE49-F238E27FC236}">
                <a16:creationId xmlns:a16="http://schemas.microsoft.com/office/drawing/2014/main" id="{97EF2999-956D-33AA-A22F-29310E19C5A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63" name="Shape 2">
            <a:extLst>
              <a:ext uri="{FF2B5EF4-FFF2-40B4-BE49-F238E27FC236}">
                <a16:creationId xmlns:a16="http://schemas.microsoft.com/office/drawing/2014/main" id="{FCE21236-3166-2ED4-0E8A-77E7E8C21766}"/>
              </a:ext>
            </a:extLst>
          </p:cNvPr>
          <p:cNvSpPr/>
          <p:nvPr/>
        </p:nvSpPr>
        <p:spPr>
          <a:xfrm>
            <a:off x="1909045" y="4228348"/>
            <a:ext cx="2257602" cy="2169"/>
          </a:xfrm>
          <a:prstGeom prst="line">
            <a:avLst/>
          </a:prstGeom>
          <a:noFill/>
          <a:ln w="38100">
            <a:solidFill>
              <a:schemeClr val="accent3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4" name="Shape 2">
            <a:extLst>
              <a:ext uri="{FF2B5EF4-FFF2-40B4-BE49-F238E27FC236}">
                <a16:creationId xmlns:a16="http://schemas.microsoft.com/office/drawing/2014/main" id="{2288C5BB-D7D9-C4D5-DC0C-D0875FE289C4}"/>
              </a:ext>
            </a:extLst>
          </p:cNvPr>
          <p:cNvSpPr/>
          <p:nvPr/>
        </p:nvSpPr>
        <p:spPr>
          <a:xfrm>
            <a:off x="7639019" y="4259486"/>
            <a:ext cx="2561423" cy="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3DC9014-38BF-4FB9-63D9-86C172D7BD6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Dictionnaire de données mis à jour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Header">
            <a:extLst>
              <a:ext uri="{FF2B5EF4-FFF2-40B4-BE49-F238E27FC236}">
                <a16:creationId xmlns:a16="http://schemas.microsoft.com/office/drawing/2014/main" id="{DD9E1217-39B8-C4E8-F032-29F64CC4335A}"/>
              </a:ext>
            </a:extLst>
          </p:cNvPr>
          <p:cNvGrpSpPr/>
          <p:nvPr/>
        </p:nvGrpSpPr>
        <p:grpSpPr>
          <a:xfrm>
            <a:off x="502920" y="329184"/>
            <a:ext cx="9784080" cy="795528"/>
            <a:chOff x="502920" y="329184"/>
            <a:chExt cx="9784080" cy="795528"/>
          </a:xfrm>
        </p:grpSpPr>
        <p:sp>
          <p:nvSpPr>
            <p:cNvPr id="2" name="Text 0"/>
            <p:cNvSpPr/>
            <p:nvPr/>
          </p:nvSpPr>
          <p:spPr>
            <a:xfrm>
              <a:off x="502920" y="329184"/>
              <a:ext cx="9784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17252A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Schéma relationnel normalisé</a:t>
              </a:r>
              <a:endParaRPr lang="en-US" sz="25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530352" y="768096"/>
              <a:ext cx="7132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607D8B"/>
                  </a:solidFill>
                </a:rPr>
                <a:t>Un modèle normalisé pour croiser les indicateurs sans dupliquer l’information</a:t>
              </a:r>
            </a:p>
          </p:txBody>
        </p:sp>
        <p:sp>
          <p:nvSpPr>
            <p:cNvPr id="23" name="Shape 2">
              <a:extLst>
                <a:ext uri="{FF2B5EF4-FFF2-40B4-BE49-F238E27FC236}">
                  <a16:creationId xmlns:a16="http://schemas.microsoft.com/office/drawing/2014/main" id="{7C7E8309-4DC1-A6F4-252A-B273232319A7}"/>
                </a:ext>
              </a:extLst>
            </p:cNvPr>
            <p:cNvSpPr/>
            <p:nvPr/>
          </p:nvSpPr>
          <p:spPr>
            <a:xfrm>
              <a:off x="502920" y="1124712"/>
              <a:ext cx="2148840" cy="0"/>
            </a:xfrm>
            <a:prstGeom prst="line">
              <a:avLst/>
            </a:prstGeom>
            <a:noFill/>
            <a:ln w="38100">
              <a:solidFill>
                <a:srgbClr val="E20044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</p:grpSp>
      <p:grpSp>
        <p:nvGrpSpPr>
          <p:cNvPr id="19" name="bloc choix de modélisation">
            <a:extLst>
              <a:ext uri="{FF2B5EF4-FFF2-40B4-BE49-F238E27FC236}">
                <a16:creationId xmlns:a16="http://schemas.microsoft.com/office/drawing/2014/main" id="{D48BE4C0-9DEC-6085-E6D6-7B90BC023707}"/>
              </a:ext>
            </a:extLst>
          </p:cNvPr>
          <p:cNvGrpSpPr/>
          <p:nvPr/>
        </p:nvGrpSpPr>
        <p:grpSpPr>
          <a:xfrm>
            <a:off x="7975076" y="1536193"/>
            <a:ext cx="3539833" cy="4251960"/>
            <a:chOff x="7975076" y="1536193"/>
            <a:chExt cx="3539833" cy="4251960"/>
          </a:xfrm>
        </p:grpSpPr>
        <p:sp>
          <p:nvSpPr>
            <p:cNvPr id="12" name="Shape 8"/>
            <p:cNvSpPr/>
            <p:nvPr/>
          </p:nvSpPr>
          <p:spPr>
            <a:xfrm>
              <a:off x="7975076" y="1536193"/>
              <a:ext cx="3539833" cy="4251960"/>
            </a:xfrm>
            <a:prstGeom prst="roundRect">
              <a:avLst>
                <a:gd name="adj" fmla="val 2254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002060"/>
                  </a:gs>
                  <a:gs pos="51000">
                    <a:srgbClr val="0070C0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8982216" y="1763453"/>
              <a:ext cx="2337569" cy="7004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02060"/>
                  </a:solidFill>
                </a:rPr>
                <a:t>Choix de modélisation</a:t>
              </a:r>
              <a:endParaRPr 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14" name="Text 10"/>
            <p:cNvSpPr/>
            <p:nvPr/>
          </p:nvSpPr>
          <p:spPr>
            <a:xfrm>
              <a:off x="8299324" y="2663733"/>
              <a:ext cx="3069402" cy="1809426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 marL="285750" indent="-285750">
                <a:lnSpc>
                  <a:spcPct val="150000"/>
                </a:lnSpc>
                <a:buClr>
                  <a:srgbClr val="002060"/>
                </a:buClr>
                <a:buSzPct val="120000"/>
                <a:buFont typeface="Arial" panose="020B0604020202020204" pitchFamily="34" charset="0"/>
                <a:buChar char="•"/>
              </a:pPr>
              <a:r>
                <a:rPr lang="en-US" sz="128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Table centrale : joueur.</a:t>
              </a:r>
              <a:endParaRPr lang="en-US" sz="1280" dirty="0"/>
            </a:p>
            <a:p>
              <a:pPr marL="285750" indent="-285750">
                <a:lnSpc>
                  <a:spcPct val="150000"/>
                </a:lnSpc>
                <a:buClr>
                  <a:srgbClr val="002060"/>
                </a:buClr>
                <a:buSzPct val="120000"/>
                <a:buFont typeface="Arial" panose="020B0604020202020204" pitchFamily="34" charset="0"/>
                <a:buChar char="•"/>
              </a:pPr>
              <a:r>
                <a:rPr lang="en-US" sz="128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Référentiels : équipe, position.</a:t>
              </a:r>
              <a:endParaRPr lang="en-US" sz="1280" dirty="0"/>
            </a:p>
            <a:p>
              <a:pPr marL="285750" indent="-285750">
                <a:spcBef>
                  <a:spcPts val="600"/>
                </a:spcBef>
                <a:buClr>
                  <a:srgbClr val="002060"/>
                </a:buClr>
                <a:buSzPct val="120000"/>
                <a:buFont typeface="Arial" panose="020B0604020202020204" pitchFamily="34" charset="0"/>
                <a:buChar char="•"/>
              </a:pPr>
              <a:r>
                <a:rPr lang="en-US" sz="128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Statistiques séparées : temps de jeu, performance, xG, progression.</a:t>
              </a:r>
              <a:endParaRPr lang="en-US" sz="1280" dirty="0"/>
            </a:p>
            <a:p>
              <a:pPr marL="285750" indent="-285750">
                <a:spcBef>
                  <a:spcPts val="600"/>
                </a:spcBef>
                <a:buClr>
                  <a:srgbClr val="002060"/>
                </a:buClr>
                <a:buSzPct val="120000"/>
                <a:buFont typeface="Arial" panose="020B0604020202020204" pitchFamily="34" charset="0"/>
                <a:buChar char="•"/>
              </a:pPr>
              <a:r>
                <a:rPr lang="en-US" sz="128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Salaire conservé en source complémentaire.</a:t>
              </a:r>
              <a:endParaRPr lang="en-US" sz="1280" dirty="0"/>
            </a:p>
          </p:txBody>
        </p:sp>
        <p:sp>
          <p:nvSpPr>
            <p:cNvPr id="15" name="Shape 11"/>
            <p:cNvSpPr/>
            <p:nvPr/>
          </p:nvSpPr>
          <p:spPr>
            <a:xfrm>
              <a:off x="8543110" y="4537166"/>
              <a:ext cx="2658290" cy="0"/>
            </a:xfrm>
            <a:prstGeom prst="line">
              <a:avLst/>
            </a:prstGeom>
            <a:noFill/>
            <a:ln w="12700">
              <a:solidFill>
                <a:srgbClr val="DCE4EA"/>
              </a:solidFill>
              <a:prstDash val="solid"/>
            </a:ln>
          </p:spPr>
        </p:sp>
        <p:sp>
          <p:nvSpPr>
            <p:cNvPr id="16" name="Text 12"/>
            <p:cNvSpPr/>
            <p:nvPr/>
          </p:nvSpPr>
          <p:spPr>
            <a:xfrm>
              <a:off x="8787091" y="4717355"/>
              <a:ext cx="2581633" cy="83000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fr-FR" sz="1180" b="1" dirty="0">
                  <a:solidFill>
                    <a:srgbClr val="266829"/>
                  </a:solidFill>
                </a:rPr>
                <a:t>Objectif </a:t>
              </a:r>
              <a:r>
                <a:rPr lang="fr-FR" sz="1180" dirty="0">
                  <a:solidFill>
                    <a:srgbClr val="266829"/>
                  </a:solidFill>
                </a:rPr>
                <a:t>: éviter la duplication de l’information, sécuriser les jointures et faciliter les analyses SQL.</a:t>
              </a:r>
              <a:endParaRPr lang="en-US" sz="1180" dirty="0">
                <a:solidFill>
                  <a:srgbClr val="266829"/>
                </a:solidFill>
              </a:endParaRPr>
            </a:p>
          </p:txBody>
        </p:sp>
      </p:grpSp>
      <p:grpSp>
        <p:nvGrpSpPr>
          <p:cNvPr id="18" name="bloc diagramme">
            <a:extLst>
              <a:ext uri="{FF2B5EF4-FFF2-40B4-BE49-F238E27FC236}">
                <a16:creationId xmlns:a16="http://schemas.microsoft.com/office/drawing/2014/main" id="{9BAF1946-CAC1-A351-0F94-12B1710A18D7}"/>
              </a:ext>
            </a:extLst>
          </p:cNvPr>
          <p:cNvGrpSpPr/>
          <p:nvPr/>
        </p:nvGrpSpPr>
        <p:grpSpPr>
          <a:xfrm>
            <a:off x="502921" y="1536193"/>
            <a:ext cx="7159752" cy="4453128"/>
            <a:chOff x="633549" y="1536193"/>
            <a:chExt cx="7315200" cy="4453128"/>
          </a:xfrm>
        </p:grpSpPr>
        <p:sp>
          <p:nvSpPr>
            <p:cNvPr id="9" name="Shape 6"/>
            <p:cNvSpPr/>
            <p:nvPr/>
          </p:nvSpPr>
          <p:spPr>
            <a:xfrm>
              <a:off x="633549" y="1536193"/>
              <a:ext cx="7315200" cy="4251960"/>
            </a:xfrm>
            <a:prstGeom prst="roundRect">
              <a:avLst>
                <a:gd name="adj" fmla="val 1720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002060"/>
                  </a:gs>
                  <a:gs pos="51000">
                    <a:srgbClr val="0070C0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1" name="Text 7"/>
            <p:cNvSpPr/>
            <p:nvPr/>
          </p:nvSpPr>
          <p:spPr>
            <a:xfrm>
              <a:off x="633549" y="5824729"/>
              <a:ext cx="731520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Schéma relationnel : joueur au centre, dimensions et tables statistiques</a:t>
              </a:r>
              <a:endParaRPr lang="en-US" sz="750" dirty="0"/>
            </a:p>
          </p:txBody>
        </p:sp>
        <p:pic>
          <p:nvPicPr>
            <p:cNvPr id="22" name="Image 21" descr="Une image contenant le diagramme du schéma relationnel">
              <a:extLst>
                <a:ext uri="{FF2B5EF4-FFF2-40B4-BE49-F238E27FC236}">
                  <a16:creationId xmlns:a16="http://schemas.microsoft.com/office/drawing/2014/main" id="{8A762728-7E59-CB6F-50C8-58D7EFCB6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20" r="3423"/>
            <a:stretch/>
          </p:blipFill>
          <p:spPr>
            <a:xfrm>
              <a:off x="664029" y="1581912"/>
              <a:ext cx="7194885" cy="4151376"/>
            </a:xfrm>
            <a:prstGeom prst="rect">
              <a:avLst/>
            </a:prstGeom>
            <a:ln w="22225">
              <a:noFill/>
            </a:ln>
            <a:effectLst/>
          </p:spPr>
        </p:pic>
      </p:grpSp>
      <p:grpSp>
        <p:nvGrpSpPr>
          <p:cNvPr id="17" name="Footer">
            <a:extLst>
              <a:ext uri="{FF2B5EF4-FFF2-40B4-BE49-F238E27FC236}">
                <a16:creationId xmlns:a16="http://schemas.microsoft.com/office/drawing/2014/main" id="{EC8F13C4-79C3-4D98-6713-DB6B5AC2CDE2}"/>
              </a:ext>
            </a:extLst>
          </p:cNvPr>
          <p:cNvGrpSpPr/>
          <p:nvPr/>
        </p:nvGrpSpPr>
        <p:grpSpPr>
          <a:xfrm>
            <a:off x="502920" y="6446520"/>
            <a:ext cx="11155680" cy="228600"/>
            <a:chOff x="502920" y="6446520"/>
            <a:chExt cx="11155680" cy="228600"/>
          </a:xfrm>
        </p:grpSpPr>
        <p:sp>
          <p:nvSpPr>
            <p:cNvPr id="6" name="Shape 3"/>
            <p:cNvSpPr/>
            <p:nvPr/>
          </p:nvSpPr>
          <p:spPr>
            <a:xfrm>
              <a:off x="502920" y="6446520"/>
              <a:ext cx="11155680" cy="0"/>
            </a:xfrm>
            <a:prstGeom prst="line">
              <a:avLst/>
            </a:prstGeom>
            <a:noFill/>
            <a:ln w="7620">
              <a:solidFill>
                <a:srgbClr val="DCE4E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02920" y="6510528"/>
              <a:ext cx="4754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SportDataPulse · Business Intelligence Analyst</a:t>
              </a:r>
              <a:endParaRPr lang="en-US" sz="7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1201400" y="6510528"/>
              <a:ext cx="411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6</a:t>
              </a:r>
              <a:endParaRPr lang="en-US" sz="750" dirty="0"/>
            </a:p>
          </p:txBody>
        </p:sp>
      </p:grpSp>
      <p:sp>
        <p:nvSpPr>
          <p:cNvPr id="20" name="Shape 42">
            <a:extLst>
              <a:ext uri="{FF2B5EF4-FFF2-40B4-BE49-F238E27FC236}">
                <a16:creationId xmlns:a16="http://schemas.microsoft.com/office/drawing/2014/main" id="{5EA356C1-7BA5-D994-DC5A-12B12AFF9DA7}"/>
              </a:ext>
            </a:extLst>
          </p:cNvPr>
          <p:cNvSpPr/>
          <p:nvPr/>
        </p:nvSpPr>
        <p:spPr>
          <a:xfrm>
            <a:off x="8171464" y="1768631"/>
            <a:ext cx="615628" cy="615760"/>
          </a:xfrm>
          <a:prstGeom prst="roundRect">
            <a:avLst/>
          </a:prstGeom>
          <a:solidFill>
            <a:srgbClr val="0F5B7F">
              <a:alpha val="10000"/>
            </a:srgbClr>
          </a:solidFill>
          <a:ln w="12700">
            <a:solidFill>
              <a:srgbClr val="0F5B7F"/>
            </a:solidFill>
            <a:prstDash val="solid"/>
          </a:ln>
        </p:spPr>
      </p:sp>
      <p:pic>
        <p:nvPicPr>
          <p:cNvPr id="24" name="Image 23" descr="Une image contenant capture d’écran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BAE95CFA-6470-8340-6EF1-C5ED561751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324" y="1884413"/>
            <a:ext cx="391850" cy="391850"/>
          </a:xfrm>
          <a:prstGeom prst="rect">
            <a:avLst/>
          </a:prstGeom>
        </p:spPr>
      </p:pic>
      <p:pic>
        <p:nvPicPr>
          <p:cNvPr id="27" name="Image 26" descr="Une image contenant Graphique, cercle&#10;&#10;Le contenu généré par l’IA peut être incorrect.">
            <a:extLst>
              <a:ext uri="{FF2B5EF4-FFF2-40B4-BE49-F238E27FC236}">
                <a16:creationId xmlns:a16="http://schemas.microsoft.com/office/drawing/2014/main" id="{163E42F0-3DF3-C058-DDBA-C59A82A9D4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1464" y="4898869"/>
            <a:ext cx="461163" cy="461163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28" name="Logo image" descr="/mnt/data/assets_spdp/logo_icon.png">
            <a:extLst>
              <a:ext uri="{FF2B5EF4-FFF2-40B4-BE49-F238E27FC236}">
                <a16:creationId xmlns:a16="http://schemas.microsoft.com/office/drawing/2014/main" id="{3AF99132-7BFF-46DE-1113-B8EA660C29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29" name="Shape 2">
            <a:extLst>
              <a:ext uri="{FF2B5EF4-FFF2-40B4-BE49-F238E27FC236}">
                <a16:creationId xmlns:a16="http://schemas.microsoft.com/office/drawing/2014/main" id="{2D0BDF47-782E-E96D-0FAD-301295BC3F1E}"/>
              </a:ext>
            </a:extLst>
          </p:cNvPr>
          <p:cNvSpPr/>
          <p:nvPr/>
        </p:nvSpPr>
        <p:spPr>
          <a:xfrm>
            <a:off x="9002596" y="2360537"/>
            <a:ext cx="2023369" cy="0"/>
          </a:xfrm>
          <a:prstGeom prst="line">
            <a:avLst/>
          </a:prstGeom>
          <a:noFill/>
          <a:ln w="38100">
            <a:solidFill>
              <a:schemeClr val="accent3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6E062DF-0E9E-C551-3939-9CB82586DA3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Schéma relationnel </a:t>
            </a:r>
            <a:r>
              <a:rPr lang="en-US" b="1" dirty="0" err="1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normalisé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6">
            <a:extLst>
              <a:ext uri="{FF2B5EF4-FFF2-40B4-BE49-F238E27FC236}">
                <a16:creationId xmlns:a16="http://schemas.microsoft.com/office/drawing/2014/main" id="{6EAC62E7-2114-338D-7764-54A7BF335BB4}"/>
              </a:ext>
            </a:extLst>
          </p:cNvPr>
          <p:cNvSpPr/>
          <p:nvPr/>
        </p:nvSpPr>
        <p:spPr>
          <a:xfrm>
            <a:off x="7283399" y="1543191"/>
            <a:ext cx="4177081" cy="4512465"/>
          </a:xfrm>
          <a:prstGeom prst="roundRect">
            <a:avLst>
              <a:gd name="adj" fmla="val 1684"/>
            </a:avLst>
          </a:prstGeom>
          <a:solidFill>
            <a:schemeClr val="bg1"/>
          </a:solidFill>
          <a:ln w="22225">
            <a:gradFill flip="none" rotWithShape="1">
              <a:gsLst>
                <a:gs pos="0">
                  <a:srgbClr val="E20044"/>
                </a:gs>
                <a:gs pos="51000">
                  <a:schemeClr val="accent1">
                    <a:lumMod val="45000"/>
                    <a:lumOff val="55000"/>
                  </a:schemeClr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grpSp>
        <p:nvGrpSpPr>
          <p:cNvPr id="35" name="Header">
            <a:extLst>
              <a:ext uri="{FF2B5EF4-FFF2-40B4-BE49-F238E27FC236}">
                <a16:creationId xmlns:a16="http://schemas.microsoft.com/office/drawing/2014/main" id="{77B506A6-FF8C-70F7-4BA1-16727E06911B}"/>
              </a:ext>
            </a:extLst>
          </p:cNvPr>
          <p:cNvGrpSpPr/>
          <p:nvPr/>
        </p:nvGrpSpPr>
        <p:grpSpPr>
          <a:xfrm>
            <a:off x="502920" y="329184"/>
            <a:ext cx="9784080" cy="795528"/>
            <a:chOff x="502920" y="329184"/>
            <a:chExt cx="9784080" cy="795528"/>
          </a:xfrm>
        </p:grpSpPr>
        <p:sp>
          <p:nvSpPr>
            <p:cNvPr id="2" name="Text 0"/>
            <p:cNvSpPr/>
            <p:nvPr/>
          </p:nvSpPr>
          <p:spPr>
            <a:xfrm>
              <a:off x="502920" y="329184"/>
              <a:ext cx="9784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17252A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Base PostgreSQL : tables chargées et vue consolidée</a:t>
              </a:r>
              <a:endParaRPr lang="en-US" sz="25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530352" y="768096"/>
              <a:ext cx="7132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607D8B"/>
                  </a:solidFill>
                </a:rPr>
                <a:t>Contrôler la base sans modifier les données sources</a:t>
              </a:r>
              <a:endParaRPr lang="en-US" sz="1100" dirty="0"/>
            </a:p>
          </p:txBody>
        </p:sp>
        <p:sp>
          <p:nvSpPr>
            <p:cNvPr id="29" name="Shape 2">
              <a:extLst>
                <a:ext uri="{FF2B5EF4-FFF2-40B4-BE49-F238E27FC236}">
                  <a16:creationId xmlns:a16="http://schemas.microsoft.com/office/drawing/2014/main" id="{B820D202-FA1E-8C15-051B-80E526F9ED6B}"/>
                </a:ext>
              </a:extLst>
            </p:cNvPr>
            <p:cNvSpPr/>
            <p:nvPr/>
          </p:nvSpPr>
          <p:spPr>
            <a:xfrm>
              <a:off x="502920" y="1124712"/>
              <a:ext cx="2148840" cy="0"/>
            </a:xfrm>
            <a:prstGeom prst="line">
              <a:avLst/>
            </a:prstGeom>
            <a:noFill/>
            <a:ln w="38100">
              <a:solidFill>
                <a:srgbClr val="E20044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F88EDED7-DE7D-0206-E3DC-56E16F58FBBE}"/>
              </a:ext>
            </a:extLst>
          </p:cNvPr>
          <p:cNvGrpSpPr/>
          <p:nvPr/>
        </p:nvGrpSpPr>
        <p:grpSpPr>
          <a:xfrm>
            <a:off x="7641454" y="2393752"/>
            <a:ext cx="3453470" cy="2802708"/>
            <a:chOff x="7756844" y="2762661"/>
            <a:chExt cx="3246120" cy="2239362"/>
          </a:xfrm>
        </p:grpSpPr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5AB6E8C6-87BD-5930-9FB6-69DA44E6F39A}"/>
                </a:ext>
              </a:extLst>
            </p:cNvPr>
            <p:cNvGrpSpPr/>
            <p:nvPr/>
          </p:nvGrpSpPr>
          <p:grpSpPr>
            <a:xfrm>
              <a:off x="7756844" y="2762661"/>
              <a:ext cx="1559322" cy="1055865"/>
              <a:chOff x="7756844" y="2762661"/>
              <a:chExt cx="1559322" cy="1055865"/>
            </a:xfrm>
          </p:grpSpPr>
          <p:sp>
            <p:nvSpPr>
              <p:cNvPr id="15" name="Shape 12"/>
              <p:cNvSpPr/>
              <p:nvPr/>
            </p:nvSpPr>
            <p:spPr>
              <a:xfrm>
                <a:off x="7756844" y="2762661"/>
                <a:ext cx="1508760" cy="1021376"/>
              </a:xfrm>
              <a:prstGeom prst="roundRect">
                <a:avLst>
                  <a:gd name="adj" fmla="val 9756"/>
                </a:avLst>
              </a:prstGeom>
              <a:solidFill>
                <a:srgbClr val="FFFFFF"/>
              </a:solidFill>
              <a:ln w="15875">
                <a:gradFill>
                  <a:gsLst>
                    <a:gs pos="0">
                      <a:srgbClr val="E20044"/>
                    </a:gs>
                    <a:gs pos="51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sp>
          <p:sp>
            <p:nvSpPr>
              <p:cNvPr id="16" name="Text 13"/>
              <p:cNvSpPr/>
              <p:nvPr/>
            </p:nvSpPr>
            <p:spPr>
              <a:xfrm>
                <a:off x="7756844" y="3239777"/>
                <a:ext cx="1508760" cy="34447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E20044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8</a:t>
                </a:r>
                <a:endParaRPr lang="en-US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17" name="Text 14"/>
              <p:cNvSpPr/>
              <p:nvPr/>
            </p:nvSpPr>
            <p:spPr>
              <a:xfrm>
                <a:off x="7756844" y="3441632"/>
                <a:ext cx="1559322" cy="37689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607D8B"/>
                    </a:solidFill>
                  </a:rPr>
                  <a:t>tables métier</a:t>
                </a:r>
                <a:endParaRPr lang="en-US" sz="750" dirty="0"/>
              </a:p>
            </p:txBody>
          </p:sp>
        </p:grpSp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F402309F-BE61-0FCC-1E69-D6C7EF8C41D8}"/>
                </a:ext>
              </a:extLst>
            </p:cNvPr>
            <p:cNvGrpSpPr/>
            <p:nvPr/>
          </p:nvGrpSpPr>
          <p:grpSpPr>
            <a:xfrm>
              <a:off x="9494204" y="2762661"/>
              <a:ext cx="1508760" cy="1021377"/>
              <a:chOff x="9494204" y="2762661"/>
              <a:chExt cx="1508760" cy="1021377"/>
            </a:xfrm>
          </p:grpSpPr>
          <p:sp>
            <p:nvSpPr>
              <p:cNvPr id="18" name="Shape 15"/>
              <p:cNvSpPr/>
              <p:nvPr/>
            </p:nvSpPr>
            <p:spPr>
              <a:xfrm>
                <a:off x="9494204" y="2762661"/>
                <a:ext cx="1508760" cy="1021377"/>
              </a:xfrm>
              <a:prstGeom prst="roundRect">
                <a:avLst>
                  <a:gd name="adj" fmla="val 9756"/>
                </a:avLst>
              </a:prstGeom>
              <a:solidFill>
                <a:srgbClr val="FFFFFF"/>
              </a:solidFill>
              <a:ln w="15875">
                <a:gradFill>
                  <a:gsLst>
                    <a:gs pos="0">
                      <a:srgbClr val="266829"/>
                    </a:gs>
                    <a:gs pos="51000">
                      <a:srgbClr val="00B050"/>
                    </a:gs>
                    <a:gs pos="100000">
                      <a:schemeClr val="accent3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endParaRPr lang="fr-FR" dirty="0"/>
              </a:p>
            </p:txBody>
          </p:sp>
          <p:sp>
            <p:nvSpPr>
              <p:cNvPr id="19" name="Text 16"/>
              <p:cNvSpPr/>
              <p:nvPr/>
            </p:nvSpPr>
            <p:spPr>
              <a:xfrm>
                <a:off x="9494204" y="3279452"/>
                <a:ext cx="1489882" cy="29875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2E7D3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</a:t>
                </a:r>
                <a:endParaRPr lang="en-US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0" name="Text 17"/>
              <p:cNvSpPr/>
              <p:nvPr/>
            </p:nvSpPr>
            <p:spPr>
              <a:xfrm>
                <a:off x="9494205" y="3479184"/>
                <a:ext cx="1502992" cy="29950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607D8B"/>
                    </a:solidFill>
                  </a:rPr>
                  <a:t>vue consolidée</a:t>
                </a:r>
                <a:endParaRPr lang="en-US" sz="750" dirty="0"/>
              </a:p>
            </p:txBody>
          </p:sp>
        </p:grpSp>
        <p:grpSp>
          <p:nvGrpSpPr>
            <p:cNvPr id="50" name="Groupe 49">
              <a:extLst>
                <a:ext uri="{FF2B5EF4-FFF2-40B4-BE49-F238E27FC236}">
                  <a16:creationId xmlns:a16="http://schemas.microsoft.com/office/drawing/2014/main" id="{F0889936-18B9-30C2-C8C3-471C1BCB224F}"/>
                </a:ext>
              </a:extLst>
            </p:cNvPr>
            <p:cNvGrpSpPr/>
            <p:nvPr/>
          </p:nvGrpSpPr>
          <p:grpSpPr>
            <a:xfrm>
              <a:off x="7756844" y="3980902"/>
              <a:ext cx="1508760" cy="1021121"/>
              <a:chOff x="7756844" y="3980902"/>
              <a:chExt cx="1508760" cy="1021121"/>
            </a:xfrm>
          </p:grpSpPr>
          <p:sp>
            <p:nvSpPr>
              <p:cNvPr id="21" name="Shape 18"/>
              <p:cNvSpPr/>
              <p:nvPr/>
            </p:nvSpPr>
            <p:spPr>
              <a:xfrm>
                <a:off x="7756844" y="3980902"/>
                <a:ext cx="1508760" cy="1021121"/>
              </a:xfrm>
              <a:prstGeom prst="roundRect">
                <a:avLst>
                  <a:gd name="adj" fmla="val 9756"/>
                </a:avLst>
              </a:prstGeom>
              <a:solidFill>
                <a:srgbClr val="FFFFFF"/>
              </a:solidFill>
              <a:ln w="15875">
                <a:gradFill>
                  <a:gsLst>
                    <a:gs pos="0">
                      <a:srgbClr val="002060"/>
                    </a:gs>
                    <a:gs pos="51000">
                      <a:srgbClr val="0070C0"/>
                    </a:gs>
                    <a:gs pos="100000">
                      <a:schemeClr val="accent3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sp>
          <p:sp>
            <p:nvSpPr>
              <p:cNvPr id="22" name="Text 19"/>
              <p:cNvSpPr/>
              <p:nvPr/>
            </p:nvSpPr>
            <p:spPr>
              <a:xfrm>
                <a:off x="7859108" y="4440990"/>
                <a:ext cx="1296768" cy="40644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0F5B7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0</a:t>
                </a:r>
                <a:endParaRPr lang="en-US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3" name="Text 20"/>
              <p:cNvSpPr/>
              <p:nvPr/>
            </p:nvSpPr>
            <p:spPr>
              <a:xfrm>
                <a:off x="7756844" y="4760385"/>
                <a:ext cx="1508760" cy="2416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607D8B"/>
                    </a:solidFill>
                  </a:rPr>
                  <a:t>modification des sources</a:t>
                </a:r>
                <a:endParaRPr lang="en-US" sz="750" dirty="0"/>
              </a:p>
            </p:txBody>
          </p:sp>
        </p:grpSp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1396E5C2-FAE5-28B5-F042-65974581B113}"/>
                </a:ext>
              </a:extLst>
            </p:cNvPr>
            <p:cNvGrpSpPr/>
            <p:nvPr/>
          </p:nvGrpSpPr>
          <p:grpSpPr>
            <a:xfrm>
              <a:off x="9494204" y="3980902"/>
              <a:ext cx="1508760" cy="1021121"/>
              <a:chOff x="9494204" y="3980902"/>
              <a:chExt cx="1508760" cy="1021121"/>
            </a:xfrm>
          </p:grpSpPr>
          <p:sp>
            <p:nvSpPr>
              <p:cNvPr id="24" name="Shape 21"/>
              <p:cNvSpPr/>
              <p:nvPr/>
            </p:nvSpPr>
            <p:spPr>
              <a:xfrm>
                <a:off x="9494204" y="3980902"/>
                <a:ext cx="1508760" cy="1021121"/>
              </a:xfrm>
              <a:prstGeom prst="roundRect">
                <a:avLst>
                  <a:gd name="adj" fmla="val 9756"/>
                </a:avLst>
              </a:prstGeom>
              <a:solidFill>
                <a:srgbClr val="FFFFFF"/>
              </a:solidFill>
              <a:ln w="12700">
                <a:gradFill>
                  <a:gsLst>
                    <a:gs pos="0">
                      <a:srgbClr val="FFC000"/>
                    </a:gs>
                    <a:gs pos="51000">
                      <a:srgbClr val="FFFF00"/>
                    </a:gs>
                    <a:gs pos="100000">
                      <a:schemeClr val="accent3">
                        <a:lumMod val="20000"/>
                        <a:lumOff val="80000"/>
                      </a:schemeClr>
                    </a:gs>
                  </a:gsLst>
                  <a:lin ang="5400000" scaled="1"/>
                </a:gradFill>
                <a:prstDash val="solid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sp>
          <p:sp>
            <p:nvSpPr>
              <p:cNvPr id="25" name="Text 22"/>
              <p:cNvSpPr/>
              <p:nvPr/>
            </p:nvSpPr>
            <p:spPr>
              <a:xfrm>
                <a:off x="9494204" y="4449725"/>
                <a:ext cx="1508759" cy="38444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200" b="1" dirty="0">
                    <a:solidFill>
                      <a:srgbClr val="F2B705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SQL</a:t>
                </a:r>
                <a:endParaRPr lang="en-US" sz="2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sp>
            <p:nvSpPr>
              <p:cNvPr id="26" name="Text 23"/>
              <p:cNvSpPr/>
              <p:nvPr/>
            </p:nvSpPr>
            <p:spPr>
              <a:xfrm>
                <a:off x="9494204" y="4767747"/>
                <a:ext cx="1508760" cy="2342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607D8B"/>
                    </a:solidFill>
                  </a:rPr>
                  <a:t>reproductible</a:t>
                </a:r>
                <a:endParaRPr lang="en-US" sz="750" dirty="0"/>
              </a:p>
            </p:txBody>
          </p:sp>
        </p:grpSp>
      </p:grp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95D40842-2D64-8898-A18D-DD65C4A14D8E}"/>
              </a:ext>
            </a:extLst>
          </p:cNvPr>
          <p:cNvGrpSpPr/>
          <p:nvPr/>
        </p:nvGrpSpPr>
        <p:grpSpPr>
          <a:xfrm>
            <a:off x="502920" y="1543191"/>
            <a:ext cx="6453909" cy="4497104"/>
            <a:chOff x="685800" y="1389889"/>
            <a:chExt cx="6453909" cy="4497104"/>
          </a:xfrm>
        </p:grpSpPr>
        <p:sp>
          <p:nvSpPr>
            <p:cNvPr id="9" name="Shape 6"/>
            <p:cNvSpPr/>
            <p:nvPr/>
          </p:nvSpPr>
          <p:spPr>
            <a:xfrm>
              <a:off x="685800" y="1389889"/>
              <a:ext cx="6453909" cy="4497104"/>
            </a:xfrm>
            <a:prstGeom prst="roundRect">
              <a:avLst>
                <a:gd name="adj" fmla="val 1684"/>
              </a:avLst>
            </a:prstGeom>
            <a:solidFill>
              <a:srgbClr val="17252A"/>
            </a:solidFill>
            <a:ln w="22225">
              <a:gradFill flip="none" rotWithShape="1">
                <a:gsLst>
                  <a:gs pos="0">
                    <a:srgbClr val="FF0000"/>
                  </a:gs>
                  <a:gs pos="51000">
                    <a:srgbClr val="FE5454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0" name="Text 7"/>
            <p:cNvSpPr/>
            <p:nvPr/>
          </p:nvSpPr>
          <p:spPr>
            <a:xfrm>
              <a:off x="940129" y="1616263"/>
              <a:ext cx="2468880" cy="4626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pgAdmin / PostgreSQL</a:t>
              </a:r>
              <a:endParaRPr lang="en-US" sz="1200" dirty="0"/>
            </a:p>
          </p:txBody>
        </p: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2257D8E8-D8DC-594B-383D-B5873360C716}"/>
                </a:ext>
              </a:extLst>
            </p:cNvPr>
            <p:cNvGrpSpPr/>
            <p:nvPr/>
          </p:nvGrpSpPr>
          <p:grpSpPr>
            <a:xfrm>
              <a:off x="3594687" y="2206921"/>
              <a:ext cx="3281975" cy="3272559"/>
              <a:chOff x="3594687" y="2206921"/>
              <a:chExt cx="3281975" cy="3272559"/>
            </a:xfrm>
          </p:grpSpPr>
          <p:sp>
            <p:nvSpPr>
              <p:cNvPr id="13" name="Shape 10"/>
              <p:cNvSpPr/>
              <p:nvPr/>
            </p:nvSpPr>
            <p:spPr>
              <a:xfrm>
                <a:off x="3594687" y="2206921"/>
                <a:ext cx="3281975" cy="3237723"/>
              </a:xfrm>
              <a:prstGeom prst="rect">
                <a:avLst/>
              </a:prstGeom>
              <a:solidFill>
                <a:srgbClr val="0D151A"/>
              </a:solidFill>
              <a:ln w="12700">
                <a:solidFill>
                  <a:srgbClr val="34464F"/>
                </a:solidFill>
                <a:prstDash val="solid"/>
              </a:ln>
            </p:spPr>
          </p:sp>
          <p:sp>
            <p:nvSpPr>
              <p:cNvPr id="14" name="Text 11"/>
              <p:cNvSpPr/>
              <p:nvPr/>
            </p:nvSpPr>
            <p:spPr>
              <a:xfrm>
                <a:off x="3663338" y="2241757"/>
                <a:ext cx="3213323" cy="323772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r>
                  <a:rPr lang="fr-FR" sz="900" spc="20" dirty="0">
                    <a:solidFill>
                      <a:srgbClr val="FF6600"/>
                    </a:solidFill>
                  </a:rPr>
                  <a:t>CREATE OR REPLACE VIEW 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v_stats_joueurs_consolidees</a:t>
                </a:r>
                <a:r>
                  <a:rPr lang="fr-FR" sz="900" spc="20" dirty="0">
                    <a:solidFill>
                      <a:srgbClr val="FF6600"/>
                    </a:solidFill>
                  </a:rPr>
                  <a:t> AS</a:t>
                </a:r>
              </a:p>
              <a:p>
                <a:r>
                  <a:rPr lang="fr-FR" sz="900" spc="20" dirty="0">
                    <a:solidFill>
                      <a:srgbClr val="FF6600"/>
                    </a:solidFill>
                  </a:rPr>
                  <a:t>SELECT</a:t>
                </a:r>
              </a:p>
              <a:p>
                <a:r>
                  <a:rPr lang="fr-FR" sz="900" spc="20" dirty="0">
                    <a:solidFill>
                      <a:schemeClr val="bg1"/>
                    </a:solidFill>
                  </a:rPr>
                  <a:t>    j.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nom_joueur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,</a:t>
                </a:r>
              </a:p>
              <a:p>
                <a:r>
                  <a:rPr lang="fr-FR" sz="900" spc="20" dirty="0">
                    <a:solidFill>
                      <a:schemeClr val="bg1"/>
                    </a:solidFill>
                  </a:rPr>
                  <a:t>    j.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code_position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,</a:t>
                </a:r>
              </a:p>
              <a:p>
                <a:r>
                  <a:rPr lang="fr-FR" sz="900" spc="20" dirty="0">
                    <a:solidFill>
                      <a:schemeClr val="bg1"/>
                    </a:solidFill>
                  </a:rPr>
                  <a:t>    j.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id_equipe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, </a:t>
                </a:r>
              </a:p>
              <a:p>
                <a:r>
                  <a:rPr lang="fr-FR" sz="900" spc="20" dirty="0">
                    <a:solidFill>
                      <a:srgbClr val="00B0F0"/>
                    </a:solidFill>
                  </a:rPr>
                  <a:t>   SUM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(p.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buts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) </a:t>
                </a:r>
                <a:r>
                  <a:rPr lang="fr-FR" sz="900" spc="20" dirty="0">
                    <a:solidFill>
                      <a:srgbClr val="FF6600"/>
                    </a:solidFill>
                  </a:rPr>
                  <a:t>AS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 buts,</a:t>
                </a:r>
                <a:endParaRPr lang="fr-FR" sz="900" spc="20" dirty="0">
                  <a:solidFill>
                    <a:srgbClr val="FF6600"/>
                  </a:solidFill>
                </a:endParaRPr>
              </a:p>
              <a:p>
                <a:r>
                  <a:rPr lang="fr-FR" sz="900" spc="20" dirty="0">
                    <a:solidFill>
                      <a:srgbClr val="00B0F0"/>
                    </a:solidFill>
                  </a:rPr>
                  <a:t>   SUM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(t.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matchs_joues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) </a:t>
                </a:r>
                <a:r>
                  <a:rPr lang="fr-FR" sz="900" spc="20" dirty="0">
                    <a:solidFill>
                      <a:srgbClr val="FF6600"/>
                    </a:solidFill>
                  </a:rPr>
                  <a:t>AS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 matchs_joues,</a:t>
                </a:r>
              </a:p>
              <a:p>
                <a:r>
                  <a:rPr lang="fr-FR" sz="900" spc="20" dirty="0">
                    <a:solidFill>
                      <a:schemeClr val="bg1"/>
                    </a:solidFill>
                  </a:rPr>
                  <a:t>   </a:t>
                </a:r>
                <a:r>
                  <a:rPr lang="fr-FR" sz="900" spc="20" dirty="0">
                    <a:solidFill>
                      <a:srgbClr val="00B0F0"/>
                    </a:solidFill>
                  </a:rPr>
                  <a:t>SUM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(a.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xg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) </a:t>
                </a:r>
                <a:r>
                  <a:rPr lang="fr-FR" sz="900" spc="20" dirty="0">
                    <a:solidFill>
                      <a:srgbClr val="FF6600"/>
                    </a:solidFill>
                  </a:rPr>
                  <a:t>AS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 xg, </a:t>
                </a:r>
              </a:p>
              <a:p>
                <a:r>
                  <a:rPr lang="fr-FR" sz="900" spc="20" dirty="0">
                    <a:solidFill>
                      <a:srgbClr val="00B0F0"/>
                    </a:solidFill>
                  </a:rPr>
                  <a:t>   SUM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(pr.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progression_passe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)</a:t>
                </a:r>
                <a:r>
                  <a:rPr lang="fr-FR" sz="900" spc="20" dirty="0">
                    <a:solidFill>
                      <a:srgbClr val="FF6600"/>
                    </a:solidFill>
                  </a:rPr>
                  <a:t> AS 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prgp</a:t>
                </a:r>
              </a:p>
              <a:p>
                <a:r>
                  <a:rPr lang="fr-FR" sz="900" spc="20" dirty="0">
                    <a:solidFill>
                      <a:srgbClr val="FF6600"/>
                    </a:solidFill>
                  </a:rPr>
                  <a:t>FROM 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joueur j</a:t>
                </a:r>
              </a:p>
              <a:p>
                <a:r>
                  <a:rPr lang="fr-FR" sz="900" spc="20" dirty="0">
                    <a:solidFill>
                      <a:srgbClr val="FF6600"/>
                    </a:solidFill>
                  </a:rPr>
                  <a:t>JOIN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 performance p </a:t>
                </a:r>
                <a:r>
                  <a:rPr lang="fr-FR" sz="900" spc="20" dirty="0">
                    <a:solidFill>
                      <a:srgbClr val="FF6600"/>
                    </a:solidFill>
                  </a:rPr>
                  <a:t>ON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 j.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id_joueur 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= p.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id_joueur</a:t>
                </a:r>
              </a:p>
              <a:p>
                <a:r>
                  <a:rPr lang="fr-FR" sz="900" spc="20" dirty="0">
                    <a:solidFill>
                      <a:srgbClr val="FF6600"/>
                    </a:solidFill>
                  </a:rPr>
                  <a:t>JOIN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 temps_de_jeu t </a:t>
                </a:r>
                <a:r>
                  <a:rPr lang="fr-FR" sz="900" spc="20" dirty="0">
                    <a:solidFill>
                      <a:srgbClr val="FF6600"/>
                    </a:solidFill>
                  </a:rPr>
                  <a:t>ON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 j.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id_joueur 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= t.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id_joueur</a:t>
                </a:r>
              </a:p>
              <a:p>
                <a:r>
                  <a:rPr lang="fr-FR" sz="900" spc="20" dirty="0">
                    <a:solidFill>
                      <a:srgbClr val="FF6600"/>
                    </a:solidFill>
                  </a:rPr>
                  <a:t>JOIN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 attendu a </a:t>
                </a:r>
                <a:r>
                  <a:rPr lang="fr-FR" sz="900" spc="20" dirty="0">
                    <a:solidFill>
                      <a:srgbClr val="FF6600"/>
                    </a:solidFill>
                  </a:rPr>
                  <a:t>ON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 j.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id_joueur 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= a.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id_joueur</a:t>
                </a:r>
              </a:p>
              <a:p>
                <a:r>
                  <a:rPr lang="fr-FR" sz="900" spc="20" dirty="0">
                    <a:solidFill>
                      <a:srgbClr val="FF6600"/>
                    </a:solidFill>
                  </a:rPr>
                  <a:t>JOIN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 progression pr </a:t>
                </a:r>
                <a:r>
                  <a:rPr lang="fr-FR" sz="900" spc="20" dirty="0">
                    <a:solidFill>
                      <a:srgbClr val="FF6600"/>
                    </a:solidFill>
                  </a:rPr>
                  <a:t>ON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 j.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id_joueur 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= pr.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id_joueur</a:t>
                </a:r>
              </a:p>
              <a:p>
                <a:r>
                  <a:rPr lang="fr-FR" sz="900" spc="20" dirty="0">
                    <a:solidFill>
                      <a:srgbClr val="FF6600"/>
                    </a:solidFill>
                  </a:rPr>
                  <a:t>GROUP BY 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j.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nom_joueur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, j.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code_position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, j.</a:t>
                </a:r>
                <a:r>
                  <a:rPr lang="fr-FR" sz="900" spc="2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</a:rPr>
                  <a:t>id_equipe</a:t>
                </a:r>
                <a:r>
                  <a:rPr lang="fr-FR" sz="900" spc="20" dirty="0">
                    <a:solidFill>
                      <a:schemeClr val="bg1"/>
                    </a:solidFill>
                  </a:rPr>
                  <a:t>;</a:t>
                </a:r>
              </a:p>
            </p:txBody>
          </p:sp>
        </p:grpSp>
        <p:grpSp>
          <p:nvGrpSpPr>
            <p:cNvPr id="46" name="bloc shéma">
              <a:extLst>
                <a:ext uri="{FF2B5EF4-FFF2-40B4-BE49-F238E27FC236}">
                  <a16:creationId xmlns:a16="http://schemas.microsoft.com/office/drawing/2014/main" id="{DA48AB95-F0F2-A814-2F9C-19A0A87608BD}"/>
                </a:ext>
              </a:extLst>
            </p:cNvPr>
            <p:cNvGrpSpPr/>
            <p:nvPr/>
          </p:nvGrpSpPr>
          <p:grpSpPr>
            <a:xfrm>
              <a:off x="914400" y="2189504"/>
              <a:ext cx="2425958" cy="3237722"/>
              <a:chOff x="914400" y="2189504"/>
              <a:chExt cx="2425958" cy="3237722"/>
            </a:xfrm>
          </p:grpSpPr>
          <p:sp>
            <p:nvSpPr>
              <p:cNvPr id="11" name="Shape 8"/>
              <p:cNvSpPr/>
              <p:nvPr/>
            </p:nvSpPr>
            <p:spPr>
              <a:xfrm>
                <a:off x="914400" y="2189504"/>
                <a:ext cx="2425958" cy="3237722"/>
              </a:xfrm>
              <a:prstGeom prst="rect">
                <a:avLst/>
              </a:prstGeom>
              <a:solidFill>
                <a:srgbClr val="0D151A"/>
              </a:solidFill>
              <a:ln w="12700">
                <a:solidFill>
                  <a:srgbClr val="34464F"/>
                </a:solidFill>
                <a:prstDash val="solid"/>
              </a:ln>
            </p:spPr>
          </p:sp>
          <p:sp>
            <p:nvSpPr>
              <p:cNvPr id="12" name="Text 9"/>
              <p:cNvSpPr/>
              <p:nvPr/>
            </p:nvSpPr>
            <p:spPr>
              <a:xfrm>
                <a:off x="1111010" y="2206921"/>
                <a:ext cx="2189227" cy="3220305"/>
              </a:xfrm>
              <a:prstGeom prst="rect">
                <a:avLst/>
              </a:prstGeom>
              <a:noFill/>
              <a:ln/>
            </p:spPr>
            <p:txBody>
              <a:bodyPr wrap="square" lIns="254" tIns="254" rIns="254" bIns="254" rtlCol="0"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Schemas</a:t>
                </a:r>
                <a:endParaRPr lang="en-US" sz="1100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050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</a:t>
                </a:r>
                <a:r>
                  <a:rPr lang="en-US" sz="1100" b="1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public</a:t>
                </a:r>
                <a:endParaRPr lang="en-US" sz="1100" b="1" dirty="0"/>
              </a:p>
              <a:p>
                <a:pPr marL="0" indent="0">
                  <a:buNone/>
                </a:pPr>
                <a:r>
                  <a:rPr lang="en-US" sz="1050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 </a:t>
                </a:r>
                <a:r>
                  <a:rPr lang="en-US" sz="1100" b="1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Tables</a:t>
                </a:r>
                <a:endParaRPr lang="en-US" sz="1100" b="1" dirty="0"/>
              </a:p>
              <a:p>
                <a:pPr lvl="1"/>
                <a:r>
                  <a:rPr lang="en-US" sz="1050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equipe</a:t>
                </a:r>
                <a:endParaRPr lang="en-US" sz="1050" dirty="0"/>
              </a:p>
              <a:p>
                <a:pPr lvl="1"/>
                <a:r>
                  <a:rPr lang="en-US" sz="1050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joueur</a:t>
                </a:r>
                <a:endParaRPr lang="en-US" sz="1050" dirty="0"/>
              </a:p>
              <a:p>
                <a:pPr lvl="1"/>
                <a:r>
                  <a:rPr lang="en-US" sz="1050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position</a:t>
                </a:r>
                <a:endParaRPr lang="en-US" sz="1050" dirty="0"/>
              </a:p>
              <a:p>
                <a:pPr lvl="1"/>
                <a:r>
                  <a:rPr lang="en-US" sz="1050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performance</a:t>
                </a:r>
                <a:endParaRPr lang="en-US" sz="1050" dirty="0"/>
              </a:p>
              <a:p>
                <a:pPr lvl="1"/>
                <a:r>
                  <a:rPr lang="en-US" sz="1050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temps_de_jeu</a:t>
                </a:r>
                <a:endParaRPr lang="en-US" sz="1050" dirty="0"/>
              </a:p>
              <a:p>
                <a:pPr lvl="1"/>
                <a:r>
                  <a:rPr lang="en-US" sz="1050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attendu</a:t>
                </a:r>
                <a:endParaRPr lang="en-US" sz="1050" dirty="0"/>
              </a:p>
              <a:p>
                <a:pPr lvl="1"/>
                <a:r>
                  <a:rPr lang="en-US" sz="1050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progression</a:t>
                </a:r>
                <a:endParaRPr lang="en-US" sz="1050" dirty="0"/>
              </a:p>
              <a:p>
                <a:pPr lvl="1"/>
                <a:r>
                  <a:rPr lang="en-US" sz="1050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salaire_source</a:t>
                </a:r>
                <a:endParaRPr lang="en-US" sz="1050" dirty="0"/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    </a:t>
                </a:r>
                <a:r>
                  <a:rPr lang="en-US" sz="1100" b="1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Views</a:t>
                </a:r>
              </a:p>
              <a:p>
                <a:pPr lvl="1"/>
                <a:r>
                  <a:rPr lang="en-US" sz="900" dirty="0">
                    <a:solidFill>
                      <a:srgbClr val="DDE7EC"/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v_stats_joueurs_consolidees      </a:t>
                </a:r>
                <a:endParaRPr lang="en-US" sz="900" dirty="0"/>
              </a:p>
            </p:txBody>
          </p:sp>
          <p:pic>
            <p:nvPicPr>
              <p:cNvPr id="32" name="Image 31">
                <a:extLst>
                  <a:ext uri="{FF2B5EF4-FFF2-40B4-BE49-F238E27FC236}">
                    <a16:creationId xmlns:a16="http://schemas.microsoft.com/office/drawing/2014/main" id="{6DB11A97-FE18-388A-BB35-86F6C68F9D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48733" y="2744557"/>
                <a:ext cx="144000" cy="144000"/>
              </a:xfrm>
              <a:prstGeom prst="rect">
                <a:avLst/>
              </a:prstGeom>
            </p:spPr>
          </p:pic>
          <p:pic>
            <p:nvPicPr>
              <p:cNvPr id="34" name="Image 33" descr="Une image contenant capture d’écran, Rectangle, Graphique, carré&#10;&#10;Le contenu généré par l’IA peut être incorrect.">
                <a:extLst>
                  <a:ext uri="{FF2B5EF4-FFF2-40B4-BE49-F238E27FC236}">
                    <a16:creationId xmlns:a16="http://schemas.microsoft.com/office/drawing/2014/main" id="{077A916E-903D-E947-802E-4923187F98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071440" y="2994532"/>
                <a:ext cx="144000" cy="144000"/>
              </a:xfrm>
              <a:prstGeom prst="rect">
                <a:avLst/>
              </a:prstGeom>
            </p:spPr>
          </p:pic>
          <p:pic>
            <p:nvPicPr>
              <p:cNvPr id="38" name="Image 37" descr="Une image contenant Rectangle, carré, capture d’écran, bleu&#10;&#10;Le contenu généré par l’IA peut être incorrect.">
                <a:extLst>
                  <a:ext uri="{FF2B5EF4-FFF2-40B4-BE49-F238E27FC236}">
                    <a16:creationId xmlns:a16="http://schemas.microsoft.com/office/drawing/2014/main" id="{4BB16AE3-B065-3166-7F00-90CB4CD3ADCC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6428" y="3357706"/>
                <a:ext cx="144000" cy="90000"/>
              </a:xfrm>
              <a:prstGeom prst="rect">
                <a:avLst/>
              </a:prstGeom>
            </p:spPr>
          </p:pic>
          <p:pic>
            <p:nvPicPr>
              <p:cNvPr id="39" name="Image 38" descr="Une image contenant Rectangle, carré, capture d’écran, bleu&#10;&#10;Le contenu généré par l’IA peut être incorrect.">
                <a:extLst>
                  <a:ext uri="{FF2B5EF4-FFF2-40B4-BE49-F238E27FC236}">
                    <a16:creationId xmlns:a16="http://schemas.microsoft.com/office/drawing/2014/main" id="{560E87F2-6D9C-6420-EDCC-56640F699943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4780" y="3520078"/>
                <a:ext cx="144000" cy="90000"/>
              </a:xfrm>
              <a:prstGeom prst="rect">
                <a:avLst/>
              </a:prstGeom>
            </p:spPr>
          </p:pic>
          <p:pic>
            <p:nvPicPr>
              <p:cNvPr id="40" name="Image 39" descr="Une image contenant Rectangle, carré, capture d’écran, bleu&#10;&#10;Le contenu généré par l’IA peut être incorrect.">
                <a:extLst>
                  <a:ext uri="{FF2B5EF4-FFF2-40B4-BE49-F238E27FC236}">
                    <a16:creationId xmlns:a16="http://schemas.microsoft.com/office/drawing/2014/main" id="{134F0B04-7034-D8A4-8F1D-B8EF0F795AEF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3132" y="3681636"/>
                <a:ext cx="144000" cy="90000"/>
              </a:xfrm>
              <a:prstGeom prst="rect">
                <a:avLst/>
              </a:prstGeom>
            </p:spPr>
          </p:pic>
          <p:pic>
            <p:nvPicPr>
              <p:cNvPr id="41" name="Image 40" descr="Une image contenant Rectangle, carré, capture d’écran, bleu&#10;&#10;Le contenu généré par l’IA peut être incorrect.">
                <a:extLst>
                  <a:ext uri="{FF2B5EF4-FFF2-40B4-BE49-F238E27FC236}">
                    <a16:creationId xmlns:a16="http://schemas.microsoft.com/office/drawing/2014/main" id="{5C067F11-D3A8-854D-E822-0A3AA9343A1F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2007" y="3858976"/>
                <a:ext cx="144000" cy="90000"/>
              </a:xfrm>
              <a:prstGeom prst="rect">
                <a:avLst/>
              </a:prstGeom>
            </p:spPr>
          </p:pic>
          <p:pic>
            <p:nvPicPr>
              <p:cNvPr id="42" name="Image 41" descr="Une image contenant Rectangle, carré, capture d’écran, bleu&#10;&#10;Le contenu généré par l’IA peut être incorrect.">
                <a:extLst>
                  <a:ext uri="{FF2B5EF4-FFF2-40B4-BE49-F238E27FC236}">
                    <a16:creationId xmlns:a16="http://schemas.microsoft.com/office/drawing/2014/main" id="{F89A0DD2-9290-CB61-216E-8A52C1B12082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0882" y="4000666"/>
                <a:ext cx="144000" cy="90000"/>
              </a:xfrm>
              <a:prstGeom prst="rect">
                <a:avLst/>
              </a:prstGeom>
            </p:spPr>
          </p:pic>
          <p:pic>
            <p:nvPicPr>
              <p:cNvPr id="43" name="Image 42" descr="Une image contenant Rectangle, carré, capture d’écran, bleu&#10;&#10;Le contenu généré par l’IA peut être incorrect.">
                <a:extLst>
                  <a:ext uri="{FF2B5EF4-FFF2-40B4-BE49-F238E27FC236}">
                    <a16:creationId xmlns:a16="http://schemas.microsoft.com/office/drawing/2014/main" id="{18EEF6BD-88A7-537A-EF33-4B4E7FDCDD55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9757" y="4162222"/>
                <a:ext cx="144000" cy="90000"/>
              </a:xfrm>
              <a:prstGeom prst="rect">
                <a:avLst/>
              </a:prstGeom>
            </p:spPr>
          </p:pic>
          <p:pic>
            <p:nvPicPr>
              <p:cNvPr id="44" name="Image 43" descr="Une image contenant Rectangle, carré, capture d’écran, bleu&#10;&#10;Le contenu généré par l’IA peut être incorrect.">
                <a:extLst>
                  <a:ext uri="{FF2B5EF4-FFF2-40B4-BE49-F238E27FC236}">
                    <a16:creationId xmlns:a16="http://schemas.microsoft.com/office/drawing/2014/main" id="{EFB9F48F-94B6-0C1C-969E-3B21644F81F8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7586" y="4314253"/>
                <a:ext cx="144000" cy="90000"/>
              </a:xfrm>
              <a:prstGeom prst="rect">
                <a:avLst/>
              </a:prstGeom>
            </p:spPr>
          </p:pic>
          <p:pic>
            <p:nvPicPr>
              <p:cNvPr id="45" name="Image 44" descr="Une image contenant Rectangle, carré, capture d’écran, bleu&#10;&#10;Le contenu généré par l’IA peut être incorrect.">
                <a:extLst>
                  <a:ext uri="{FF2B5EF4-FFF2-40B4-BE49-F238E27FC236}">
                    <a16:creationId xmlns:a16="http://schemas.microsoft.com/office/drawing/2014/main" id="{B1C63267-3EB2-E4FE-C264-08B21FEC1C69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5986" y="4484518"/>
                <a:ext cx="144000" cy="90000"/>
              </a:xfrm>
              <a:prstGeom prst="rect">
                <a:avLst/>
              </a:prstGeom>
            </p:spPr>
          </p:pic>
          <p:pic>
            <p:nvPicPr>
              <p:cNvPr id="47" name="Image 46">
                <a:extLst>
                  <a:ext uri="{FF2B5EF4-FFF2-40B4-BE49-F238E27FC236}">
                    <a16:creationId xmlns:a16="http://schemas.microsoft.com/office/drawing/2014/main" id="{64EAFEE8-6593-461D-D685-06A2A599623A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89036" y="3171527"/>
                <a:ext cx="162000" cy="126000"/>
              </a:xfrm>
              <a:prstGeom prst="rect">
                <a:avLst/>
              </a:prstGeom>
            </p:spPr>
          </p:pic>
          <p:pic>
            <p:nvPicPr>
              <p:cNvPr id="48" name="Image 47">
                <a:extLst>
                  <a:ext uri="{FF2B5EF4-FFF2-40B4-BE49-F238E27FC236}">
                    <a16:creationId xmlns:a16="http://schemas.microsoft.com/office/drawing/2014/main" id="{45E5FEC8-7644-9C5E-5BA3-BF9479D23ED4}"/>
                  </a:ext>
                </a:extLst>
              </p:cNvPr>
              <p:cNvPicPr>
                <a:picLocks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29640" y="4625254"/>
                <a:ext cx="162000" cy="126000"/>
              </a:xfrm>
              <a:prstGeom prst="rect">
                <a:avLst/>
              </a:prstGeom>
            </p:spPr>
          </p:pic>
          <p:grpSp>
            <p:nvGrpSpPr>
              <p:cNvPr id="37" name="Groupe 36">
                <a:extLst>
                  <a:ext uri="{FF2B5EF4-FFF2-40B4-BE49-F238E27FC236}">
                    <a16:creationId xmlns:a16="http://schemas.microsoft.com/office/drawing/2014/main" id="{24DD4959-5549-4911-DC09-0AE967FAE926}"/>
                  </a:ext>
                </a:extLst>
              </p:cNvPr>
              <p:cNvGrpSpPr/>
              <p:nvPr/>
            </p:nvGrpSpPr>
            <p:grpSpPr>
              <a:xfrm>
                <a:off x="1330680" y="4809854"/>
                <a:ext cx="214352" cy="149132"/>
                <a:chOff x="1330680" y="4809854"/>
                <a:chExt cx="214352" cy="149132"/>
              </a:xfrm>
            </p:grpSpPr>
            <p:pic>
              <p:nvPicPr>
                <p:cNvPr id="51" name="Image 50" descr="Une image contenant Rectangle, carré, capture d’écran, bleu&#10;&#10;Le contenu généré par l’IA peut être incorrect.">
                  <a:extLst>
                    <a:ext uri="{FF2B5EF4-FFF2-40B4-BE49-F238E27FC236}">
                      <a16:creationId xmlns:a16="http://schemas.microsoft.com/office/drawing/2014/main" id="{832C161F-BC18-2B72-77D7-941EB4424792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30680" y="4809854"/>
                  <a:ext cx="144000" cy="90000"/>
                </a:xfrm>
                <a:prstGeom prst="rect">
                  <a:avLst/>
                </a:prstGeom>
              </p:spPr>
            </p:pic>
            <p:pic>
              <p:nvPicPr>
                <p:cNvPr id="53" name="Graphique 52" descr="Loupe avec un remplissage uni">
                  <a:extLst>
                    <a:ext uri="{FF2B5EF4-FFF2-40B4-BE49-F238E27FC236}">
                      <a16:creationId xmlns:a16="http://schemas.microsoft.com/office/drawing/2014/main" id="{E323A0F7-3A08-B2DA-FB91-543AD1417E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96DAC541-7B7A-43D3-8B79-37D633B846F1}">
                      <asvg:svgBlip xmlns:asvg="http://schemas.microsoft.com/office/drawing/2016/SVG/main" r:embed="rId8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37032" y="4850986"/>
                  <a:ext cx="108000" cy="108000"/>
                </a:xfrm>
                <a:prstGeom prst="rect">
                  <a:avLst/>
                </a:prstGeom>
              </p:spPr>
            </p:pic>
          </p:grpSp>
        </p:grpSp>
        <p:sp>
          <p:nvSpPr>
            <p:cNvPr id="61" name="Text 7">
              <a:extLst>
                <a:ext uri="{FF2B5EF4-FFF2-40B4-BE49-F238E27FC236}">
                  <a16:creationId xmlns:a16="http://schemas.microsoft.com/office/drawing/2014/main" id="{2C1C12B5-B2CA-E1A6-76F3-164350D444D2}"/>
                </a:ext>
              </a:extLst>
            </p:cNvPr>
            <p:cNvSpPr/>
            <p:nvPr/>
          </p:nvSpPr>
          <p:spPr>
            <a:xfrm>
              <a:off x="3598421" y="1634494"/>
              <a:ext cx="3278241" cy="4262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200" b="1" dirty="0">
                  <a:solidFill>
                    <a:srgbClr val="FFFFFF"/>
                  </a:solidFill>
                </a:rPr>
                <a:t>Extrait simplifié de la vue consolidée</a:t>
              </a:r>
              <a:endParaRPr lang="en-US" sz="1200" dirty="0"/>
            </a:p>
          </p:txBody>
        </p:sp>
      </p:grpSp>
      <p:grpSp>
        <p:nvGrpSpPr>
          <p:cNvPr id="36" name="Footer">
            <a:extLst>
              <a:ext uri="{FF2B5EF4-FFF2-40B4-BE49-F238E27FC236}">
                <a16:creationId xmlns:a16="http://schemas.microsoft.com/office/drawing/2014/main" id="{F86EB754-9472-CAC8-08C7-0BFF4FC5FDB9}"/>
              </a:ext>
            </a:extLst>
          </p:cNvPr>
          <p:cNvGrpSpPr/>
          <p:nvPr/>
        </p:nvGrpSpPr>
        <p:grpSpPr>
          <a:xfrm>
            <a:off x="502920" y="6446520"/>
            <a:ext cx="11155680" cy="228600"/>
            <a:chOff x="502920" y="6446520"/>
            <a:chExt cx="11155680" cy="228600"/>
          </a:xfrm>
        </p:grpSpPr>
        <p:sp>
          <p:nvSpPr>
            <p:cNvPr id="6" name="Shape 3"/>
            <p:cNvSpPr/>
            <p:nvPr/>
          </p:nvSpPr>
          <p:spPr>
            <a:xfrm>
              <a:off x="502920" y="6446520"/>
              <a:ext cx="11155680" cy="0"/>
            </a:xfrm>
            <a:prstGeom prst="line">
              <a:avLst/>
            </a:prstGeom>
            <a:noFill/>
            <a:ln w="7620">
              <a:solidFill>
                <a:srgbClr val="DCE4E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02920" y="6510528"/>
              <a:ext cx="4754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SportDataPulse · Business Intelligence Analyst</a:t>
              </a:r>
              <a:endParaRPr lang="en-US" sz="7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1201400" y="6510528"/>
              <a:ext cx="411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7</a:t>
              </a:r>
              <a:endParaRPr lang="en-US" sz="750" dirty="0"/>
            </a:p>
          </p:txBody>
        </p:sp>
      </p:grpSp>
      <p:sp>
        <p:nvSpPr>
          <p:cNvPr id="60" name="ZoneTexte 59">
            <a:extLst>
              <a:ext uri="{FF2B5EF4-FFF2-40B4-BE49-F238E27FC236}">
                <a16:creationId xmlns:a16="http://schemas.microsoft.com/office/drawing/2014/main" id="{419C00AA-ED32-582E-B319-EF30CF6F54F1}"/>
              </a:ext>
            </a:extLst>
          </p:cNvPr>
          <p:cNvSpPr txBox="1"/>
          <p:nvPr/>
        </p:nvSpPr>
        <p:spPr>
          <a:xfrm>
            <a:off x="7504611" y="1777595"/>
            <a:ext cx="292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E20044"/>
                </a:solidFill>
              </a:rPr>
              <a:t>Synthèse du chargement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6FAE00B7-9090-759A-4AEB-8BA70D3A336F}"/>
              </a:ext>
            </a:extLst>
          </p:cNvPr>
          <p:cNvSpPr txBox="1"/>
          <p:nvPr/>
        </p:nvSpPr>
        <p:spPr>
          <a:xfrm>
            <a:off x="8080185" y="5363776"/>
            <a:ext cx="300860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La vue consolidée permet de comparer les résultats bruts et consolidés, </a:t>
            </a:r>
            <a:r>
              <a:rPr lang="fr-FR" sz="1100" b="1" dirty="0">
                <a:solidFill>
                  <a:srgbClr val="266829"/>
                </a:solidFill>
              </a:rPr>
              <a:t>sans modifier les tables sources.</a:t>
            </a:r>
          </a:p>
        </p:txBody>
      </p:sp>
      <p:pic>
        <p:nvPicPr>
          <p:cNvPr id="63" name="Logo image" descr="/mnt/data/assets_spdp/logo_icon.png">
            <a:extLst>
              <a:ext uri="{FF2B5EF4-FFF2-40B4-BE49-F238E27FC236}">
                <a16:creationId xmlns:a16="http://schemas.microsoft.com/office/drawing/2014/main" id="{B0FF59AC-C2FE-43BE-7654-F0D9F21E839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64" name="Image 63" descr="Une image contenant tabouret&#10;&#10;Le contenu généré par l’IA peut être incorrect.">
            <a:extLst>
              <a:ext uri="{FF2B5EF4-FFF2-40B4-BE49-F238E27FC236}">
                <a16:creationId xmlns:a16="http://schemas.microsoft.com/office/drawing/2014/main" id="{FE8C4134-A618-751D-AC58-58745EDCD93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9295" y="2479994"/>
            <a:ext cx="618218" cy="472288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68" name="Image 67" descr="Une image contenant cercle, Graphique&#10;&#10;Le contenu généré par l’IA peut être incorrect.">
            <a:extLst>
              <a:ext uri="{FF2B5EF4-FFF2-40B4-BE49-F238E27FC236}">
                <a16:creationId xmlns:a16="http://schemas.microsoft.com/office/drawing/2014/main" id="{FD270B4A-E14D-47B7-D327-0C4DA0F935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72715" y="2417859"/>
            <a:ext cx="619200" cy="619200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70" name="Image 69" descr="Une image contenant symbole, logo, Graphique, cercle&#10;&#10;Le contenu généré par l’IA peut être incorrect.">
            <a:extLst>
              <a:ext uri="{FF2B5EF4-FFF2-40B4-BE49-F238E27FC236}">
                <a16:creationId xmlns:a16="http://schemas.microsoft.com/office/drawing/2014/main" id="{84C0A01D-50F9-1310-D012-5590A9AC99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00041" y="4031230"/>
            <a:ext cx="480017" cy="480017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78" name="Image 77" descr="Une image contenant jaune, Police, ligne, Graphique&#10;&#10;Le contenu généré par l’IA peut être incorrect.">
            <a:extLst>
              <a:ext uri="{FF2B5EF4-FFF2-40B4-BE49-F238E27FC236}">
                <a16:creationId xmlns:a16="http://schemas.microsoft.com/office/drawing/2014/main" id="{4D553D65-2573-8215-A3B3-13B7A6BAAE4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42163" y="4010970"/>
            <a:ext cx="494253" cy="494253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79" name="Image 78" descr="Une image contenant symbole, Graphique, logo, Police&#10;&#10;Le contenu généré par l’IA peut être incorrect.">
            <a:extLst>
              <a:ext uri="{FF2B5EF4-FFF2-40B4-BE49-F238E27FC236}">
                <a16:creationId xmlns:a16="http://schemas.microsoft.com/office/drawing/2014/main" id="{EFAC3332-1526-14A6-A8AA-1ED58E2CF4D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6952" y="5430564"/>
            <a:ext cx="375745" cy="375745"/>
          </a:xfrm>
          <a:prstGeom prst="rect">
            <a:avLst/>
          </a:prstGeom>
        </p:spPr>
      </p:pic>
      <p:sp>
        <p:nvSpPr>
          <p:cNvPr id="80" name="Shape 2">
            <a:extLst>
              <a:ext uri="{FF2B5EF4-FFF2-40B4-BE49-F238E27FC236}">
                <a16:creationId xmlns:a16="http://schemas.microsoft.com/office/drawing/2014/main" id="{35C69D69-E9F4-B99D-7ECE-0E89EA36DD31}"/>
              </a:ext>
            </a:extLst>
          </p:cNvPr>
          <p:cNvSpPr/>
          <p:nvPr/>
        </p:nvSpPr>
        <p:spPr>
          <a:xfrm flipV="1">
            <a:off x="7605638" y="2131698"/>
            <a:ext cx="2367077" cy="14738"/>
          </a:xfrm>
          <a:prstGeom prst="line">
            <a:avLst/>
          </a:prstGeom>
          <a:noFill/>
          <a:ln w="38100">
            <a:solidFill>
              <a:srgbClr val="E2004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67A35AB-F4B0-C3B9-E7BE-1702A6DAFA7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PostgreSQL : tables chargées et vue consolidée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Header">
            <a:extLst>
              <a:ext uri="{FF2B5EF4-FFF2-40B4-BE49-F238E27FC236}">
                <a16:creationId xmlns:a16="http://schemas.microsoft.com/office/drawing/2014/main" id="{6C498F64-9735-A00A-24CF-31A2F8B8E567}"/>
              </a:ext>
            </a:extLst>
          </p:cNvPr>
          <p:cNvGrpSpPr/>
          <p:nvPr/>
        </p:nvGrpSpPr>
        <p:grpSpPr>
          <a:xfrm>
            <a:off x="502920" y="329184"/>
            <a:ext cx="9784080" cy="795528"/>
            <a:chOff x="502920" y="329184"/>
            <a:chExt cx="9784080" cy="795528"/>
          </a:xfrm>
        </p:grpSpPr>
        <p:sp>
          <p:nvSpPr>
            <p:cNvPr id="2" name="Text 0"/>
            <p:cNvSpPr/>
            <p:nvPr/>
          </p:nvSpPr>
          <p:spPr>
            <a:xfrm>
              <a:off x="502920" y="329184"/>
              <a:ext cx="9784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17252A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Contrôles de cohérence des données</a:t>
              </a:r>
              <a:endParaRPr lang="en-US" sz="25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530352" y="768096"/>
              <a:ext cx="7132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607D8B"/>
                  </a:solidFill>
                </a:rPr>
                <a:t>Valider les volumes et la cohérence avant les analyses SQL</a:t>
              </a:r>
              <a:endParaRPr lang="en-US" sz="1100" dirty="0"/>
            </a:p>
          </p:txBody>
        </p:sp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03661550-2089-031E-87F2-C45BEDB65C02}"/>
                </a:ext>
              </a:extLst>
            </p:cNvPr>
            <p:cNvSpPr/>
            <p:nvPr/>
          </p:nvSpPr>
          <p:spPr>
            <a:xfrm>
              <a:off x="502920" y="1124712"/>
              <a:ext cx="2148840" cy="0"/>
            </a:xfrm>
            <a:prstGeom prst="line">
              <a:avLst/>
            </a:prstGeom>
            <a:noFill/>
            <a:ln w="38100">
              <a:solidFill>
                <a:srgbClr val="E20044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</p:grpSp>
      <p:grpSp>
        <p:nvGrpSpPr>
          <p:cNvPr id="26" name="bloc sql">
            <a:extLst>
              <a:ext uri="{FF2B5EF4-FFF2-40B4-BE49-F238E27FC236}">
                <a16:creationId xmlns:a16="http://schemas.microsoft.com/office/drawing/2014/main" id="{3124653C-A747-05CF-ACB7-35285C687BC2}"/>
              </a:ext>
            </a:extLst>
          </p:cNvPr>
          <p:cNvGrpSpPr/>
          <p:nvPr/>
        </p:nvGrpSpPr>
        <p:grpSpPr>
          <a:xfrm>
            <a:off x="531925" y="1389887"/>
            <a:ext cx="4847019" cy="4247773"/>
            <a:chOff x="531925" y="1389887"/>
            <a:chExt cx="4847019" cy="4247773"/>
          </a:xfrm>
        </p:grpSpPr>
        <p:sp>
          <p:nvSpPr>
            <p:cNvPr id="9" name="Shape 6"/>
            <p:cNvSpPr/>
            <p:nvPr/>
          </p:nvSpPr>
          <p:spPr>
            <a:xfrm>
              <a:off x="531925" y="1389887"/>
              <a:ext cx="4847019" cy="4247773"/>
            </a:xfrm>
            <a:prstGeom prst="roundRect">
              <a:avLst>
                <a:gd name="adj" fmla="val 2051"/>
              </a:avLst>
            </a:prstGeom>
            <a:solidFill>
              <a:schemeClr val="tx1">
                <a:lumMod val="95000"/>
                <a:lumOff val="5000"/>
              </a:schemeClr>
            </a:solidFill>
            <a:ln w="22225">
              <a:gradFill flip="none" rotWithShape="1">
                <a:gsLst>
                  <a:gs pos="0">
                    <a:srgbClr val="FF0000"/>
                  </a:gs>
                  <a:gs pos="51000">
                    <a:srgbClr val="FF5B5B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1187394" y="1493077"/>
              <a:ext cx="4070405" cy="37584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chemeClr val="bg1"/>
                  </a:solidFill>
                </a:rPr>
                <a:t>Exemple : contrôle des volumes après chargement</a:t>
              </a:r>
            </a:p>
          </p:txBody>
        </p:sp>
      </p:grpSp>
      <p:grpSp>
        <p:nvGrpSpPr>
          <p:cNvPr id="27" name="bloc contrôles réalisés">
            <a:extLst>
              <a:ext uri="{FF2B5EF4-FFF2-40B4-BE49-F238E27FC236}">
                <a16:creationId xmlns:a16="http://schemas.microsoft.com/office/drawing/2014/main" id="{96FB5F8B-1083-BEB6-74FA-1E558CC8A835}"/>
              </a:ext>
            </a:extLst>
          </p:cNvPr>
          <p:cNvGrpSpPr/>
          <p:nvPr/>
        </p:nvGrpSpPr>
        <p:grpSpPr>
          <a:xfrm>
            <a:off x="5698285" y="1389887"/>
            <a:ext cx="5731715" cy="2150598"/>
            <a:chOff x="5698285" y="1492439"/>
            <a:chExt cx="5731715" cy="2046794"/>
          </a:xfrm>
        </p:grpSpPr>
        <p:sp>
          <p:nvSpPr>
            <p:cNvPr id="12" name="Shape 8"/>
            <p:cNvSpPr/>
            <p:nvPr/>
          </p:nvSpPr>
          <p:spPr>
            <a:xfrm>
              <a:off x="5698285" y="1492439"/>
              <a:ext cx="5731715" cy="2043354"/>
            </a:xfrm>
            <a:prstGeom prst="roundRect">
              <a:avLst>
                <a:gd name="adj" fmla="val 2051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E20044"/>
                  </a:gs>
                  <a:gs pos="51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3" name="Text 9"/>
            <p:cNvSpPr/>
            <p:nvPr/>
          </p:nvSpPr>
          <p:spPr>
            <a:xfrm>
              <a:off x="6240239" y="1590648"/>
              <a:ext cx="2949481" cy="3422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17252A"/>
                  </a:solidFill>
                </a:rPr>
                <a:t>Contrôles réalisés</a:t>
              </a:r>
              <a:endParaRPr lang="en-US" sz="170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6579909" y="2049865"/>
              <a:ext cx="4737020" cy="1025590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t">
              <a:noAutofit/>
            </a:bodyPr>
            <a:lstStyle/>
            <a:p>
              <a:pPr>
                <a:lnSpc>
                  <a:spcPct val="150000"/>
                </a:lnSpc>
                <a:buSzPct val="150000"/>
              </a:pPr>
              <a:r>
                <a:rPr lang="en-US" sz="105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Volumes par table : joueur, équipe, performance, temps de jeu, xG, progression.</a:t>
              </a:r>
              <a:endParaRPr lang="en-US" sz="1050" dirty="0"/>
            </a:p>
            <a:p>
              <a:pPr>
                <a:lnSpc>
                  <a:spcPct val="150000"/>
                </a:lnSpc>
              </a:pPr>
              <a:r>
                <a:rPr lang="en-US" sz="105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Validité des jointures entre tables métier.</a:t>
              </a:r>
              <a:endParaRPr lang="en-US" sz="1050" dirty="0"/>
            </a:p>
            <a:p>
              <a:pPr>
                <a:lnSpc>
                  <a:spcPct val="150000"/>
                </a:lnSpc>
              </a:pPr>
              <a:r>
                <a:rPr lang="en-US" sz="105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Division sécurisée avec NULLIF dans les ratios.</a:t>
              </a:r>
              <a:endParaRPr lang="en-US" sz="1050" dirty="0"/>
            </a:p>
            <a:p>
              <a:pPr>
                <a:lnSpc>
                  <a:spcPct val="150000"/>
                </a:lnSpc>
              </a:pPr>
              <a:r>
                <a:rPr lang="en-US" sz="105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Comparaison brut vs consolidé pour mesurer l’impact des doublons.</a:t>
              </a:r>
              <a:endParaRPr lang="en-US" sz="1050" dirty="0"/>
            </a:p>
          </p:txBody>
        </p:sp>
        <p:sp>
          <p:nvSpPr>
            <p:cNvPr id="15" name="Text 11"/>
            <p:cNvSpPr/>
            <p:nvPr/>
          </p:nvSpPr>
          <p:spPr>
            <a:xfrm>
              <a:off x="6213809" y="3031419"/>
              <a:ext cx="5018771" cy="507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2E7D32"/>
                  </a:solidFill>
                </a:rPr>
                <a:t>Les contrôles limitent le risque d’analyse faussée par un mauvais import ou des valeurs incohérentes.</a:t>
              </a:r>
              <a:endParaRPr lang="en-US" sz="1100" dirty="0"/>
            </a:p>
          </p:txBody>
        </p:sp>
      </p:grpSp>
      <p:grpSp>
        <p:nvGrpSpPr>
          <p:cNvPr id="28" name="bloc résultat">
            <a:extLst>
              <a:ext uri="{FF2B5EF4-FFF2-40B4-BE49-F238E27FC236}">
                <a16:creationId xmlns:a16="http://schemas.microsoft.com/office/drawing/2014/main" id="{17A1AA5D-E03F-443B-676B-4ECED36C2B29}"/>
              </a:ext>
            </a:extLst>
          </p:cNvPr>
          <p:cNvGrpSpPr/>
          <p:nvPr/>
        </p:nvGrpSpPr>
        <p:grpSpPr>
          <a:xfrm>
            <a:off x="5698285" y="3705830"/>
            <a:ext cx="5731715" cy="2575346"/>
            <a:chOff x="5698285" y="3694560"/>
            <a:chExt cx="5731715" cy="2269297"/>
          </a:xfrm>
        </p:grpSpPr>
        <p:sp>
          <p:nvSpPr>
            <p:cNvPr id="20" name="Shape 8">
              <a:extLst>
                <a:ext uri="{FF2B5EF4-FFF2-40B4-BE49-F238E27FC236}">
                  <a16:creationId xmlns:a16="http://schemas.microsoft.com/office/drawing/2014/main" id="{53E4B3FB-C690-B672-913A-131947B76521}"/>
                </a:ext>
              </a:extLst>
            </p:cNvPr>
            <p:cNvSpPr/>
            <p:nvPr/>
          </p:nvSpPr>
          <p:spPr>
            <a:xfrm>
              <a:off x="5698285" y="3694560"/>
              <a:ext cx="5731715" cy="2269297"/>
            </a:xfrm>
            <a:prstGeom prst="roundRect">
              <a:avLst>
                <a:gd name="adj" fmla="val 2051"/>
              </a:avLst>
            </a:prstGeom>
            <a:solidFill>
              <a:schemeClr val="tx1">
                <a:lumMod val="95000"/>
                <a:lumOff val="5000"/>
              </a:schemeClr>
            </a:solidFill>
            <a:ln w="22225">
              <a:gradFill flip="none" rotWithShape="1">
                <a:gsLst>
                  <a:gs pos="0">
                    <a:srgbClr val="FF0000"/>
                  </a:gs>
                  <a:gs pos="51000">
                    <a:srgbClr val="FF5B5B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pic>
          <p:nvPicPr>
            <p:cNvPr id="19" name="Image 18">
              <a:extLst>
                <a:ext uri="{FF2B5EF4-FFF2-40B4-BE49-F238E27FC236}">
                  <a16:creationId xmlns:a16="http://schemas.microsoft.com/office/drawing/2014/main" id="{BAFC5F8B-B701-27CF-33CB-6A8EC8D09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90788" y="4189040"/>
              <a:ext cx="3571578" cy="1502607"/>
            </a:xfrm>
            <a:prstGeom prst="rect">
              <a:avLst/>
            </a:prstGeom>
          </p:spPr>
        </p:pic>
        <p:sp>
          <p:nvSpPr>
            <p:cNvPr id="22" name="Text 9">
              <a:extLst>
                <a:ext uri="{FF2B5EF4-FFF2-40B4-BE49-F238E27FC236}">
                  <a16:creationId xmlns:a16="http://schemas.microsoft.com/office/drawing/2014/main" id="{B65D3C38-0AC9-13FB-C364-5A48A778E91B}"/>
                </a:ext>
              </a:extLst>
            </p:cNvPr>
            <p:cNvSpPr/>
            <p:nvPr/>
          </p:nvSpPr>
          <p:spPr>
            <a:xfrm>
              <a:off x="6309947" y="3812990"/>
              <a:ext cx="2705450" cy="190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chemeClr val="bg1"/>
                  </a:solidFill>
                </a:rPr>
                <a:t>Résultat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5" name="Footer">
            <a:extLst>
              <a:ext uri="{FF2B5EF4-FFF2-40B4-BE49-F238E27FC236}">
                <a16:creationId xmlns:a16="http://schemas.microsoft.com/office/drawing/2014/main" id="{AB1F0855-09FD-E584-BBAF-67CFB123213E}"/>
              </a:ext>
            </a:extLst>
          </p:cNvPr>
          <p:cNvGrpSpPr/>
          <p:nvPr/>
        </p:nvGrpSpPr>
        <p:grpSpPr>
          <a:xfrm>
            <a:off x="502920" y="6446520"/>
            <a:ext cx="11155680" cy="228600"/>
            <a:chOff x="502920" y="6446520"/>
            <a:chExt cx="11155680" cy="228600"/>
          </a:xfrm>
        </p:grpSpPr>
        <p:sp>
          <p:nvSpPr>
            <p:cNvPr id="6" name="Shape 3"/>
            <p:cNvSpPr/>
            <p:nvPr/>
          </p:nvSpPr>
          <p:spPr>
            <a:xfrm>
              <a:off x="502920" y="6446520"/>
              <a:ext cx="11155680" cy="0"/>
            </a:xfrm>
            <a:prstGeom prst="line">
              <a:avLst/>
            </a:prstGeom>
            <a:noFill/>
            <a:ln w="7620">
              <a:solidFill>
                <a:srgbClr val="DCE4E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02920" y="6510528"/>
              <a:ext cx="4754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SportDataPulse · Business Intelligence Analyst</a:t>
              </a:r>
              <a:endParaRPr lang="en-US" sz="7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1201400" y="6510528"/>
              <a:ext cx="411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8</a:t>
              </a:r>
              <a:endParaRPr lang="en-US" sz="750" dirty="0"/>
            </a:p>
          </p:txBody>
        </p:sp>
      </p:grpSp>
      <p:pic>
        <p:nvPicPr>
          <p:cNvPr id="29" name="Logo image" descr="/mnt/data/assets_spdp/logo_icon.png">
            <a:extLst>
              <a:ext uri="{FF2B5EF4-FFF2-40B4-BE49-F238E27FC236}">
                <a16:creationId xmlns:a16="http://schemas.microsoft.com/office/drawing/2014/main" id="{80FD61E9-7145-C8E0-8798-CAEC12F3D1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5028002D-1CF2-C956-6358-4C8D5D0CCC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1" y="1932926"/>
            <a:ext cx="4403888" cy="3535187"/>
          </a:xfrm>
          <a:prstGeom prst="rect">
            <a:avLst/>
          </a:prstGeom>
        </p:spPr>
      </p:pic>
      <p:pic>
        <p:nvPicPr>
          <p:cNvPr id="32" name="Image 31" descr="Une image contenant tabouret&#10;&#10;Le contenu généré par l’IA peut être incorrect.">
            <a:extLst>
              <a:ext uri="{FF2B5EF4-FFF2-40B4-BE49-F238E27FC236}">
                <a16:creationId xmlns:a16="http://schemas.microsoft.com/office/drawing/2014/main" id="{C4BFA198-FFDB-2BC6-C7DA-79770405B77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1274" y="1507188"/>
            <a:ext cx="399782" cy="305414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33" name="Shape 42">
            <a:extLst>
              <a:ext uri="{FF2B5EF4-FFF2-40B4-BE49-F238E27FC236}">
                <a16:creationId xmlns:a16="http://schemas.microsoft.com/office/drawing/2014/main" id="{85534DCA-C4C5-F2FA-C324-9CF7A16352BC}"/>
              </a:ext>
            </a:extLst>
          </p:cNvPr>
          <p:cNvSpPr/>
          <p:nvPr/>
        </p:nvSpPr>
        <p:spPr>
          <a:xfrm>
            <a:off x="547941" y="5808644"/>
            <a:ext cx="4847019" cy="446587"/>
          </a:xfrm>
          <a:prstGeom prst="roundRect">
            <a:avLst>
              <a:gd name="adj" fmla="val 14706"/>
            </a:avLst>
          </a:prstGeom>
          <a:solidFill>
            <a:srgbClr val="0F5B7F">
              <a:alpha val="10000"/>
            </a:srgbClr>
          </a:solidFill>
          <a:ln w="12700">
            <a:solidFill>
              <a:srgbClr val="0F5B7F"/>
            </a:solidFill>
            <a:prstDash val="solid"/>
          </a:ln>
        </p:spPr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6E1F4496-2F6F-8815-867D-4ACF53E82005}"/>
              </a:ext>
            </a:extLst>
          </p:cNvPr>
          <p:cNvSpPr txBox="1"/>
          <p:nvPr/>
        </p:nvSpPr>
        <p:spPr>
          <a:xfrm>
            <a:off x="1018095" y="5828949"/>
            <a:ext cx="4147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/>
              <a:t>Ces contrôles confirment que la base contient les joueurs, équipes et statistiques nécessaires avant de produire les indicateurs métier</a:t>
            </a:r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E34D40EC-49F8-A36E-8135-3E8F993176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274" y="5867906"/>
            <a:ext cx="304843" cy="304843"/>
          </a:xfrm>
          <a:prstGeom prst="rect">
            <a:avLst/>
          </a:prstGeom>
        </p:spPr>
      </p:pic>
      <p:pic>
        <p:nvPicPr>
          <p:cNvPr id="38" name="Image 37" descr="Une image contenant logo, blanc, Graphique, Police&#10;&#10;Le contenu généré par l’IA peut être incorrect.">
            <a:extLst>
              <a:ext uri="{FF2B5EF4-FFF2-40B4-BE49-F238E27FC236}">
                <a16:creationId xmlns:a16="http://schemas.microsoft.com/office/drawing/2014/main" id="{B9FE90F7-FD27-2E71-5A44-50264C6DE7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0787" y="3812227"/>
            <a:ext cx="306000" cy="306000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42" name="Cercle : creux 41">
            <a:extLst>
              <a:ext uri="{FF2B5EF4-FFF2-40B4-BE49-F238E27FC236}">
                <a16:creationId xmlns:a16="http://schemas.microsoft.com/office/drawing/2014/main" id="{9581FC77-7FF6-0CE4-1B94-B3D040643644}"/>
              </a:ext>
            </a:extLst>
          </p:cNvPr>
          <p:cNvSpPr/>
          <p:nvPr/>
        </p:nvSpPr>
        <p:spPr>
          <a:xfrm>
            <a:off x="9816980" y="4266997"/>
            <a:ext cx="1265548" cy="1265548"/>
          </a:xfrm>
          <a:prstGeom prst="donut">
            <a:avLst>
              <a:gd name="adj" fmla="val 8328"/>
            </a:avLst>
          </a:prstGeom>
          <a:solidFill>
            <a:srgbClr val="2E7D32"/>
          </a:solidFill>
          <a:ln w="3175">
            <a:gradFill flip="none" rotWithShape="1">
              <a:gsLst>
                <a:gs pos="100000">
                  <a:schemeClr val="bg1"/>
                </a:gs>
                <a:gs pos="0">
                  <a:schemeClr val="bg1">
                    <a:lumMod val="85000"/>
                    <a:alpha val="38000"/>
                  </a:schemeClr>
                </a:gs>
              </a:gsLst>
              <a:lin ang="2700000" scaled="1"/>
              <a:tileRect/>
            </a:gradFill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6B0397-2B91-C413-EEA9-93B0E9650596}"/>
              </a:ext>
            </a:extLst>
          </p:cNvPr>
          <p:cNvSpPr/>
          <p:nvPr/>
        </p:nvSpPr>
        <p:spPr>
          <a:xfrm rot="2343911">
            <a:off x="10809028" y="5247390"/>
            <a:ext cx="159307" cy="92881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38100" dist="50800" dir="8100000" sx="102000" sy="102000" algn="tr" rotWithShape="0">
              <a:prstClr val="black">
                <a:alpha val="7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702038AE-E200-3C44-D92E-DEE1B1A72C6C}"/>
              </a:ext>
            </a:extLst>
          </p:cNvPr>
          <p:cNvSpPr txBox="1"/>
          <p:nvPr/>
        </p:nvSpPr>
        <p:spPr>
          <a:xfrm>
            <a:off x="9816980" y="4487748"/>
            <a:ext cx="12655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551</a:t>
            </a:r>
          </a:p>
          <a:p>
            <a:pPr algn="ctr"/>
            <a:r>
              <a:rPr lang="fr-FR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Joueurs</a:t>
            </a:r>
          </a:p>
          <a:p>
            <a:pPr algn="ctr"/>
            <a:r>
              <a:rPr lang="fr-FR" sz="10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confirmés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E0C5BB7A-6622-0BD9-6769-B938CB88F74D}"/>
              </a:ext>
            </a:extLst>
          </p:cNvPr>
          <p:cNvSpPr txBox="1">
            <a:spLocks/>
          </p:cNvSpPr>
          <p:nvPr/>
        </p:nvSpPr>
        <p:spPr>
          <a:xfrm>
            <a:off x="10045121" y="5598117"/>
            <a:ext cx="12718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Base prête pour les analyses SQL</a:t>
            </a:r>
            <a:endParaRPr kumimoji="0" lang="fr-FR" sz="10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6" name="Image 45" descr="Une image contenant symbole, Graphique, logo, Police&#10;&#10;Le contenu généré par l’IA peut être incorrect.">
            <a:extLst>
              <a:ext uri="{FF2B5EF4-FFF2-40B4-BE49-F238E27FC236}">
                <a16:creationId xmlns:a16="http://schemas.microsoft.com/office/drawing/2014/main" id="{802C8EBB-6B4F-F7EF-B51F-0A3FE9A456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85121" y="5637660"/>
            <a:ext cx="360000" cy="360000"/>
          </a:xfrm>
          <a:prstGeom prst="rect">
            <a:avLst/>
          </a:prstGeom>
        </p:spPr>
      </p:pic>
      <p:pic>
        <p:nvPicPr>
          <p:cNvPr id="49" name="Image 48" descr="Une image contenant symbole, Graphique, logo, rouge&#10;&#10;Le contenu généré par l’IA peut être incorrect.">
            <a:extLst>
              <a:ext uri="{FF2B5EF4-FFF2-40B4-BE49-F238E27FC236}">
                <a16:creationId xmlns:a16="http://schemas.microsoft.com/office/drawing/2014/main" id="{86166534-B9F6-5702-512D-BEC023D494A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8176" y="1507188"/>
            <a:ext cx="399869" cy="399869"/>
          </a:xfrm>
          <a:prstGeom prst="rect">
            <a:avLst/>
          </a:prstGeom>
        </p:spPr>
      </p:pic>
      <p:pic>
        <p:nvPicPr>
          <p:cNvPr id="50" name="Image 49" descr="Une image contenant tabouret&#10;&#10;Le contenu généré par l’IA peut être incorrect.">
            <a:extLst>
              <a:ext uri="{FF2B5EF4-FFF2-40B4-BE49-F238E27FC236}">
                <a16:creationId xmlns:a16="http://schemas.microsoft.com/office/drawing/2014/main" id="{E57FCD45-67D3-0AEA-0207-70BF4EFCC96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3809" y="2035813"/>
            <a:ext cx="235618" cy="180000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52" name="Image 51">
            <a:extLst>
              <a:ext uri="{FF2B5EF4-FFF2-40B4-BE49-F238E27FC236}">
                <a16:creationId xmlns:a16="http://schemas.microsoft.com/office/drawing/2014/main" id="{C7C33C0F-8868-CE10-4563-53EAB42D9A6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40239" y="2268695"/>
            <a:ext cx="180000" cy="180000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E9D4CB11-BF9C-5A4E-A9C0-FAB8777C949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23473" y="2503512"/>
            <a:ext cx="180000" cy="180000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56" name="Image 55">
            <a:extLst>
              <a:ext uri="{FF2B5EF4-FFF2-40B4-BE49-F238E27FC236}">
                <a16:creationId xmlns:a16="http://schemas.microsoft.com/office/drawing/2014/main" id="{27FBC8B0-5A79-31AF-BCF9-4D3072AD6DF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32162" y="2739152"/>
            <a:ext cx="180000" cy="180000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57" name="Image 56" descr="Une image contenant symbole, Graphique, logo, Police&#10;&#10;Le contenu généré par l’IA peut être incorrect.">
            <a:extLst>
              <a:ext uri="{FF2B5EF4-FFF2-40B4-BE49-F238E27FC236}">
                <a16:creationId xmlns:a16="http://schemas.microsoft.com/office/drawing/2014/main" id="{07E67B2C-66B7-DC13-5084-498DC302F5C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8110" y="3177288"/>
            <a:ext cx="180000" cy="180000"/>
          </a:xfrm>
          <a:prstGeom prst="rect">
            <a:avLst/>
          </a:prstGeom>
        </p:spPr>
      </p:pic>
      <p:sp>
        <p:nvSpPr>
          <p:cNvPr id="58" name="Shape 2">
            <a:extLst>
              <a:ext uri="{FF2B5EF4-FFF2-40B4-BE49-F238E27FC236}">
                <a16:creationId xmlns:a16="http://schemas.microsoft.com/office/drawing/2014/main" id="{98A6BAA8-720E-6849-7215-F2F2B4BE0BB2}"/>
              </a:ext>
            </a:extLst>
          </p:cNvPr>
          <p:cNvSpPr/>
          <p:nvPr/>
        </p:nvSpPr>
        <p:spPr>
          <a:xfrm flipV="1">
            <a:off x="6223474" y="1882374"/>
            <a:ext cx="1801940" cy="0"/>
          </a:xfrm>
          <a:prstGeom prst="line">
            <a:avLst/>
          </a:prstGeom>
          <a:noFill/>
          <a:ln w="38100">
            <a:solidFill>
              <a:srgbClr val="E2004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6901C137-E557-FCD3-DE44-3650A60365A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Contrôles de cohérence des données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Header">
            <a:extLst>
              <a:ext uri="{FF2B5EF4-FFF2-40B4-BE49-F238E27FC236}">
                <a16:creationId xmlns:a16="http://schemas.microsoft.com/office/drawing/2014/main" id="{9074ABFB-4140-74C2-27D3-03C31F48B072}"/>
              </a:ext>
            </a:extLst>
          </p:cNvPr>
          <p:cNvGrpSpPr/>
          <p:nvPr/>
        </p:nvGrpSpPr>
        <p:grpSpPr>
          <a:xfrm>
            <a:off x="502920" y="329184"/>
            <a:ext cx="9784080" cy="795528"/>
            <a:chOff x="502920" y="329184"/>
            <a:chExt cx="9784080" cy="795528"/>
          </a:xfrm>
        </p:grpSpPr>
        <p:sp>
          <p:nvSpPr>
            <p:cNvPr id="2" name="Text 0"/>
            <p:cNvSpPr/>
            <p:nvPr/>
          </p:nvSpPr>
          <p:spPr>
            <a:xfrm>
              <a:off x="502920" y="329184"/>
              <a:ext cx="9784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17252A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Données brutes vs vue consolidée</a:t>
              </a:r>
              <a:endParaRPr lang="en-US" sz="25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530352" y="768096"/>
              <a:ext cx="7132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607D8B"/>
                  </a:solidFill>
                </a:rPr>
                <a:t>Mesurer l’impact des doublons fonctionnels sur les analyses</a:t>
              </a:r>
              <a:endParaRPr lang="en-US" sz="1100" dirty="0"/>
            </a:p>
          </p:txBody>
        </p:sp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6226294F-4E5F-7020-E191-03716CE52CBB}"/>
                </a:ext>
              </a:extLst>
            </p:cNvPr>
            <p:cNvSpPr/>
            <p:nvPr/>
          </p:nvSpPr>
          <p:spPr>
            <a:xfrm>
              <a:off x="502920" y="1124712"/>
              <a:ext cx="2148840" cy="0"/>
            </a:xfrm>
            <a:prstGeom prst="line">
              <a:avLst/>
            </a:prstGeom>
            <a:noFill/>
            <a:ln w="38100">
              <a:solidFill>
                <a:srgbClr val="E20044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</p:grpSp>
      <p:grpSp>
        <p:nvGrpSpPr>
          <p:cNvPr id="27" name="bloc approche 1">
            <a:extLst>
              <a:ext uri="{FF2B5EF4-FFF2-40B4-BE49-F238E27FC236}">
                <a16:creationId xmlns:a16="http://schemas.microsoft.com/office/drawing/2014/main" id="{4112094E-D8F4-B8A9-7478-B51437DACE56}"/>
              </a:ext>
            </a:extLst>
          </p:cNvPr>
          <p:cNvGrpSpPr/>
          <p:nvPr/>
        </p:nvGrpSpPr>
        <p:grpSpPr>
          <a:xfrm>
            <a:off x="411480" y="1647393"/>
            <a:ext cx="3246120" cy="4385749"/>
            <a:chOff x="685800" y="1647393"/>
            <a:chExt cx="3246120" cy="4385749"/>
          </a:xfrm>
        </p:grpSpPr>
        <p:sp>
          <p:nvSpPr>
            <p:cNvPr id="9" name="Shape 6"/>
            <p:cNvSpPr/>
            <p:nvPr/>
          </p:nvSpPr>
          <p:spPr>
            <a:xfrm>
              <a:off x="685800" y="1647393"/>
              <a:ext cx="3246120" cy="4385749"/>
            </a:xfrm>
            <a:prstGeom prst="roundRect">
              <a:avLst>
                <a:gd name="adj" fmla="val 2254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E20044"/>
                  </a:gs>
                  <a:gs pos="51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0" name="Text 7"/>
            <p:cNvSpPr/>
            <p:nvPr/>
          </p:nvSpPr>
          <p:spPr>
            <a:xfrm>
              <a:off x="1417318" y="1647399"/>
              <a:ext cx="2148841" cy="804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E20044"/>
                  </a:solidFill>
                </a:rPr>
                <a:t>Approche 1</a:t>
              </a:r>
              <a:endParaRPr lang="en-US" sz="1700" dirty="0"/>
            </a:p>
            <a:p>
              <a:pPr marL="0" indent="0">
                <a:buNone/>
              </a:pPr>
              <a:r>
                <a:rPr lang="en-US" sz="1700" b="1" dirty="0">
                  <a:solidFill>
                    <a:srgbClr val="E20044"/>
                  </a:solidFill>
                </a:rPr>
                <a:t>Données brutes</a:t>
              </a:r>
              <a:endParaRPr lang="en-US" sz="1700" dirty="0"/>
            </a:p>
          </p:txBody>
        </p:sp>
        <p:sp>
          <p:nvSpPr>
            <p:cNvPr id="11" name="liste approche 1"/>
            <p:cNvSpPr/>
            <p:nvPr/>
          </p:nvSpPr>
          <p:spPr>
            <a:xfrm>
              <a:off x="1033848" y="2847803"/>
              <a:ext cx="2743200" cy="1188720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Fidèles à la source.</a:t>
              </a:r>
              <a:endParaRPr lang="en-US" sz="1200" dirty="0"/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sz="120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Alignées avec les résultats attendus.</a:t>
              </a:r>
              <a:endParaRPr lang="en-US" sz="1200" dirty="0"/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sz="120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Conservent toutes les lignes historiques.</a:t>
              </a:r>
              <a:endParaRPr lang="en-US" sz="1200" dirty="0"/>
            </a:p>
          </p:txBody>
        </p:sp>
        <p:sp>
          <p:nvSpPr>
            <p:cNvPr id="46" name="liste approche 1">
              <a:extLst>
                <a:ext uri="{FF2B5EF4-FFF2-40B4-BE49-F238E27FC236}">
                  <a16:creationId xmlns:a16="http://schemas.microsoft.com/office/drawing/2014/main" id="{E52012D5-759C-0534-392B-EEBDCA6E3766}"/>
                </a:ext>
              </a:extLst>
            </p:cNvPr>
            <p:cNvSpPr/>
            <p:nvPr/>
          </p:nvSpPr>
          <p:spPr>
            <a:xfrm>
              <a:off x="914400" y="4176076"/>
              <a:ext cx="2743200" cy="1372467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>
                <a:spcAft>
                  <a:spcPts val="600"/>
                </a:spcAft>
              </a:pPr>
              <a:r>
                <a:rPr lang="fr-FR" sz="1250" b="1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Utilisation :</a:t>
              </a:r>
            </a:p>
            <a:p>
              <a:r>
                <a:rPr lang="fr-FR" sz="120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Référence principale pour répondre aux attentes initiales et conserver une traçabilité complète.</a:t>
              </a:r>
              <a:endParaRPr lang="en-US" sz="1200" dirty="0"/>
            </a:p>
          </p:txBody>
        </p:sp>
      </p:grpSp>
      <p:grpSp>
        <p:nvGrpSpPr>
          <p:cNvPr id="28" name="bloc approche 2">
            <a:extLst>
              <a:ext uri="{FF2B5EF4-FFF2-40B4-BE49-F238E27FC236}">
                <a16:creationId xmlns:a16="http://schemas.microsoft.com/office/drawing/2014/main" id="{0D2C32F0-F963-ED25-C292-9FA19D0F1920}"/>
              </a:ext>
            </a:extLst>
          </p:cNvPr>
          <p:cNvGrpSpPr/>
          <p:nvPr/>
        </p:nvGrpSpPr>
        <p:grpSpPr>
          <a:xfrm>
            <a:off x="3952926" y="1647399"/>
            <a:ext cx="3246120" cy="4385751"/>
            <a:chOff x="4251960" y="1647393"/>
            <a:chExt cx="3246120" cy="4385751"/>
          </a:xfrm>
        </p:grpSpPr>
        <p:sp>
          <p:nvSpPr>
            <p:cNvPr id="12" name="Shape 9"/>
            <p:cNvSpPr/>
            <p:nvPr/>
          </p:nvSpPr>
          <p:spPr>
            <a:xfrm>
              <a:off x="4251960" y="1647393"/>
              <a:ext cx="3246120" cy="4385751"/>
            </a:xfrm>
            <a:prstGeom prst="roundRect">
              <a:avLst>
                <a:gd name="adj" fmla="val 2254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2E7D32"/>
                  </a:gs>
                  <a:gs pos="51000">
                    <a:srgbClr val="00B050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3" name="Text 10"/>
            <p:cNvSpPr/>
            <p:nvPr/>
          </p:nvSpPr>
          <p:spPr>
            <a:xfrm>
              <a:off x="4983480" y="1647393"/>
              <a:ext cx="2148840" cy="80467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2E7D32"/>
                  </a:solidFill>
                </a:rPr>
                <a:t>Approche 2</a:t>
              </a:r>
              <a:endParaRPr lang="en-US" sz="1700" dirty="0"/>
            </a:p>
            <a:p>
              <a:pPr marL="0" indent="0">
                <a:buNone/>
              </a:pPr>
              <a:r>
                <a:rPr lang="en-US" sz="1700" b="1" dirty="0">
                  <a:solidFill>
                    <a:srgbClr val="2E7D32"/>
                  </a:solidFill>
                </a:rPr>
                <a:t>Vue consolidée</a:t>
              </a:r>
              <a:endParaRPr lang="en-US" sz="1700" dirty="0">
                <a:solidFill>
                  <a:srgbClr val="2E7D32"/>
                </a:solidFill>
              </a:endParaRPr>
            </a:p>
          </p:txBody>
        </p:sp>
        <p:sp>
          <p:nvSpPr>
            <p:cNvPr id="14" name="liste approche 2"/>
            <p:cNvSpPr/>
            <p:nvPr/>
          </p:nvSpPr>
          <p:spPr>
            <a:xfrm>
              <a:off x="4617720" y="2933183"/>
              <a:ext cx="2713710" cy="1188720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20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Fusion logique des doublons.</a:t>
              </a:r>
              <a:endParaRPr lang="en-US" sz="1200" dirty="0"/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sz="120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Plus fiable pour les analyses par joueur.</a:t>
              </a:r>
              <a:endParaRPr lang="en-US" sz="1200" dirty="0"/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sz="120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Impact global mesuré et documenté.</a:t>
              </a:r>
              <a:endParaRPr lang="en-US" sz="1200" dirty="0"/>
            </a:p>
          </p:txBody>
        </p:sp>
        <p:sp>
          <p:nvSpPr>
            <p:cNvPr id="53" name="liste approche 2">
              <a:extLst>
                <a:ext uri="{FF2B5EF4-FFF2-40B4-BE49-F238E27FC236}">
                  <a16:creationId xmlns:a16="http://schemas.microsoft.com/office/drawing/2014/main" id="{27CC02FB-AC02-AB00-9E6A-EF4D0D993247}"/>
                </a:ext>
              </a:extLst>
            </p:cNvPr>
            <p:cNvSpPr/>
            <p:nvPr/>
          </p:nvSpPr>
          <p:spPr>
            <a:xfrm>
              <a:off x="4511668" y="4299059"/>
              <a:ext cx="2726704" cy="983657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>
                <a:spcAft>
                  <a:spcPts val="600"/>
                </a:spcAft>
              </a:pPr>
              <a:r>
                <a:rPr lang="fr-FR" sz="1250" b="1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Utilisation :</a:t>
              </a:r>
            </a:p>
            <a:p>
              <a:r>
                <a:rPr lang="fr-FR" sz="120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Contrôle qualité permettant de fiabiliser les analyses centrées sur les joueurs.</a:t>
              </a:r>
              <a:endParaRPr lang="en-US" sz="1200" dirty="0"/>
            </a:p>
          </p:txBody>
        </p:sp>
      </p:grpSp>
      <p:grpSp>
        <p:nvGrpSpPr>
          <p:cNvPr id="45" name="bloc impact">
            <a:extLst>
              <a:ext uri="{FF2B5EF4-FFF2-40B4-BE49-F238E27FC236}">
                <a16:creationId xmlns:a16="http://schemas.microsoft.com/office/drawing/2014/main" id="{7F150C2F-FB43-0AA0-705E-8C352A43DE2A}"/>
              </a:ext>
            </a:extLst>
          </p:cNvPr>
          <p:cNvGrpSpPr/>
          <p:nvPr/>
        </p:nvGrpSpPr>
        <p:grpSpPr>
          <a:xfrm>
            <a:off x="7494372" y="1647393"/>
            <a:ext cx="4164227" cy="4385757"/>
            <a:chOff x="7494372" y="1647393"/>
            <a:chExt cx="4164227" cy="4385757"/>
          </a:xfrm>
        </p:grpSpPr>
        <p:sp>
          <p:nvSpPr>
            <p:cNvPr id="33" name="Shape 9">
              <a:extLst>
                <a:ext uri="{FF2B5EF4-FFF2-40B4-BE49-F238E27FC236}">
                  <a16:creationId xmlns:a16="http://schemas.microsoft.com/office/drawing/2014/main" id="{AE738D6D-4DD5-631B-29DA-D2AB8D41BC6C}"/>
                </a:ext>
              </a:extLst>
            </p:cNvPr>
            <p:cNvSpPr/>
            <p:nvPr/>
          </p:nvSpPr>
          <p:spPr>
            <a:xfrm>
              <a:off x="7494372" y="1647393"/>
              <a:ext cx="4164227" cy="4385757"/>
            </a:xfrm>
            <a:prstGeom prst="roundRect">
              <a:avLst>
                <a:gd name="adj" fmla="val 2254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002060"/>
                  </a:gs>
                  <a:gs pos="51000">
                    <a:srgbClr val="0070C0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8" name="Text 14"/>
            <p:cNvSpPr/>
            <p:nvPr/>
          </p:nvSpPr>
          <p:spPr>
            <a:xfrm>
              <a:off x="7680055" y="4509252"/>
              <a:ext cx="3752416" cy="7463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fr-FR" sz="125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La vue consolidée réduit les doublons fonctionnels sans modifier les tables sources. Les écarts restent limités, mais la démarche renforce la fiabilité des analyses par joueur.</a:t>
              </a:r>
              <a:endParaRPr lang="en-US" sz="125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43" name="badge qualité data">
              <a:extLst>
                <a:ext uri="{FF2B5EF4-FFF2-40B4-BE49-F238E27FC236}">
                  <a16:creationId xmlns:a16="http://schemas.microsoft.com/office/drawing/2014/main" id="{8407BF14-0DA6-FFA1-C68E-ECF8B2774389}"/>
                </a:ext>
              </a:extLst>
            </p:cNvPr>
            <p:cNvGrpSpPr/>
            <p:nvPr/>
          </p:nvGrpSpPr>
          <p:grpSpPr>
            <a:xfrm>
              <a:off x="7813347" y="5435572"/>
              <a:ext cx="1552467" cy="360000"/>
              <a:chOff x="7813347" y="5435572"/>
              <a:chExt cx="1552467" cy="360000"/>
            </a:xfrm>
          </p:grpSpPr>
          <p:sp>
            <p:nvSpPr>
              <p:cNvPr id="19" name="Shape 15"/>
              <p:cNvSpPr/>
              <p:nvPr/>
            </p:nvSpPr>
            <p:spPr>
              <a:xfrm>
                <a:off x="7813347" y="5435572"/>
                <a:ext cx="1552467" cy="360000"/>
              </a:xfrm>
              <a:prstGeom prst="roundRect">
                <a:avLst>
                  <a:gd name="adj" fmla="val 15625"/>
                </a:avLst>
              </a:prstGeom>
              <a:solidFill>
                <a:srgbClr val="E20044"/>
              </a:solidFill>
              <a:ln w="12700">
                <a:solidFill>
                  <a:srgbClr val="E20044">
                    <a:alpha val="0"/>
                  </a:srgbClr>
                </a:solidFill>
                <a:prstDash val="solid"/>
              </a:ln>
            </p:spPr>
          </p:sp>
          <p:sp>
            <p:nvSpPr>
              <p:cNvPr id="20" name="Text 16"/>
              <p:cNvSpPr/>
              <p:nvPr/>
            </p:nvSpPr>
            <p:spPr>
              <a:xfrm>
                <a:off x="8064343" y="5435572"/>
                <a:ext cx="1301471" cy="360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Qualité data</a:t>
                </a:r>
                <a:endParaRPr lang="en-US" sz="1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44" name="badge traçabilité">
              <a:extLst>
                <a:ext uri="{FF2B5EF4-FFF2-40B4-BE49-F238E27FC236}">
                  <a16:creationId xmlns:a16="http://schemas.microsoft.com/office/drawing/2014/main" id="{6D545727-FBCE-F30F-276A-5D317C53EB2E}"/>
                </a:ext>
              </a:extLst>
            </p:cNvPr>
            <p:cNvGrpSpPr/>
            <p:nvPr/>
          </p:nvGrpSpPr>
          <p:grpSpPr>
            <a:xfrm>
              <a:off x="9601558" y="5435572"/>
              <a:ext cx="1434259" cy="360000"/>
              <a:chOff x="9601558" y="5435572"/>
              <a:chExt cx="1434259" cy="360000"/>
            </a:xfrm>
          </p:grpSpPr>
          <p:sp>
            <p:nvSpPr>
              <p:cNvPr id="21" name="Shape 17"/>
              <p:cNvSpPr/>
              <p:nvPr/>
            </p:nvSpPr>
            <p:spPr>
              <a:xfrm>
                <a:off x="9601558" y="5435572"/>
                <a:ext cx="1434259" cy="360000"/>
              </a:xfrm>
              <a:prstGeom prst="roundRect">
                <a:avLst>
                  <a:gd name="adj" fmla="val 15625"/>
                </a:avLst>
              </a:prstGeom>
              <a:solidFill>
                <a:srgbClr val="2E7D32"/>
              </a:solidFill>
              <a:ln w="12700">
                <a:solidFill>
                  <a:srgbClr val="2E7D32">
                    <a:alpha val="0"/>
                  </a:srgbClr>
                </a:solidFill>
                <a:prstDash val="solid"/>
              </a:ln>
            </p:spPr>
          </p:sp>
          <p:sp>
            <p:nvSpPr>
              <p:cNvPr id="22" name="Text 18"/>
              <p:cNvSpPr/>
              <p:nvPr/>
            </p:nvSpPr>
            <p:spPr>
              <a:xfrm>
                <a:off x="9766169" y="5435572"/>
                <a:ext cx="1269648" cy="360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Traçabilité</a:t>
                </a:r>
                <a:endParaRPr lang="en-US" sz="1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7" name="Text 13"/>
            <p:cNvSpPr/>
            <p:nvPr/>
          </p:nvSpPr>
          <p:spPr>
            <a:xfrm>
              <a:off x="7813347" y="3326930"/>
              <a:ext cx="3619123" cy="2643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Exemple : </a:t>
              </a:r>
              <a:r>
                <a:rPr lang="fr-FR" sz="750" dirty="0">
                  <a:solidFill>
                    <a:srgbClr val="607D8B"/>
                  </a:solidFill>
                </a:rPr>
                <a:t>Contrôle du nombre de lignes : brut vs consolidé</a:t>
              </a:r>
              <a:endParaRPr lang="en-US" sz="750" dirty="0"/>
            </a:p>
          </p:txBody>
        </p:sp>
        <p:pic>
          <p:nvPicPr>
            <p:cNvPr id="39" name="Image 38">
              <a:extLst>
                <a:ext uri="{FF2B5EF4-FFF2-40B4-BE49-F238E27FC236}">
                  <a16:creationId xmlns:a16="http://schemas.microsoft.com/office/drawing/2014/main" id="{BD185B56-0B30-2F4C-B174-6853CAC8E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62673" y="2526718"/>
              <a:ext cx="3769798" cy="800212"/>
            </a:xfrm>
            <a:prstGeom prst="rect">
              <a:avLst/>
            </a:prstGeom>
          </p:spPr>
        </p:pic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92B52D07-F9FB-2BA1-371C-10FB444B6D71}"/>
                </a:ext>
              </a:extLst>
            </p:cNvPr>
            <p:cNvSpPr txBox="1"/>
            <p:nvPr/>
          </p:nvSpPr>
          <p:spPr>
            <a:xfrm>
              <a:off x="7898246" y="3535083"/>
              <a:ext cx="3473593" cy="896656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fr-FR" sz="1200" b="1" dirty="0"/>
                <a:t>551 lignes brutes</a:t>
              </a:r>
            </a:p>
            <a:p>
              <a:pPr>
                <a:lnSpc>
                  <a:spcPct val="150000"/>
                </a:lnSpc>
              </a:pPr>
              <a:r>
                <a:rPr lang="fr-FR" sz="1200" b="1" dirty="0"/>
                <a:t>541 lignes consolidées</a:t>
              </a:r>
            </a:p>
            <a:p>
              <a:pPr>
                <a:lnSpc>
                  <a:spcPct val="150000"/>
                </a:lnSpc>
              </a:pPr>
              <a:r>
                <a:rPr lang="fr-FR" sz="1200" b="1" dirty="0"/>
                <a:t>-10 lignes après fusion logique</a:t>
              </a:r>
            </a:p>
          </p:txBody>
        </p:sp>
        <p:sp>
          <p:nvSpPr>
            <p:cNvPr id="42" name="Text 10">
              <a:extLst>
                <a:ext uri="{FF2B5EF4-FFF2-40B4-BE49-F238E27FC236}">
                  <a16:creationId xmlns:a16="http://schemas.microsoft.com/office/drawing/2014/main" id="{EBEB6B9C-85A8-A18C-EE16-1075F778F43C}"/>
                </a:ext>
              </a:extLst>
            </p:cNvPr>
            <p:cNvSpPr/>
            <p:nvPr/>
          </p:nvSpPr>
          <p:spPr>
            <a:xfrm>
              <a:off x="8229600" y="1812739"/>
              <a:ext cx="3185490" cy="4635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chemeClr val="accent3">
                      <a:lumMod val="50000"/>
                    </a:schemeClr>
                  </a:solidFill>
                </a:rPr>
                <a:t>Im</a:t>
              </a:r>
              <a:r>
                <a:rPr lang="en-US" sz="1700" b="1" dirty="0">
                  <a:solidFill>
                    <a:srgbClr val="19567C"/>
                  </a:solidFill>
                </a:rPr>
                <a:t>pac</a:t>
              </a:r>
              <a:r>
                <a:rPr lang="en-US" sz="1700" b="1" dirty="0">
                  <a:solidFill>
                    <a:schemeClr val="accent3">
                      <a:lumMod val="50000"/>
                    </a:schemeClr>
                  </a:solidFill>
                </a:rPr>
                <a:t>t de la consolidation</a:t>
              </a:r>
              <a:endParaRPr lang="en-US" sz="1700" dirty="0">
                <a:solidFill>
                  <a:schemeClr val="accent3">
                    <a:lumMod val="50000"/>
                  </a:schemeClr>
                </a:solidFill>
              </a:endParaRPr>
            </a:p>
          </p:txBody>
        </p:sp>
      </p:grpSp>
      <p:grpSp>
        <p:nvGrpSpPr>
          <p:cNvPr id="25" name="Footer">
            <a:extLst>
              <a:ext uri="{FF2B5EF4-FFF2-40B4-BE49-F238E27FC236}">
                <a16:creationId xmlns:a16="http://schemas.microsoft.com/office/drawing/2014/main" id="{AA26BB98-9AC2-F697-2E45-5C780DB2A0F3}"/>
              </a:ext>
            </a:extLst>
          </p:cNvPr>
          <p:cNvGrpSpPr/>
          <p:nvPr/>
        </p:nvGrpSpPr>
        <p:grpSpPr>
          <a:xfrm>
            <a:off x="502920" y="6446520"/>
            <a:ext cx="11155680" cy="228600"/>
            <a:chOff x="502920" y="6446520"/>
            <a:chExt cx="11155680" cy="228600"/>
          </a:xfrm>
        </p:grpSpPr>
        <p:sp>
          <p:nvSpPr>
            <p:cNvPr id="6" name="Shape 3"/>
            <p:cNvSpPr/>
            <p:nvPr/>
          </p:nvSpPr>
          <p:spPr>
            <a:xfrm>
              <a:off x="502920" y="6446520"/>
              <a:ext cx="11155680" cy="0"/>
            </a:xfrm>
            <a:prstGeom prst="line">
              <a:avLst/>
            </a:prstGeom>
            <a:noFill/>
            <a:ln w="7620">
              <a:solidFill>
                <a:srgbClr val="DCE4E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02920" y="6510528"/>
              <a:ext cx="4754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SportDataPulse · Business Intelligence Analyst</a:t>
              </a:r>
              <a:endParaRPr lang="en-US" sz="7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1201400" y="6510528"/>
              <a:ext cx="411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9</a:t>
              </a:r>
              <a:endParaRPr lang="en-US" sz="750" dirty="0"/>
            </a:p>
          </p:txBody>
        </p:sp>
      </p:grpSp>
      <p:sp>
        <p:nvSpPr>
          <p:cNvPr id="47" name="Shape 2">
            <a:extLst>
              <a:ext uri="{FF2B5EF4-FFF2-40B4-BE49-F238E27FC236}">
                <a16:creationId xmlns:a16="http://schemas.microsoft.com/office/drawing/2014/main" id="{58FDF937-88B2-15E0-E12A-146E5BC74B00}"/>
              </a:ext>
            </a:extLst>
          </p:cNvPr>
          <p:cNvSpPr/>
          <p:nvPr/>
        </p:nvSpPr>
        <p:spPr>
          <a:xfrm>
            <a:off x="1142998" y="2396160"/>
            <a:ext cx="1645922" cy="0"/>
          </a:xfrm>
          <a:prstGeom prst="line">
            <a:avLst/>
          </a:prstGeom>
          <a:noFill/>
          <a:ln w="38100">
            <a:solidFill>
              <a:srgbClr val="E2004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455E52A5-5FB3-A21C-7999-928306894154}"/>
              </a:ext>
            </a:extLst>
          </p:cNvPr>
          <p:cNvSpPr/>
          <p:nvPr/>
        </p:nvSpPr>
        <p:spPr>
          <a:xfrm>
            <a:off x="4684446" y="2396160"/>
            <a:ext cx="1494412" cy="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9" name="Shape 2">
            <a:extLst>
              <a:ext uri="{FF2B5EF4-FFF2-40B4-BE49-F238E27FC236}">
                <a16:creationId xmlns:a16="http://schemas.microsoft.com/office/drawing/2014/main" id="{11C8ABFB-9B85-F738-5A35-000552A73A21}"/>
              </a:ext>
            </a:extLst>
          </p:cNvPr>
          <p:cNvSpPr/>
          <p:nvPr/>
        </p:nvSpPr>
        <p:spPr>
          <a:xfrm>
            <a:off x="8229599" y="2276286"/>
            <a:ext cx="2627791" cy="7132"/>
          </a:xfrm>
          <a:prstGeom prst="line">
            <a:avLst/>
          </a:prstGeom>
          <a:noFill/>
          <a:ln w="38100">
            <a:solidFill>
              <a:schemeClr val="accent3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pic>
        <p:nvPicPr>
          <p:cNvPr id="54" name="Logo image" descr="/mnt/data/assets_spdp/logo_icon.png">
            <a:extLst>
              <a:ext uri="{FF2B5EF4-FFF2-40B4-BE49-F238E27FC236}">
                <a16:creationId xmlns:a16="http://schemas.microsoft.com/office/drawing/2014/main" id="{4656D18C-B2CB-EB9C-69AE-D666313A78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55" name="Shape 42">
            <a:extLst>
              <a:ext uri="{FF2B5EF4-FFF2-40B4-BE49-F238E27FC236}">
                <a16:creationId xmlns:a16="http://schemas.microsoft.com/office/drawing/2014/main" id="{F03F1FBF-F287-A81A-38B2-6415520C2BCD}"/>
              </a:ext>
            </a:extLst>
          </p:cNvPr>
          <p:cNvSpPr/>
          <p:nvPr/>
        </p:nvSpPr>
        <p:spPr>
          <a:xfrm>
            <a:off x="530352" y="1797732"/>
            <a:ext cx="504000" cy="504000"/>
          </a:xfrm>
          <a:prstGeom prst="roundRect">
            <a:avLst/>
          </a:prstGeom>
          <a:solidFill>
            <a:srgbClr val="E20044">
              <a:alpha val="10000"/>
            </a:srgbClr>
          </a:solidFill>
          <a:ln w="12700">
            <a:solidFill>
              <a:srgbClr val="E20044"/>
            </a:solidFill>
            <a:prstDash val="solid"/>
          </a:ln>
        </p:spPr>
      </p:sp>
      <p:sp>
        <p:nvSpPr>
          <p:cNvPr id="56" name="Shape 42">
            <a:extLst>
              <a:ext uri="{FF2B5EF4-FFF2-40B4-BE49-F238E27FC236}">
                <a16:creationId xmlns:a16="http://schemas.microsoft.com/office/drawing/2014/main" id="{85729542-4673-F79D-7301-138CBE93C610}"/>
              </a:ext>
            </a:extLst>
          </p:cNvPr>
          <p:cNvSpPr/>
          <p:nvPr/>
        </p:nvSpPr>
        <p:spPr>
          <a:xfrm>
            <a:off x="4080107" y="1805799"/>
            <a:ext cx="504000" cy="504000"/>
          </a:xfrm>
          <a:prstGeom prst="roundRect">
            <a:avLst/>
          </a:prstGeom>
          <a:solidFill>
            <a:srgbClr val="00B050">
              <a:alpha val="10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7" name="Shape 42">
            <a:extLst>
              <a:ext uri="{FF2B5EF4-FFF2-40B4-BE49-F238E27FC236}">
                <a16:creationId xmlns:a16="http://schemas.microsoft.com/office/drawing/2014/main" id="{924DD484-940A-4EE5-7487-81C96BDA3FD3}"/>
              </a:ext>
            </a:extLst>
          </p:cNvPr>
          <p:cNvSpPr/>
          <p:nvPr/>
        </p:nvSpPr>
        <p:spPr>
          <a:xfrm>
            <a:off x="7631748" y="1805608"/>
            <a:ext cx="504000" cy="477810"/>
          </a:xfrm>
          <a:prstGeom prst="roundRect">
            <a:avLst/>
          </a:prstGeom>
          <a:solidFill>
            <a:srgbClr val="0F5B7F">
              <a:alpha val="10000"/>
            </a:srgbClr>
          </a:solidFill>
          <a:ln w="12700">
            <a:solidFill>
              <a:srgbClr val="0F5B7F"/>
            </a:solidFill>
            <a:prstDash val="solid"/>
          </a:ln>
        </p:spPr>
      </p:sp>
      <p:pic>
        <p:nvPicPr>
          <p:cNvPr id="59" name="Image 58" descr="Une image contenant tabouret&#10;&#10;Le contenu généré par l’IA peut être incorrect.">
            <a:extLst>
              <a:ext uri="{FF2B5EF4-FFF2-40B4-BE49-F238E27FC236}">
                <a16:creationId xmlns:a16="http://schemas.microsoft.com/office/drawing/2014/main" id="{72E543EE-1F3B-D515-1A01-555BA677F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583" y="1843884"/>
            <a:ext cx="525240" cy="401258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61" name="Image 60" descr="Une image contenant lign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79193A8F-9AEA-6E3B-91DB-9AE2F216EA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9719" y="1887209"/>
            <a:ext cx="357933" cy="357933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63" name="Image 62" descr="Une image contenant capture d’écran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784885B0-F203-F9DA-A65F-B6C08E3EF7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5360" y="1862765"/>
            <a:ext cx="358983" cy="358983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64" name="Image 63">
            <a:extLst>
              <a:ext uri="{FF2B5EF4-FFF2-40B4-BE49-F238E27FC236}">
                <a16:creationId xmlns:a16="http://schemas.microsoft.com/office/drawing/2014/main" id="{5F1411D1-2B0E-F3AD-CBD2-FF82E4DDC3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8876" y="5506295"/>
            <a:ext cx="219005" cy="219005"/>
          </a:xfrm>
          <a:prstGeom prst="rect">
            <a:avLst/>
          </a:prstGeom>
        </p:spPr>
      </p:pic>
      <p:pic>
        <p:nvPicPr>
          <p:cNvPr id="66" name="Image 65">
            <a:extLst>
              <a:ext uri="{FF2B5EF4-FFF2-40B4-BE49-F238E27FC236}">
                <a16:creationId xmlns:a16="http://schemas.microsoft.com/office/drawing/2014/main" id="{E13F39F9-4DCF-5792-11BA-2B977F4F0F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2617" y="5505844"/>
            <a:ext cx="219456" cy="219456"/>
          </a:xfrm>
          <a:prstGeom prst="rect">
            <a:avLst/>
          </a:prstGeom>
        </p:spPr>
      </p:pic>
      <p:sp>
        <p:nvSpPr>
          <p:cNvPr id="4" name="Ellipse 3">
            <a:extLst>
              <a:ext uri="{FF2B5EF4-FFF2-40B4-BE49-F238E27FC236}">
                <a16:creationId xmlns:a16="http://schemas.microsoft.com/office/drawing/2014/main" id="{1A803049-CF51-B19C-8B11-2CC6A8589E14}"/>
              </a:ext>
            </a:extLst>
          </p:cNvPr>
          <p:cNvSpPr/>
          <p:nvPr/>
        </p:nvSpPr>
        <p:spPr>
          <a:xfrm>
            <a:off x="604656" y="3104150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9687332D-7BB9-510B-51FA-D7BC2694D10D}"/>
              </a:ext>
            </a:extLst>
          </p:cNvPr>
          <p:cNvSpPr/>
          <p:nvPr/>
        </p:nvSpPr>
        <p:spPr>
          <a:xfrm>
            <a:off x="604656" y="3447525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C5C03295-415A-A27A-81F8-6C4D2106C058}"/>
              </a:ext>
            </a:extLst>
          </p:cNvPr>
          <p:cNvSpPr/>
          <p:nvPr/>
        </p:nvSpPr>
        <p:spPr>
          <a:xfrm>
            <a:off x="604656" y="3790900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61EE75C1-67CF-3C64-B352-8686DA8EA713}"/>
              </a:ext>
            </a:extLst>
          </p:cNvPr>
          <p:cNvSpPr/>
          <p:nvPr/>
        </p:nvSpPr>
        <p:spPr>
          <a:xfrm>
            <a:off x="4162536" y="3158823"/>
            <a:ext cx="72000" cy="72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AB6E72B-2A21-CEE3-89EE-E86FDD49494C}"/>
              </a:ext>
            </a:extLst>
          </p:cNvPr>
          <p:cNvSpPr/>
          <p:nvPr/>
        </p:nvSpPr>
        <p:spPr>
          <a:xfrm>
            <a:off x="4162536" y="3527549"/>
            <a:ext cx="72000" cy="72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2AEC5BF4-FF8C-4EF0-7020-137CAE73A5D6}"/>
              </a:ext>
            </a:extLst>
          </p:cNvPr>
          <p:cNvSpPr/>
          <p:nvPr/>
        </p:nvSpPr>
        <p:spPr>
          <a:xfrm>
            <a:off x="4162536" y="3867994"/>
            <a:ext cx="72000" cy="720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5F50C2A1-8155-EFD9-DDA1-99BA8DA34E9B}"/>
              </a:ext>
            </a:extLst>
          </p:cNvPr>
          <p:cNvSpPr/>
          <p:nvPr/>
        </p:nvSpPr>
        <p:spPr>
          <a:xfrm>
            <a:off x="7690624" y="3703834"/>
            <a:ext cx="72000" cy="72000"/>
          </a:xfrm>
          <a:prstGeom prst="ellipse">
            <a:avLst/>
          </a:prstGeom>
          <a:solidFill>
            <a:srgbClr val="0F5B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503DBCC6-C385-18FC-602C-6CDFBA668374}"/>
              </a:ext>
            </a:extLst>
          </p:cNvPr>
          <p:cNvSpPr/>
          <p:nvPr/>
        </p:nvSpPr>
        <p:spPr>
          <a:xfrm>
            <a:off x="7690624" y="3982462"/>
            <a:ext cx="72000" cy="72000"/>
          </a:xfrm>
          <a:prstGeom prst="ellipse">
            <a:avLst/>
          </a:prstGeom>
          <a:solidFill>
            <a:srgbClr val="0F5B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1BA89C66-FAA2-A942-D2CF-B23D8AA85E35}"/>
              </a:ext>
            </a:extLst>
          </p:cNvPr>
          <p:cNvSpPr/>
          <p:nvPr/>
        </p:nvSpPr>
        <p:spPr>
          <a:xfrm>
            <a:off x="7702005" y="4261091"/>
            <a:ext cx="72000" cy="72000"/>
          </a:xfrm>
          <a:prstGeom prst="ellipse">
            <a:avLst/>
          </a:prstGeom>
          <a:solidFill>
            <a:srgbClr val="0F5B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Titre 33">
            <a:extLst>
              <a:ext uri="{FF2B5EF4-FFF2-40B4-BE49-F238E27FC236}">
                <a16:creationId xmlns:a16="http://schemas.microsoft.com/office/drawing/2014/main" id="{18F563A6-EDCD-FE20-F5DE-4003651FA35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Données brutes vs vue consolidée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Header">
            <a:extLst>
              <a:ext uri="{FF2B5EF4-FFF2-40B4-BE49-F238E27FC236}">
                <a16:creationId xmlns:a16="http://schemas.microsoft.com/office/drawing/2014/main" id="{8D301283-1A5C-27DF-D66C-817CE63039FC}"/>
              </a:ext>
            </a:extLst>
          </p:cNvPr>
          <p:cNvGrpSpPr/>
          <p:nvPr/>
        </p:nvGrpSpPr>
        <p:grpSpPr>
          <a:xfrm>
            <a:off x="502920" y="329184"/>
            <a:ext cx="9784080" cy="795528"/>
            <a:chOff x="502920" y="329184"/>
            <a:chExt cx="9784080" cy="795528"/>
          </a:xfrm>
        </p:grpSpPr>
        <p:sp>
          <p:nvSpPr>
            <p:cNvPr id="2" name="Text 0"/>
            <p:cNvSpPr/>
            <p:nvPr/>
          </p:nvSpPr>
          <p:spPr>
            <a:xfrm>
              <a:off x="502920" y="329184"/>
              <a:ext cx="9784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17252A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Requêtes SQL : méthode et exemple</a:t>
              </a:r>
              <a:endParaRPr lang="en-US" sz="25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530352" y="768096"/>
              <a:ext cx="7132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607D8B"/>
                  </a:solidFill>
                </a:rPr>
                <a:t>Passer d’une question métier à un résultat SQL exploitable</a:t>
              </a:r>
              <a:endParaRPr lang="en-US" sz="1100" dirty="0"/>
            </a:p>
          </p:txBody>
        </p:sp>
        <p:sp>
          <p:nvSpPr>
            <p:cNvPr id="12" name="Shape 2">
              <a:extLst>
                <a:ext uri="{FF2B5EF4-FFF2-40B4-BE49-F238E27FC236}">
                  <a16:creationId xmlns:a16="http://schemas.microsoft.com/office/drawing/2014/main" id="{EE0FC178-C81A-CE0A-E1F7-71ADF1C4C1A3}"/>
                </a:ext>
              </a:extLst>
            </p:cNvPr>
            <p:cNvSpPr/>
            <p:nvPr/>
          </p:nvSpPr>
          <p:spPr>
            <a:xfrm>
              <a:off x="502920" y="1124712"/>
              <a:ext cx="2148840" cy="0"/>
            </a:xfrm>
            <a:prstGeom prst="line">
              <a:avLst/>
            </a:prstGeom>
            <a:noFill/>
            <a:ln w="38100">
              <a:solidFill>
                <a:srgbClr val="E20044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</p:grp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E2FE854A-8CB7-5B11-5961-2A13D618E46C}"/>
              </a:ext>
            </a:extLst>
          </p:cNvPr>
          <p:cNvGrpSpPr/>
          <p:nvPr/>
        </p:nvGrpSpPr>
        <p:grpSpPr>
          <a:xfrm>
            <a:off x="709397" y="1618496"/>
            <a:ext cx="5074920" cy="2981075"/>
            <a:chOff x="709397" y="1618496"/>
            <a:chExt cx="5074920" cy="2981075"/>
          </a:xfrm>
        </p:grpSpPr>
        <p:sp>
          <p:nvSpPr>
            <p:cNvPr id="9" name="Shape 6"/>
            <p:cNvSpPr/>
            <p:nvPr/>
          </p:nvSpPr>
          <p:spPr>
            <a:xfrm>
              <a:off x="709397" y="1618496"/>
              <a:ext cx="5074920" cy="2981075"/>
            </a:xfrm>
            <a:prstGeom prst="roundRect">
              <a:avLst>
                <a:gd name="adj" fmla="val 3333"/>
              </a:avLst>
            </a:prstGeom>
            <a:solidFill>
              <a:srgbClr val="111820"/>
            </a:solidFill>
            <a:ln w="12700">
              <a:gradFill flip="none" rotWithShape="1">
                <a:gsLst>
                  <a:gs pos="0">
                    <a:srgbClr val="C00000"/>
                  </a:gs>
                  <a:gs pos="51000">
                    <a:srgbClr val="FF0000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0" name="Text 7"/>
            <p:cNvSpPr/>
            <p:nvPr/>
          </p:nvSpPr>
          <p:spPr>
            <a:xfrm>
              <a:off x="873989" y="1857080"/>
              <a:ext cx="4745736" cy="26198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lvl="1"/>
              <a:r>
                <a:rPr lang="fr-FR" sz="1600" b="1" dirty="0">
                  <a:solidFill>
                    <a:schemeClr val="bg1"/>
                  </a:solidFill>
                </a:rPr>
                <a:t>Exemple de requête : total de buts par équipe</a:t>
              </a:r>
            </a:p>
            <a:p>
              <a:pPr marL="0" indent="0">
                <a:buNone/>
              </a:pPr>
              <a:endParaRPr lang="fr-FR" sz="1400" b="1" dirty="0">
                <a:solidFill>
                  <a:schemeClr val="bg1"/>
                </a:solidFill>
              </a:endParaRPr>
            </a:p>
            <a:p>
              <a:pPr marL="0" indent="0">
                <a:buNone/>
              </a:pPr>
              <a:endParaRPr lang="fr-FR" sz="1400" b="1" dirty="0">
                <a:solidFill>
                  <a:schemeClr val="bg1"/>
                </a:solidFill>
              </a:endParaRPr>
            </a:p>
            <a:p>
              <a:pPr marL="0" indent="0">
                <a:buNone/>
              </a:pPr>
              <a:r>
                <a:rPr lang="en-US" sz="920" dirty="0">
                  <a:solidFill>
                    <a:srgbClr val="FF66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SELECT</a:t>
              </a: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e.</a:t>
              </a:r>
              <a:r>
                <a:rPr lang="en-US" sz="92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nom_equipe</a:t>
              </a: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,</a:t>
              </a:r>
              <a:endParaRPr lang="en-US" sz="920" dirty="0"/>
            </a:p>
            <a:p>
              <a:pPr marL="0" indent="0">
                <a:buNone/>
              </a:pP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   </a:t>
              </a:r>
              <a:r>
                <a:rPr lang="en-US" sz="920" dirty="0">
                  <a:solidFill>
                    <a:srgbClr val="0070C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SUM</a:t>
              </a: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(p.</a:t>
              </a:r>
              <a:r>
                <a:rPr lang="en-US" sz="92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buts</a:t>
              </a: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)</a:t>
              </a:r>
              <a:r>
                <a:rPr lang="en-US" sz="920" dirty="0">
                  <a:solidFill>
                    <a:srgbClr val="FF66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AS </a:t>
              </a: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total_buts</a:t>
              </a:r>
              <a:endParaRPr lang="en-US" sz="920" dirty="0"/>
            </a:p>
            <a:p>
              <a:pPr marL="0" indent="0">
                <a:buNone/>
              </a:pPr>
              <a:r>
                <a:rPr lang="en-US" sz="920" dirty="0">
                  <a:solidFill>
                    <a:srgbClr val="FF66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FROM</a:t>
              </a: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equipe e</a:t>
              </a:r>
              <a:endParaRPr lang="en-US" sz="920" dirty="0"/>
            </a:p>
            <a:p>
              <a:pPr marL="0" indent="0">
                <a:buNone/>
              </a:pPr>
              <a:r>
                <a:rPr lang="en-US" sz="920" dirty="0">
                  <a:solidFill>
                    <a:srgbClr val="FF66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JOIN</a:t>
              </a: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joueur j </a:t>
              </a:r>
              <a:r>
                <a:rPr lang="en-US" sz="920" dirty="0">
                  <a:solidFill>
                    <a:srgbClr val="FF66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ON</a:t>
              </a: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e.</a:t>
              </a:r>
              <a:r>
                <a:rPr lang="en-US" sz="92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id_equipe </a:t>
              </a: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= j.</a:t>
              </a:r>
              <a:r>
                <a:rPr lang="en-US" sz="92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id_equipe</a:t>
              </a:r>
              <a:endParaRPr lang="en-US" sz="92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  <a:p>
              <a:pPr marL="0" indent="0">
                <a:buNone/>
              </a:pPr>
              <a:r>
                <a:rPr lang="en-US" sz="920" dirty="0">
                  <a:solidFill>
                    <a:srgbClr val="FF66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JOIN </a:t>
              </a: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performance p </a:t>
              </a:r>
              <a:r>
                <a:rPr lang="en-US" sz="920" dirty="0">
                  <a:solidFill>
                    <a:srgbClr val="FF66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ON</a:t>
              </a: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j.</a:t>
              </a:r>
              <a:r>
                <a:rPr lang="en-US" sz="92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id_joueur </a:t>
              </a: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= p.</a:t>
              </a:r>
              <a:r>
                <a:rPr lang="en-US" sz="92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id_joueur</a:t>
              </a:r>
              <a:endParaRPr lang="en-US" sz="92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  <a:p>
              <a:pPr marL="0" indent="0">
                <a:buNone/>
              </a:pPr>
              <a:r>
                <a:rPr lang="en-US" sz="920" dirty="0">
                  <a:solidFill>
                    <a:srgbClr val="FF66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GROUP BY </a:t>
              </a: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e.</a:t>
              </a:r>
              <a:r>
                <a:rPr lang="en-US" sz="920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nom_equipe</a:t>
              </a:r>
              <a:endParaRPr lang="en-US" sz="92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  <a:p>
              <a:pPr marL="0" indent="0">
                <a:buNone/>
              </a:pPr>
              <a:r>
                <a:rPr lang="en-US" sz="920" dirty="0">
                  <a:solidFill>
                    <a:srgbClr val="FF66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ORDER BY </a:t>
              </a: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total_buts </a:t>
              </a:r>
              <a:r>
                <a:rPr lang="en-US" sz="920" dirty="0">
                  <a:solidFill>
                    <a:srgbClr val="FF660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DESC</a:t>
              </a:r>
              <a:r>
                <a:rPr lang="en-US" sz="920" dirty="0">
                  <a:solidFill>
                    <a:srgbClr val="DCEB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;</a:t>
              </a:r>
              <a:endParaRPr lang="en-US" sz="920" dirty="0"/>
            </a:p>
          </p:txBody>
        </p:sp>
      </p:grpSp>
      <p:grpSp>
        <p:nvGrpSpPr>
          <p:cNvPr id="33" name="bloc résultat">
            <a:extLst>
              <a:ext uri="{FF2B5EF4-FFF2-40B4-BE49-F238E27FC236}">
                <a16:creationId xmlns:a16="http://schemas.microsoft.com/office/drawing/2014/main" id="{B2840372-4198-D9C9-CE37-478DDDE9A4EA}"/>
              </a:ext>
            </a:extLst>
          </p:cNvPr>
          <p:cNvGrpSpPr/>
          <p:nvPr/>
        </p:nvGrpSpPr>
        <p:grpSpPr>
          <a:xfrm>
            <a:off x="6195797" y="1618497"/>
            <a:ext cx="4800600" cy="2987040"/>
            <a:chOff x="6195797" y="1618497"/>
            <a:chExt cx="4800600" cy="2987040"/>
          </a:xfrm>
        </p:grpSpPr>
        <p:sp>
          <p:nvSpPr>
            <p:cNvPr id="11" name="Shape 8"/>
            <p:cNvSpPr/>
            <p:nvPr/>
          </p:nvSpPr>
          <p:spPr>
            <a:xfrm>
              <a:off x="6195797" y="1618497"/>
              <a:ext cx="4800600" cy="298704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266829"/>
                  </a:gs>
                  <a:gs pos="51000">
                    <a:srgbClr val="00B050"/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76187011-DF4D-8C54-4F9F-F57CD2F72A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6416412" y="2217045"/>
              <a:ext cx="4354341" cy="2184642"/>
            </a:xfrm>
            <a:prstGeom prst="rect">
              <a:avLst/>
            </a:prstGeom>
          </p:spPr>
        </p:pic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630EBF11-15B0-49DD-A920-4A396661027E}"/>
                </a:ext>
              </a:extLst>
            </p:cNvPr>
            <p:cNvSpPr txBox="1"/>
            <p:nvPr/>
          </p:nvSpPr>
          <p:spPr>
            <a:xfrm>
              <a:off x="6809156" y="1774173"/>
              <a:ext cx="3695032" cy="33855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sz="1600" b="1" dirty="0">
                  <a:solidFill>
                    <a:srgbClr val="266829"/>
                  </a:solidFill>
                </a:rPr>
                <a:t>Résultat obtenu</a:t>
              </a:r>
            </a:p>
          </p:txBody>
        </p:sp>
      </p:grpSp>
      <p:grpSp>
        <p:nvGrpSpPr>
          <p:cNvPr id="34" name="bloc structure">
            <a:extLst>
              <a:ext uri="{FF2B5EF4-FFF2-40B4-BE49-F238E27FC236}">
                <a16:creationId xmlns:a16="http://schemas.microsoft.com/office/drawing/2014/main" id="{A95A810A-8617-B51A-7EA1-AF3365F77336}"/>
              </a:ext>
            </a:extLst>
          </p:cNvPr>
          <p:cNvGrpSpPr/>
          <p:nvPr/>
        </p:nvGrpSpPr>
        <p:grpSpPr>
          <a:xfrm>
            <a:off x="709397" y="5011059"/>
            <a:ext cx="10287000" cy="1097280"/>
            <a:chOff x="709397" y="5011059"/>
            <a:chExt cx="10287000" cy="1097280"/>
          </a:xfrm>
        </p:grpSpPr>
        <p:sp>
          <p:nvSpPr>
            <p:cNvPr id="13" name="Shape 9"/>
            <p:cNvSpPr/>
            <p:nvPr/>
          </p:nvSpPr>
          <p:spPr>
            <a:xfrm>
              <a:off x="709397" y="5011059"/>
              <a:ext cx="10287000" cy="109728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E20044"/>
                  </a:gs>
                  <a:gs pos="51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4" name="Text 10"/>
            <p:cNvSpPr/>
            <p:nvPr/>
          </p:nvSpPr>
          <p:spPr>
            <a:xfrm>
              <a:off x="1724388" y="5086559"/>
              <a:ext cx="2194398" cy="92354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1400" b="1" dirty="0">
                  <a:solidFill>
                    <a:srgbClr val="E20044"/>
                  </a:solidFill>
                </a:rPr>
                <a:t>Structure documentaire systématique</a:t>
              </a:r>
            </a:p>
            <a:p>
              <a:pPr marL="0" indent="0">
                <a:buNone/>
              </a:pPr>
              <a:r>
                <a:rPr lang="en-US" sz="1050" dirty="0">
                  <a:solidFill>
                    <a:schemeClr val="bg2">
                      <a:lumMod val="50000"/>
                    </a:schemeClr>
                  </a:solidFill>
                </a:rPr>
                <a:t>Méthode utilisée pour chaque</a:t>
              </a:r>
            </a:p>
            <a:p>
              <a:pPr marL="0" indent="0">
                <a:buNone/>
              </a:pPr>
              <a:r>
                <a:rPr lang="en-US" sz="1050" dirty="0">
                  <a:solidFill>
                    <a:schemeClr val="bg2">
                      <a:lumMod val="50000"/>
                    </a:schemeClr>
                  </a:solidFill>
                </a:rPr>
                <a:t>besoin métier du projet.</a:t>
              </a:r>
            </a:p>
          </p:txBody>
        </p:sp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90295A21-F068-6BB9-0CB8-81EBBBDDD41A}"/>
                </a:ext>
              </a:extLst>
            </p:cNvPr>
            <p:cNvGrpSpPr/>
            <p:nvPr/>
          </p:nvGrpSpPr>
          <p:grpSpPr>
            <a:xfrm>
              <a:off x="4469148" y="5434635"/>
              <a:ext cx="1645920" cy="360000"/>
              <a:chOff x="4469148" y="5096454"/>
              <a:chExt cx="1645920" cy="360000"/>
            </a:xfrm>
          </p:grpSpPr>
          <p:sp>
            <p:nvSpPr>
              <p:cNvPr id="15" name="Shape 11"/>
              <p:cNvSpPr/>
              <p:nvPr/>
            </p:nvSpPr>
            <p:spPr>
              <a:xfrm>
                <a:off x="4469148" y="5096454"/>
                <a:ext cx="1645920" cy="360000"/>
              </a:xfrm>
              <a:prstGeom prst="roundRect">
                <a:avLst>
                  <a:gd name="adj" fmla="val 15152"/>
                </a:avLst>
              </a:prstGeom>
              <a:solidFill>
                <a:srgbClr val="E20044"/>
              </a:solidFill>
              <a:ln w="12700">
                <a:solidFill>
                  <a:srgbClr val="E20044">
                    <a:alpha val="0"/>
                  </a:srgbClr>
                </a:solidFill>
                <a:prstDash val="solid"/>
              </a:ln>
            </p:spPr>
          </p:sp>
          <p:sp>
            <p:nvSpPr>
              <p:cNvPr id="16" name="Text 12"/>
              <p:cNvSpPr/>
              <p:nvPr/>
            </p:nvSpPr>
            <p:spPr>
              <a:xfrm>
                <a:off x="4542300" y="5096454"/>
                <a:ext cx="1499616" cy="360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1. Question métier</a:t>
                </a:r>
                <a:endParaRPr lang="en-US" sz="1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8443C38D-DF68-1A9D-FEA8-530A15589115}"/>
                </a:ext>
              </a:extLst>
            </p:cNvPr>
            <p:cNvGrpSpPr/>
            <p:nvPr/>
          </p:nvGrpSpPr>
          <p:grpSpPr>
            <a:xfrm>
              <a:off x="6297948" y="5434635"/>
              <a:ext cx="1325880" cy="360000"/>
              <a:chOff x="6297948" y="5096454"/>
              <a:chExt cx="1325880" cy="360000"/>
            </a:xfrm>
          </p:grpSpPr>
          <p:sp>
            <p:nvSpPr>
              <p:cNvPr id="17" name="Shape 13"/>
              <p:cNvSpPr/>
              <p:nvPr/>
            </p:nvSpPr>
            <p:spPr>
              <a:xfrm>
                <a:off x="6297948" y="5096454"/>
                <a:ext cx="1325880" cy="360000"/>
              </a:xfrm>
              <a:prstGeom prst="roundRect">
                <a:avLst>
                  <a:gd name="adj" fmla="val 15152"/>
                </a:avLst>
              </a:prstGeom>
              <a:solidFill>
                <a:srgbClr val="0F5B7F"/>
              </a:solidFill>
              <a:ln w="12700">
                <a:solidFill>
                  <a:srgbClr val="0F5B7F">
                    <a:alpha val="0"/>
                  </a:srgbClr>
                </a:solidFill>
                <a:prstDash val="solid"/>
              </a:ln>
            </p:spPr>
          </p:sp>
          <p:sp>
            <p:nvSpPr>
              <p:cNvPr id="18" name="Text 14"/>
              <p:cNvSpPr/>
              <p:nvPr/>
            </p:nvSpPr>
            <p:spPr>
              <a:xfrm>
                <a:off x="6297948" y="5133030"/>
                <a:ext cx="1325880" cy="3234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2. Requête SQL</a:t>
                </a:r>
                <a:endParaRPr lang="en-US" sz="1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D3DDC213-8E30-B5F4-EE63-F790E4045335}"/>
                </a:ext>
              </a:extLst>
            </p:cNvPr>
            <p:cNvGrpSpPr/>
            <p:nvPr/>
          </p:nvGrpSpPr>
          <p:grpSpPr>
            <a:xfrm>
              <a:off x="7806708" y="5434635"/>
              <a:ext cx="1051560" cy="360000"/>
              <a:chOff x="7806708" y="5096454"/>
              <a:chExt cx="1051560" cy="360000"/>
            </a:xfrm>
          </p:grpSpPr>
          <p:sp>
            <p:nvSpPr>
              <p:cNvPr id="19" name="Shape 15"/>
              <p:cNvSpPr/>
              <p:nvPr/>
            </p:nvSpPr>
            <p:spPr>
              <a:xfrm>
                <a:off x="7806708" y="5096454"/>
                <a:ext cx="1051560" cy="360000"/>
              </a:xfrm>
              <a:prstGeom prst="roundRect">
                <a:avLst>
                  <a:gd name="adj" fmla="val 15152"/>
                </a:avLst>
              </a:prstGeom>
              <a:solidFill>
                <a:srgbClr val="2E7D32"/>
              </a:solidFill>
              <a:ln w="12700">
                <a:solidFill>
                  <a:srgbClr val="2E7D32">
                    <a:alpha val="0"/>
                  </a:srgbClr>
                </a:solidFill>
                <a:prstDash val="solid"/>
              </a:ln>
            </p:spPr>
          </p:sp>
          <p:sp>
            <p:nvSpPr>
              <p:cNvPr id="20" name="Text 16"/>
              <p:cNvSpPr/>
              <p:nvPr/>
            </p:nvSpPr>
            <p:spPr>
              <a:xfrm>
                <a:off x="7879860" y="5133030"/>
                <a:ext cx="905256" cy="3234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3. Résultat</a:t>
                </a:r>
                <a:endParaRPr lang="en-US" sz="1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06DF8227-4FD1-A7C8-70C9-D32DE25E6259}"/>
                </a:ext>
              </a:extLst>
            </p:cNvPr>
            <p:cNvGrpSpPr/>
            <p:nvPr/>
          </p:nvGrpSpPr>
          <p:grpSpPr>
            <a:xfrm>
              <a:off x="9041148" y="5434635"/>
              <a:ext cx="1536192" cy="360000"/>
              <a:chOff x="9041148" y="5096454"/>
              <a:chExt cx="1536192" cy="360000"/>
            </a:xfrm>
          </p:grpSpPr>
          <p:sp>
            <p:nvSpPr>
              <p:cNvPr id="21" name="Shape 17"/>
              <p:cNvSpPr/>
              <p:nvPr/>
            </p:nvSpPr>
            <p:spPr>
              <a:xfrm>
                <a:off x="9041148" y="5096454"/>
                <a:ext cx="1536192" cy="360000"/>
              </a:xfrm>
              <a:prstGeom prst="roundRect">
                <a:avLst>
                  <a:gd name="adj" fmla="val 15152"/>
                </a:avLst>
              </a:prstGeom>
              <a:solidFill>
                <a:srgbClr val="FF6600"/>
              </a:solidFill>
              <a:ln w="12700">
                <a:solidFill>
                  <a:srgbClr val="F2B705">
                    <a:alpha val="0"/>
                  </a:srgbClr>
                </a:solidFill>
                <a:prstDash val="solid"/>
              </a:ln>
            </p:spPr>
          </p:sp>
          <p:sp>
            <p:nvSpPr>
              <p:cNvPr id="22" name="Text 18"/>
              <p:cNvSpPr/>
              <p:nvPr/>
            </p:nvSpPr>
            <p:spPr>
              <a:xfrm>
                <a:off x="9114300" y="5133030"/>
                <a:ext cx="1389888" cy="32342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2F5F7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4. Interprétation</a:t>
                </a:r>
                <a:endParaRPr lang="en-US" sz="1100" dirty="0">
                  <a:solidFill>
                    <a:srgbClr val="F2F5F7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</p:grpSp>
      <p:grpSp>
        <p:nvGrpSpPr>
          <p:cNvPr id="26" name="Footer">
            <a:extLst>
              <a:ext uri="{FF2B5EF4-FFF2-40B4-BE49-F238E27FC236}">
                <a16:creationId xmlns:a16="http://schemas.microsoft.com/office/drawing/2014/main" id="{5D4DEA2F-F43E-21C1-C2EB-054C7CDFD67F}"/>
              </a:ext>
            </a:extLst>
          </p:cNvPr>
          <p:cNvGrpSpPr/>
          <p:nvPr/>
        </p:nvGrpSpPr>
        <p:grpSpPr>
          <a:xfrm>
            <a:off x="502920" y="6446520"/>
            <a:ext cx="11155680" cy="228600"/>
            <a:chOff x="502920" y="6446520"/>
            <a:chExt cx="11155680" cy="228600"/>
          </a:xfrm>
        </p:grpSpPr>
        <p:sp>
          <p:nvSpPr>
            <p:cNvPr id="6" name="Shape 3"/>
            <p:cNvSpPr/>
            <p:nvPr/>
          </p:nvSpPr>
          <p:spPr>
            <a:xfrm>
              <a:off x="502920" y="6446520"/>
              <a:ext cx="11155680" cy="0"/>
            </a:xfrm>
            <a:prstGeom prst="line">
              <a:avLst/>
            </a:prstGeom>
            <a:noFill/>
            <a:ln w="7620">
              <a:solidFill>
                <a:srgbClr val="DCE4E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02920" y="6510528"/>
              <a:ext cx="4754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SportDataPulse · Business Intelligence Analyst</a:t>
              </a:r>
              <a:endParaRPr lang="en-US" sz="7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1201400" y="6510528"/>
              <a:ext cx="411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10</a:t>
              </a:r>
              <a:endParaRPr lang="en-US" sz="750" dirty="0"/>
            </a:p>
          </p:txBody>
        </p:sp>
      </p:grpSp>
      <p:pic>
        <p:nvPicPr>
          <p:cNvPr id="36" name="Logo image" descr="/mnt/data/assets_spdp/logo_icon.png">
            <a:extLst>
              <a:ext uri="{FF2B5EF4-FFF2-40B4-BE49-F238E27FC236}">
                <a16:creationId xmlns:a16="http://schemas.microsoft.com/office/drawing/2014/main" id="{98ED7F67-FC93-79C0-28C8-86BFE96638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38" name="Shape 2">
            <a:extLst>
              <a:ext uri="{FF2B5EF4-FFF2-40B4-BE49-F238E27FC236}">
                <a16:creationId xmlns:a16="http://schemas.microsoft.com/office/drawing/2014/main" id="{913A97BC-A0EF-E203-69C4-0A04296AFC4B}"/>
              </a:ext>
            </a:extLst>
          </p:cNvPr>
          <p:cNvSpPr/>
          <p:nvPr/>
        </p:nvSpPr>
        <p:spPr>
          <a:xfrm>
            <a:off x="3991938" y="5205542"/>
            <a:ext cx="0" cy="685580"/>
          </a:xfrm>
          <a:prstGeom prst="line">
            <a:avLst/>
          </a:prstGeom>
          <a:noFill/>
          <a:ln w="38100">
            <a:solidFill>
              <a:srgbClr val="E2004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9" name="Shape 42">
            <a:extLst>
              <a:ext uri="{FF2B5EF4-FFF2-40B4-BE49-F238E27FC236}">
                <a16:creationId xmlns:a16="http://schemas.microsoft.com/office/drawing/2014/main" id="{BD10E94E-F13B-4A9F-8788-A4BB9AB7B85D}"/>
              </a:ext>
            </a:extLst>
          </p:cNvPr>
          <p:cNvSpPr/>
          <p:nvPr/>
        </p:nvSpPr>
        <p:spPr>
          <a:xfrm>
            <a:off x="868274" y="5182634"/>
            <a:ext cx="673233" cy="708487"/>
          </a:xfrm>
          <a:prstGeom prst="roundRect">
            <a:avLst/>
          </a:prstGeom>
          <a:solidFill>
            <a:srgbClr val="E20044">
              <a:alpha val="10000"/>
            </a:srgbClr>
          </a:solidFill>
          <a:ln w="12700">
            <a:solidFill>
              <a:srgbClr val="E20044"/>
            </a:solidFill>
            <a:prstDash val="solid"/>
          </a:ln>
        </p:spPr>
      </p:sp>
      <p:pic>
        <p:nvPicPr>
          <p:cNvPr id="41" name="Image 40" descr="Une image contenant rouge, Graphique, conception&#10;&#10;Le contenu généré par l’IA peut être incorrect.">
            <a:extLst>
              <a:ext uri="{FF2B5EF4-FFF2-40B4-BE49-F238E27FC236}">
                <a16:creationId xmlns:a16="http://schemas.microsoft.com/office/drawing/2014/main" id="{EC533EE3-81CE-AC3E-3864-32EB603032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074" y="5239504"/>
            <a:ext cx="562601" cy="562601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42" name="Image 41" descr="Une image contenant tabouret&#10;&#10;Le contenu généré par l’IA peut être incorrect.">
            <a:extLst>
              <a:ext uri="{FF2B5EF4-FFF2-40B4-BE49-F238E27FC236}">
                <a16:creationId xmlns:a16="http://schemas.microsoft.com/office/drawing/2014/main" id="{98F746D5-54AD-1A7A-CB37-0926E4DFD136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2794" y="1725001"/>
            <a:ext cx="542188" cy="414205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44" name="Image 43" descr="Une image contenant Rectangle, symbole, carré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BF2A05E-B27F-B44B-59EF-1841364180E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134" y="1705470"/>
            <a:ext cx="442872" cy="442872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71F73958-82AF-FBF6-599C-0D592439007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Requêtes SQL : méthode et exemple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Header">
            <a:extLst>
              <a:ext uri="{FF2B5EF4-FFF2-40B4-BE49-F238E27FC236}">
                <a16:creationId xmlns:a16="http://schemas.microsoft.com/office/drawing/2014/main" id="{74475EBA-A959-7207-979A-AE4388ECFE4D}"/>
              </a:ext>
            </a:extLst>
          </p:cNvPr>
          <p:cNvGrpSpPr/>
          <p:nvPr/>
        </p:nvGrpSpPr>
        <p:grpSpPr>
          <a:xfrm>
            <a:off x="502920" y="329184"/>
            <a:ext cx="9784080" cy="795528"/>
            <a:chOff x="502920" y="329184"/>
            <a:chExt cx="9784080" cy="795528"/>
          </a:xfrm>
        </p:grpSpPr>
        <p:sp>
          <p:nvSpPr>
            <p:cNvPr id="2" name="Text 0"/>
            <p:cNvSpPr/>
            <p:nvPr/>
          </p:nvSpPr>
          <p:spPr>
            <a:xfrm>
              <a:off x="502920" y="329184"/>
              <a:ext cx="9784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17252A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Résultat clé 1 : performance offensive des clubs</a:t>
              </a:r>
              <a:endParaRPr lang="en-US" sz="25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530352" y="768096"/>
              <a:ext cx="7132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607D8B"/>
                  </a:solidFill>
                </a:rPr>
                <a:t>Comparer la production offensive des équipes avec le total de buts</a:t>
              </a:r>
              <a:endParaRPr lang="en-US" sz="1100" dirty="0"/>
            </a:p>
          </p:txBody>
        </p:sp>
        <p:sp>
          <p:nvSpPr>
            <p:cNvPr id="15" name="Shape 2">
              <a:extLst>
                <a:ext uri="{FF2B5EF4-FFF2-40B4-BE49-F238E27FC236}">
                  <a16:creationId xmlns:a16="http://schemas.microsoft.com/office/drawing/2014/main" id="{99ED4508-F759-60CD-DF03-5AA9B4C1E21C}"/>
                </a:ext>
              </a:extLst>
            </p:cNvPr>
            <p:cNvSpPr/>
            <p:nvPr/>
          </p:nvSpPr>
          <p:spPr>
            <a:xfrm>
              <a:off x="502920" y="1124712"/>
              <a:ext cx="2148840" cy="0"/>
            </a:xfrm>
            <a:prstGeom prst="line">
              <a:avLst/>
            </a:prstGeom>
            <a:noFill/>
            <a:ln w="38100">
              <a:solidFill>
                <a:srgbClr val="E20044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</p:grp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030173100"/>
              </p:ext>
            </p:extLst>
          </p:nvPr>
        </p:nvGraphicFramePr>
        <p:xfrm>
          <a:off x="530352" y="1682496"/>
          <a:ext cx="6900376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9" name="bloc lecture métier">
            <a:extLst>
              <a:ext uri="{FF2B5EF4-FFF2-40B4-BE49-F238E27FC236}">
                <a16:creationId xmlns:a16="http://schemas.microsoft.com/office/drawing/2014/main" id="{9C58E4AD-E8DF-B810-CC14-F2C8F0BF1DC2}"/>
              </a:ext>
            </a:extLst>
          </p:cNvPr>
          <p:cNvGrpSpPr/>
          <p:nvPr/>
        </p:nvGrpSpPr>
        <p:grpSpPr>
          <a:xfrm>
            <a:off x="7887928" y="1682496"/>
            <a:ext cx="3611880" cy="3840480"/>
            <a:chOff x="7887928" y="1682496"/>
            <a:chExt cx="3611880" cy="3840480"/>
          </a:xfrm>
        </p:grpSpPr>
        <p:sp>
          <p:nvSpPr>
            <p:cNvPr id="10" name="Shape 6"/>
            <p:cNvSpPr/>
            <p:nvPr/>
          </p:nvSpPr>
          <p:spPr>
            <a:xfrm>
              <a:off x="7887928" y="1682496"/>
              <a:ext cx="3611880" cy="3840480"/>
            </a:xfrm>
            <a:prstGeom prst="roundRect">
              <a:avLst>
                <a:gd name="adj" fmla="val 2025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E20044"/>
                  </a:gs>
                  <a:gs pos="51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1" name="Text 7"/>
            <p:cNvSpPr/>
            <p:nvPr/>
          </p:nvSpPr>
          <p:spPr>
            <a:xfrm>
              <a:off x="8702468" y="1884108"/>
              <a:ext cx="1704724" cy="4750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E20044"/>
                  </a:solidFill>
                </a:rPr>
                <a:t>Lecture métier</a:t>
              </a:r>
              <a:endParaRPr lang="en-US" sz="1600" dirty="0">
                <a:solidFill>
                  <a:srgbClr val="E20044"/>
                </a:solidFill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8051335" y="2687016"/>
              <a:ext cx="3326817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>
                <a:buNone/>
              </a:pPr>
              <a:r>
                <a:rPr lang="en-US" sz="1550" b="1" dirty="0">
                  <a:solidFill>
                    <a:srgbClr val="17252A"/>
                  </a:solidFill>
                </a:rPr>
                <a:t>Paris SG domine nettement la production offensive, devant Marseille, Monaco et Lyon.</a:t>
              </a:r>
              <a:endParaRPr lang="en-US" sz="1550" dirty="0"/>
            </a:p>
          </p:txBody>
        </p:sp>
        <p:sp>
          <p:nvSpPr>
            <p:cNvPr id="13" name="Shape 9"/>
            <p:cNvSpPr/>
            <p:nvPr/>
          </p:nvSpPr>
          <p:spPr>
            <a:xfrm>
              <a:off x="8142776" y="3530904"/>
              <a:ext cx="2743200" cy="0"/>
            </a:xfrm>
            <a:prstGeom prst="line">
              <a:avLst/>
            </a:prstGeom>
            <a:noFill/>
            <a:ln w="12700">
              <a:solidFill>
                <a:srgbClr val="DCE4EA"/>
              </a:solidFill>
              <a:prstDash val="solid"/>
            </a:ln>
          </p:spPr>
        </p:sp>
        <p:sp>
          <p:nvSpPr>
            <p:cNvPr id="14" name="Text 10"/>
            <p:cNvSpPr/>
            <p:nvPr/>
          </p:nvSpPr>
          <p:spPr>
            <a:xfrm>
              <a:off x="8532720" y="3557015"/>
              <a:ext cx="2845432" cy="1618487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pPr>
                <a:spcAft>
                  <a:spcPts val="1200"/>
                </a:spcAft>
              </a:pPr>
              <a:r>
                <a:rPr lang="en-US" sz="125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Indicateur collectif simple.</a:t>
              </a:r>
              <a:endParaRPr lang="en-US" sz="1250" dirty="0"/>
            </a:p>
            <a:p>
              <a:pPr>
                <a:spcAft>
                  <a:spcPts val="1200"/>
                </a:spcAft>
              </a:pPr>
              <a:r>
                <a:rPr lang="en-US" sz="125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Aide à comparer la puissance offensive.</a:t>
              </a:r>
              <a:endParaRPr lang="en-US" sz="1250" dirty="0"/>
            </a:p>
            <a:p>
              <a:r>
                <a:rPr lang="en-US" sz="125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Base pour croiser avec les xG </a:t>
              </a:r>
            </a:p>
            <a:p>
              <a:r>
                <a:rPr lang="en-US" sz="125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ou le temps de jeu.</a:t>
              </a:r>
              <a:endParaRPr lang="en-US" sz="1250" dirty="0"/>
            </a:p>
          </p:txBody>
        </p:sp>
      </p:grpSp>
      <p:grpSp>
        <p:nvGrpSpPr>
          <p:cNvPr id="18" name="Footer">
            <a:extLst>
              <a:ext uri="{FF2B5EF4-FFF2-40B4-BE49-F238E27FC236}">
                <a16:creationId xmlns:a16="http://schemas.microsoft.com/office/drawing/2014/main" id="{5F788E76-9589-0793-A946-5E5DE676B5F5}"/>
              </a:ext>
            </a:extLst>
          </p:cNvPr>
          <p:cNvGrpSpPr/>
          <p:nvPr/>
        </p:nvGrpSpPr>
        <p:grpSpPr>
          <a:xfrm>
            <a:off x="502920" y="6446520"/>
            <a:ext cx="11155680" cy="228600"/>
            <a:chOff x="502920" y="6446520"/>
            <a:chExt cx="11155680" cy="228600"/>
          </a:xfrm>
        </p:grpSpPr>
        <p:sp>
          <p:nvSpPr>
            <p:cNvPr id="6" name="Shape 3"/>
            <p:cNvSpPr/>
            <p:nvPr/>
          </p:nvSpPr>
          <p:spPr>
            <a:xfrm>
              <a:off x="502920" y="6446520"/>
              <a:ext cx="11155680" cy="0"/>
            </a:xfrm>
            <a:prstGeom prst="line">
              <a:avLst/>
            </a:prstGeom>
            <a:noFill/>
            <a:ln w="7620">
              <a:solidFill>
                <a:srgbClr val="DCE4E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02920" y="6510528"/>
              <a:ext cx="4754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SportDataPulse · Business Intelligence Analyst</a:t>
              </a:r>
              <a:endParaRPr lang="en-US" sz="7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1201400" y="6510528"/>
              <a:ext cx="411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11</a:t>
              </a:r>
              <a:endParaRPr lang="en-US" sz="750" dirty="0"/>
            </a:p>
          </p:txBody>
        </p:sp>
      </p:grpSp>
      <p:pic>
        <p:nvPicPr>
          <p:cNvPr id="20" name="Logo image" descr="/mnt/data/assets_spdp/logo_icon.png">
            <a:extLst>
              <a:ext uri="{FF2B5EF4-FFF2-40B4-BE49-F238E27FC236}">
                <a16:creationId xmlns:a16="http://schemas.microsoft.com/office/drawing/2014/main" id="{1E9E7C55-16F7-B11A-C226-8214E848D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931BE6A7-1C0D-E8F6-FFE0-EFCAB15E8D72}"/>
              </a:ext>
            </a:extLst>
          </p:cNvPr>
          <p:cNvSpPr/>
          <p:nvPr/>
        </p:nvSpPr>
        <p:spPr>
          <a:xfrm>
            <a:off x="692192" y="1819467"/>
            <a:ext cx="1212022" cy="3299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E20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fr-FR" sz="1100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074382C-AD86-8AE9-9C16-492366E11B35}"/>
              </a:ext>
            </a:extLst>
          </p:cNvPr>
          <p:cNvSpPr txBox="1"/>
          <p:nvPr/>
        </p:nvSpPr>
        <p:spPr>
          <a:xfrm>
            <a:off x="989814" y="1853631"/>
            <a:ext cx="9144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fr-FR" sz="1100" b="1" dirty="0">
                <a:solidFill>
                  <a:srgbClr val="E20044"/>
                </a:solidFill>
              </a:rPr>
              <a:t>Requête 1</a:t>
            </a:r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C89E8634-E13F-B614-188C-4B91DA00F8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158" y="1884108"/>
            <a:ext cx="200656" cy="200656"/>
          </a:xfrm>
          <a:prstGeom prst="rect">
            <a:avLst/>
          </a:prstGeom>
        </p:spPr>
      </p:pic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68C76505-70D2-E590-F53A-9325AA368C6D}"/>
              </a:ext>
            </a:extLst>
          </p:cNvPr>
          <p:cNvSpPr/>
          <p:nvPr/>
        </p:nvSpPr>
        <p:spPr>
          <a:xfrm>
            <a:off x="8057676" y="1884108"/>
            <a:ext cx="475044" cy="475044"/>
          </a:xfrm>
          <a:prstGeom prst="roundRect">
            <a:avLst/>
          </a:prstGeom>
          <a:solidFill>
            <a:srgbClr val="FF81A8">
              <a:alpha val="3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B585F2CA-4729-CAA3-299F-5E08AB1B4E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2776" y="1953725"/>
            <a:ext cx="304843" cy="304843"/>
          </a:xfrm>
          <a:prstGeom prst="rect">
            <a:avLst/>
          </a:prstGeom>
        </p:spPr>
      </p:pic>
      <p:sp>
        <p:nvSpPr>
          <p:cNvPr id="32" name="Ellipse 31">
            <a:extLst>
              <a:ext uri="{FF2B5EF4-FFF2-40B4-BE49-F238E27FC236}">
                <a16:creationId xmlns:a16="http://schemas.microsoft.com/office/drawing/2014/main" id="{74B5DBAF-32F4-7CCC-971F-1E71F089E59D}"/>
              </a:ext>
            </a:extLst>
          </p:cNvPr>
          <p:cNvSpPr/>
          <p:nvPr/>
        </p:nvSpPr>
        <p:spPr>
          <a:xfrm>
            <a:off x="8135732" y="3902097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D5C9F646-F66E-2150-AE98-C6211AC9950C}"/>
              </a:ext>
            </a:extLst>
          </p:cNvPr>
          <p:cNvSpPr/>
          <p:nvPr/>
        </p:nvSpPr>
        <p:spPr>
          <a:xfrm>
            <a:off x="8118135" y="4260558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4DDC3D4C-4A94-8335-57F6-C137C2D1F6D7}"/>
              </a:ext>
            </a:extLst>
          </p:cNvPr>
          <p:cNvSpPr/>
          <p:nvPr/>
        </p:nvSpPr>
        <p:spPr>
          <a:xfrm>
            <a:off x="8130033" y="4622300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537289F-EDB9-639A-0383-6049E41BFB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 </a:t>
            </a:r>
            <a:r>
              <a:rPr lang="en-US" b="1" dirty="0" err="1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clé</a:t>
            </a:r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1 : performance offensive des clubs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Header">
            <a:extLst>
              <a:ext uri="{FF2B5EF4-FFF2-40B4-BE49-F238E27FC236}">
                <a16:creationId xmlns:a16="http://schemas.microsoft.com/office/drawing/2014/main" id="{6A3FF9A0-0716-9959-B63A-F01E627FA692}"/>
              </a:ext>
            </a:extLst>
          </p:cNvPr>
          <p:cNvGrpSpPr/>
          <p:nvPr/>
        </p:nvGrpSpPr>
        <p:grpSpPr>
          <a:xfrm>
            <a:off x="502920" y="329184"/>
            <a:ext cx="9784080" cy="795528"/>
            <a:chOff x="502920" y="329184"/>
            <a:chExt cx="9784080" cy="795528"/>
          </a:xfrm>
        </p:grpSpPr>
        <p:sp>
          <p:nvSpPr>
            <p:cNvPr id="2" name="Text 0"/>
            <p:cNvSpPr/>
            <p:nvPr/>
          </p:nvSpPr>
          <p:spPr>
            <a:xfrm>
              <a:off x="502920" y="329184"/>
              <a:ext cx="9784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17252A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Résultat clé 2 : effectifs et répartition des postes</a:t>
              </a:r>
              <a:endParaRPr lang="en-US" sz="25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530352" y="768096"/>
              <a:ext cx="7132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607D8B"/>
                  </a:solidFill>
                </a:rPr>
                <a:t>Analyser la structure des effectifs par type de poste</a:t>
              </a:r>
              <a:endParaRPr lang="en-US" sz="1100" dirty="0"/>
            </a:p>
          </p:txBody>
        </p:sp>
        <p:sp>
          <p:nvSpPr>
            <p:cNvPr id="14" name="Shape 2">
              <a:extLst>
                <a:ext uri="{FF2B5EF4-FFF2-40B4-BE49-F238E27FC236}">
                  <a16:creationId xmlns:a16="http://schemas.microsoft.com/office/drawing/2014/main" id="{74E4D820-696F-2BD2-7E37-0D79459EC7EB}"/>
                </a:ext>
              </a:extLst>
            </p:cNvPr>
            <p:cNvSpPr/>
            <p:nvPr/>
          </p:nvSpPr>
          <p:spPr>
            <a:xfrm>
              <a:off x="502920" y="1124712"/>
              <a:ext cx="2148840" cy="0"/>
            </a:xfrm>
            <a:prstGeom prst="line">
              <a:avLst/>
            </a:prstGeom>
            <a:noFill/>
            <a:ln w="38100">
              <a:solidFill>
                <a:srgbClr val="E20044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</p:grp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466657426"/>
              </p:ext>
            </p:extLst>
          </p:nvPr>
        </p:nvGraphicFramePr>
        <p:xfrm>
          <a:off x="530352" y="1381267"/>
          <a:ext cx="5757326" cy="48000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6"/>
          <p:cNvSpPr/>
          <p:nvPr/>
        </p:nvSpPr>
        <p:spPr>
          <a:xfrm>
            <a:off x="6464808" y="1381269"/>
            <a:ext cx="4617720" cy="22669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E20044"/>
                </a:gs>
                <a:gs pos="51000">
                  <a:schemeClr val="accent1">
                    <a:lumMod val="45000"/>
                    <a:lumOff val="55000"/>
                  </a:schemeClr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1" name="Text 7"/>
          <p:cNvSpPr/>
          <p:nvPr/>
        </p:nvSpPr>
        <p:spPr>
          <a:xfrm>
            <a:off x="7213179" y="1548483"/>
            <a:ext cx="22350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0044"/>
                </a:solidFill>
              </a:rPr>
              <a:t>Répartition observée</a:t>
            </a:r>
            <a:endParaRPr lang="en-US" sz="1700" dirty="0">
              <a:solidFill>
                <a:srgbClr val="E20044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7065992" y="2090595"/>
            <a:ext cx="3840821" cy="11510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>
              <a:spcAft>
                <a:spcPts val="600"/>
              </a:spcAft>
            </a:pPr>
            <a:r>
              <a:rPr lang="en-US" sz="1100" dirty="0">
                <a:solidFill>
                  <a:srgbClr val="172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Défenseurs et milieux représentent le cœur des effectifs.</a:t>
            </a:r>
            <a:endParaRPr lang="en-US" sz="11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100" dirty="0">
                <a:solidFill>
                  <a:srgbClr val="172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attaquants forment un volume important, mais plus ciblé.</a:t>
            </a:r>
            <a:endParaRPr lang="en-US" sz="11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100" dirty="0">
                <a:solidFill>
                  <a:srgbClr val="172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gardiens restent logiquement moins nombreux.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7065992" y="3008376"/>
            <a:ext cx="368539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E7D32"/>
                </a:solidFill>
              </a:rPr>
              <a:t>La répartition aide à contextualiser les moyennes par poste et à éviter les lectures biaisées.</a:t>
            </a:r>
            <a:endParaRPr lang="en-US" sz="125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D7586A9F-945B-D904-2F8F-E7E263E26CDD}"/>
              </a:ext>
            </a:extLst>
          </p:cNvPr>
          <p:cNvSpPr/>
          <p:nvPr/>
        </p:nvSpPr>
        <p:spPr>
          <a:xfrm>
            <a:off x="6464808" y="3813029"/>
            <a:ext cx="4617720" cy="2368311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002060"/>
                </a:gs>
                <a:gs pos="51000">
                  <a:srgbClr val="0070C0"/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grpSp>
        <p:nvGrpSpPr>
          <p:cNvPr id="17" name="Footer">
            <a:extLst>
              <a:ext uri="{FF2B5EF4-FFF2-40B4-BE49-F238E27FC236}">
                <a16:creationId xmlns:a16="http://schemas.microsoft.com/office/drawing/2014/main" id="{E69EE1CD-2CD8-372E-61EF-4E65D2EB0563}"/>
              </a:ext>
            </a:extLst>
          </p:cNvPr>
          <p:cNvGrpSpPr/>
          <p:nvPr/>
        </p:nvGrpSpPr>
        <p:grpSpPr>
          <a:xfrm>
            <a:off x="502920" y="6446520"/>
            <a:ext cx="11155680" cy="228600"/>
            <a:chOff x="502920" y="6446520"/>
            <a:chExt cx="11155680" cy="228600"/>
          </a:xfrm>
        </p:grpSpPr>
        <p:sp>
          <p:nvSpPr>
            <p:cNvPr id="6" name="Shape 3"/>
            <p:cNvSpPr/>
            <p:nvPr/>
          </p:nvSpPr>
          <p:spPr>
            <a:xfrm>
              <a:off x="502920" y="6446520"/>
              <a:ext cx="11155680" cy="0"/>
            </a:xfrm>
            <a:prstGeom prst="line">
              <a:avLst/>
            </a:prstGeom>
            <a:noFill/>
            <a:ln w="7620">
              <a:solidFill>
                <a:srgbClr val="DCE4E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02920" y="6510528"/>
              <a:ext cx="4754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SportDataPulse · Business Intelligence Analyst</a:t>
              </a:r>
              <a:endParaRPr lang="en-US" sz="7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1201400" y="6510528"/>
              <a:ext cx="411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12</a:t>
              </a:r>
              <a:endParaRPr lang="en-US" sz="750" dirty="0"/>
            </a:p>
          </p:txBody>
        </p:sp>
      </p:grpSp>
      <p:pic>
        <p:nvPicPr>
          <p:cNvPr id="22" name="Logo image" descr="/mnt/data/assets_spdp/logo_icon.png">
            <a:extLst>
              <a:ext uri="{FF2B5EF4-FFF2-40B4-BE49-F238E27FC236}">
                <a16:creationId xmlns:a16="http://schemas.microsoft.com/office/drawing/2014/main" id="{588E7701-EA1B-6C42-DC08-3F8064544F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903E2EA6-CD71-D1D4-D1B5-ED4A110C6674}"/>
              </a:ext>
            </a:extLst>
          </p:cNvPr>
          <p:cNvSpPr/>
          <p:nvPr/>
        </p:nvSpPr>
        <p:spPr>
          <a:xfrm>
            <a:off x="6676049" y="1509506"/>
            <a:ext cx="360000" cy="360000"/>
          </a:xfrm>
          <a:prstGeom prst="roundRect">
            <a:avLst/>
          </a:prstGeom>
          <a:solidFill>
            <a:srgbClr val="FF81A8">
              <a:alpha val="32000"/>
            </a:srgbClr>
          </a:solidFill>
          <a:ln>
            <a:solidFill>
              <a:srgbClr val="E20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2C222BBF-303D-1995-951C-B739426650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714" y="1547429"/>
            <a:ext cx="252000" cy="252000"/>
          </a:xfrm>
          <a:prstGeom prst="rect">
            <a:avLst/>
          </a:prstGeom>
        </p:spPr>
      </p:pic>
      <p:sp>
        <p:nvSpPr>
          <p:cNvPr id="27" name="Ellipse 26">
            <a:extLst>
              <a:ext uri="{FF2B5EF4-FFF2-40B4-BE49-F238E27FC236}">
                <a16:creationId xmlns:a16="http://schemas.microsoft.com/office/drawing/2014/main" id="{0CEA0F51-36AD-D726-847B-CC0FA76BBBC5}"/>
              </a:ext>
            </a:extLst>
          </p:cNvPr>
          <p:cNvSpPr/>
          <p:nvPr/>
        </p:nvSpPr>
        <p:spPr>
          <a:xfrm>
            <a:off x="6839343" y="2164367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E1585FA1-E86A-8097-153A-F298206E657E}"/>
              </a:ext>
            </a:extLst>
          </p:cNvPr>
          <p:cNvSpPr/>
          <p:nvPr/>
        </p:nvSpPr>
        <p:spPr>
          <a:xfrm>
            <a:off x="6851100" y="2466871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BA675BF2-B7D8-6539-5BB8-B7F243ECED2D}"/>
              </a:ext>
            </a:extLst>
          </p:cNvPr>
          <p:cNvSpPr/>
          <p:nvPr/>
        </p:nvSpPr>
        <p:spPr>
          <a:xfrm>
            <a:off x="6848058" y="2798593"/>
            <a:ext cx="72000" cy="72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2" name="Image 31" descr="Une image contenant symbole, Graphique, logo, Police&#10;&#10;Le contenu généré par l’IA peut être incorrect.">
            <a:extLst>
              <a:ext uri="{FF2B5EF4-FFF2-40B4-BE49-F238E27FC236}">
                <a16:creationId xmlns:a16="http://schemas.microsoft.com/office/drawing/2014/main" id="{BFC9020C-647B-7FE7-A47F-9A27643440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0517" y="3092384"/>
            <a:ext cx="180000" cy="180000"/>
          </a:xfrm>
          <a:prstGeom prst="rect">
            <a:avLst/>
          </a:prstGeom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EDB64CE9-499B-E81C-0100-8A2FDCDBBB40}"/>
              </a:ext>
            </a:extLst>
          </p:cNvPr>
          <p:cNvSpPr/>
          <p:nvPr/>
        </p:nvSpPr>
        <p:spPr>
          <a:xfrm>
            <a:off x="530351" y="5844620"/>
            <a:ext cx="5757326" cy="289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dirty="0">
                <a:solidFill>
                  <a:srgbClr val="607D8B"/>
                </a:solidFill>
              </a:rPr>
              <a:t>DF : défenseurs · MT : milieux · AT : attaquants · GB : gardiens</a:t>
            </a:r>
            <a:endParaRPr lang="en-US" sz="1000" dirty="0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504D675B-DAD3-D57A-890A-B5AA4D9999AE}"/>
              </a:ext>
            </a:extLst>
          </p:cNvPr>
          <p:cNvSpPr/>
          <p:nvPr/>
        </p:nvSpPr>
        <p:spPr>
          <a:xfrm>
            <a:off x="7241589" y="3984588"/>
            <a:ext cx="19087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</a:rPr>
              <a:t>Extrait SQL</a:t>
            </a:r>
            <a:endParaRPr lang="en-US" sz="1700" dirty="0">
              <a:solidFill>
                <a:srgbClr val="002060"/>
              </a:solidFill>
            </a:endParaRP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8227EC42-B96B-3005-2E74-97DB1098D648}"/>
              </a:ext>
            </a:extLst>
          </p:cNvPr>
          <p:cNvSpPr/>
          <p:nvPr/>
        </p:nvSpPr>
        <p:spPr>
          <a:xfrm>
            <a:off x="6659593" y="3931814"/>
            <a:ext cx="360000" cy="360000"/>
          </a:xfrm>
          <a:prstGeom prst="roundRect">
            <a:avLst/>
          </a:prstGeom>
          <a:solidFill>
            <a:schemeClr val="accent3">
              <a:lumMod val="75000"/>
              <a:alpha val="32000"/>
            </a:schemeClr>
          </a:solidFill>
          <a:ln>
            <a:solidFill>
              <a:srgbClr val="0F5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01577E35-667F-D6AE-975F-B54CDE2E05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1201" y="4368649"/>
            <a:ext cx="4234022" cy="1666390"/>
          </a:xfrm>
          <a:prstGeom prst="rect">
            <a:avLst/>
          </a:prstGeom>
        </p:spPr>
      </p:pic>
      <p:pic>
        <p:nvPicPr>
          <p:cNvPr id="40" name="Image 39">
            <a:extLst>
              <a:ext uri="{FF2B5EF4-FFF2-40B4-BE49-F238E27FC236}">
                <a16:creationId xmlns:a16="http://schemas.microsoft.com/office/drawing/2014/main" id="{9AAB50C5-3851-31AD-D69C-AC71743F48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6921" y="3963492"/>
            <a:ext cx="304843" cy="304843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801ADD15-4641-A09B-FD03-1CEEC0C827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 </a:t>
            </a:r>
            <a:r>
              <a:rPr lang="en-US" b="1" dirty="0" err="1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clé</a:t>
            </a:r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2 : effectifs et répartition des postes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Header">
            <a:extLst>
              <a:ext uri="{FF2B5EF4-FFF2-40B4-BE49-F238E27FC236}">
                <a16:creationId xmlns:a16="http://schemas.microsoft.com/office/drawing/2014/main" id="{6840E6A1-6338-7622-5FA2-ACB8E6902F18}"/>
              </a:ext>
            </a:extLst>
          </p:cNvPr>
          <p:cNvGrpSpPr/>
          <p:nvPr/>
        </p:nvGrpSpPr>
        <p:grpSpPr>
          <a:xfrm>
            <a:off x="502920" y="329184"/>
            <a:ext cx="9784080" cy="795528"/>
            <a:chOff x="502920" y="329184"/>
            <a:chExt cx="9784080" cy="795528"/>
          </a:xfrm>
        </p:grpSpPr>
        <p:sp>
          <p:nvSpPr>
            <p:cNvPr id="2" name="Text 0"/>
            <p:cNvSpPr/>
            <p:nvPr/>
          </p:nvSpPr>
          <p:spPr>
            <a:xfrm>
              <a:off x="502920" y="329184"/>
              <a:ext cx="9784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17252A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Résultat clé 3 : efficacité individuelle</a:t>
              </a:r>
              <a:endParaRPr lang="en-US" sz="25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530352" y="768096"/>
              <a:ext cx="7132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607D8B"/>
                  </a:solidFill>
                </a:rPr>
                <a:t>Identifier les finisseurs les plus performants au-delà du volume de buts</a:t>
              </a:r>
              <a:endParaRPr lang="en-US" sz="1100" dirty="0"/>
            </a:p>
          </p:txBody>
        </p:sp>
        <p:sp>
          <p:nvSpPr>
            <p:cNvPr id="14" name="Shape 2">
              <a:extLst>
                <a:ext uri="{FF2B5EF4-FFF2-40B4-BE49-F238E27FC236}">
                  <a16:creationId xmlns:a16="http://schemas.microsoft.com/office/drawing/2014/main" id="{C282823D-3538-B48F-DEC5-4232EDF11D58}"/>
                </a:ext>
              </a:extLst>
            </p:cNvPr>
            <p:cNvSpPr/>
            <p:nvPr/>
          </p:nvSpPr>
          <p:spPr>
            <a:xfrm>
              <a:off x="502920" y="1124712"/>
              <a:ext cx="2148840" cy="0"/>
            </a:xfrm>
            <a:prstGeom prst="line">
              <a:avLst/>
            </a:prstGeom>
            <a:noFill/>
            <a:ln w="38100">
              <a:solidFill>
                <a:srgbClr val="E20044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</p:grp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3592093097"/>
              </p:ext>
            </p:extLst>
          </p:nvPr>
        </p:nvGraphicFramePr>
        <p:xfrm>
          <a:off x="502920" y="1389888"/>
          <a:ext cx="6080760" cy="4891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0" name="Groupe 29">
            <a:extLst>
              <a:ext uri="{FF2B5EF4-FFF2-40B4-BE49-F238E27FC236}">
                <a16:creationId xmlns:a16="http://schemas.microsoft.com/office/drawing/2014/main" id="{A33317AE-5FCA-B283-7A51-A8C2183082E2}"/>
              </a:ext>
            </a:extLst>
          </p:cNvPr>
          <p:cNvGrpSpPr/>
          <p:nvPr/>
        </p:nvGrpSpPr>
        <p:grpSpPr>
          <a:xfrm>
            <a:off x="6995160" y="1357412"/>
            <a:ext cx="4599432" cy="2828089"/>
            <a:chOff x="6995160" y="1636775"/>
            <a:chExt cx="4599432" cy="2950923"/>
          </a:xfrm>
        </p:grpSpPr>
        <p:sp>
          <p:nvSpPr>
            <p:cNvPr id="10" name="Shape 6"/>
            <p:cNvSpPr/>
            <p:nvPr/>
          </p:nvSpPr>
          <p:spPr>
            <a:xfrm>
              <a:off x="6995160" y="1636775"/>
              <a:ext cx="4599432" cy="2950923"/>
            </a:xfrm>
            <a:prstGeom prst="roundRect">
              <a:avLst>
                <a:gd name="adj" fmla="val 2105"/>
              </a:avLst>
            </a:prstGeom>
            <a:solidFill>
              <a:srgbClr val="FFFFFF"/>
            </a:solidFill>
            <a:ln w="22225">
              <a:gradFill flip="none" rotWithShape="1">
                <a:gsLst>
                  <a:gs pos="0">
                    <a:srgbClr val="E20044"/>
                  </a:gs>
                  <a:gs pos="51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3">
                      <a:lumMod val="20000"/>
                      <a:lumOff val="80000"/>
                    </a:schemeClr>
                  </a:gs>
                </a:gsLst>
                <a:lin ang="2700000" scaled="1"/>
                <a:tileRect/>
              </a:gradFill>
              <a:prstDash val="solid"/>
            </a:ln>
            <a:effectLst>
              <a:outerShdw blurRad="12700" dist="50800" dir="27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1" name="Text 7"/>
            <p:cNvSpPr/>
            <p:nvPr/>
          </p:nvSpPr>
          <p:spPr>
            <a:xfrm>
              <a:off x="7794185" y="1756103"/>
              <a:ext cx="2532855" cy="53949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700" b="1" dirty="0">
                  <a:solidFill>
                    <a:srgbClr val="E20044"/>
                  </a:solidFill>
                </a:rPr>
                <a:t>Au-delà du classement des buteurs</a:t>
              </a:r>
              <a:endParaRPr lang="en-US" sz="1700" dirty="0">
                <a:solidFill>
                  <a:srgbClr val="E20044"/>
                </a:solidFill>
              </a:endParaRPr>
            </a:p>
          </p:txBody>
        </p:sp>
        <p:sp>
          <p:nvSpPr>
            <p:cNvPr id="12" name="Text 8"/>
            <p:cNvSpPr/>
            <p:nvPr/>
          </p:nvSpPr>
          <p:spPr>
            <a:xfrm>
              <a:off x="7514615" y="2263375"/>
              <a:ext cx="3842677" cy="1145102"/>
            </a:xfrm>
            <a:prstGeom prst="rect">
              <a:avLst/>
            </a:prstGeom>
            <a:noFill/>
            <a:ln/>
          </p:spPr>
          <p:txBody>
            <a:bodyPr wrap="square" lIns="762" tIns="762" rIns="762" bIns="762" rtlCol="0" anchor="ctr">
              <a:normAutofit/>
            </a:bodyPr>
            <a:lstStyle/>
            <a:p>
              <a:r>
                <a:rPr lang="fr-FR" sz="110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Le top buteurs mesure le volume de buts.</a:t>
              </a:r>
            </a:p>
            <a:p>
              <a:pPr>
                <a:spcBef>
                  <a:spcPts val="600"/>
                </a:spcBef>
              </a:pPr>
              <a:r>
                <a:rPr lang="fr-FR" sz="110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La différence buts - xG mesure l’efficacité de finition.</a:t>
              </a:r>
            </a:p>
            <a:p>
              <a:pPr>
                <a:spcBef>
                  <a:spcPts val="600"/>
                </a:spcBef>
              </a:pPr>
              <a:r>
                <a:rPr lang="fr-FR" sz="1100" dirty="0">
                  <a:solidFill>
                    <a:srgbClr val="17252A"/>
                  </a:solidFill>
                  <a:latin typeface="Aptos" pitchFamily="34" charset="0"/>
                  <a:ea typeface="Aptos" pitchFamily="34" charset="-122"/>
                  <a:cs typeface="Aptos" pitchFamily="34" charset="-120"/>
                </a:rPr>
                <a:t>Le ratio buts/90 compare les joueurs à temps de jeu équivalent.</a:t>
              </a:r>
              <a:endParaRPr lang="en-US" sz="11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7247641" y="3273377"/>
              <a:ext cx="4076181" cy="5249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250" b="1" dirty="0">
                  <a:solidFill>
                    <a:srgbClr val="E20044"/>
                  </a:solidFill>
                </a:rPr>
                <a:t>La combinaison de </a:t>
              </a:r>
              <a:r>
                <a:rPr lang="en-US" sz="1250" b="1" dirty="0" err="1">
                  <a:solidFill>
                    <a:srgbClr val="E20044"/>
                  </a:solidFill>
                </a:rPr>
                <a:t>ces</a:t>
              </a:r>
              <a:r>
                <a:rPr lang="en-US" sz="1250" b="1" dirty="0">
                  <a:solidFill>
                    <a:srgbClr val="E20044"/>
                  </a:solidFill>
                </a:rPr>
                <a:t> métriques est plus robuste qu’un simple classement par buts.</a:t>
              </a:r>
              <a:endParaRPr lang="en-US" sz="1250" dirty="0"/>
            </a:p>
          </p:txBody>
        </p:sp>
        <p:grpSp>
          <p:nvGrpSpPr>
            <p:cNvPr id="29" name="Groupe 28">
              <a:extLst>
                <a:ext uri="{FF2B5EF4-FFF2-40B4-BE49-F238E27FC236}">
                  <a16:creationId xmlns:a16="http://schemas.microsoft.com/office/drawing/2014/main" id="{2A59BF2F-1500-A437-2A19-257F31457257}"/>
                </a:ext>
              </a:extLst>
            </p:cNvPr>
            <p:cNvGrpSpPr/>
            <p:nvPr/>
          </p:nvGrpSpPr>
          <p:grpSpPr>
            <a:xfrm>
              <a:off x="7259329" y="3884193"/>
              <a:ext cx="1114732" cy="456942"/>
              <a:chOff x="7259329" y="3884193"/>
              <a:chExt cx="1114732" cy="456942"/>
            </a:xfrm>
          </p:grpSpPr>
          <p:sp>
            <p:nvSpPr>
              <p:cNvPr id="19" name="Shape 11">
                <a:extLst>
                  <a:ext uri="{FF2B5EF4-FFF2-40B4-BE49-F238E27FC236}">
                    <a16:creationId xmlns:a16="http://schemas.microsoft.com/office/drawing/2014/main" id="{5B2DDF0A-2E9B-D825-4F51-385448C33922}"/>
                  </a:ext>
                </a:extLst>
              </p:cNvPr>
              <p:cNvSpPr/>
              <p:nvPr/>
            </p:nvSpPr>
            <p:spPr>
              <a:xfrm>
                <a:off x="7259329" y="3884193"/>
                <a:ext cx="1114731" cy="456942"/>
              </a:xfrm>
              <a:prstGeom prst="roundRect">
                <a:avLst>
                  <a:gd name="adj" fmla="val 15152"/>
                </a:avLst>
              </a:prstGeom>
              <a:solidFill>
                <a:srgbClr val="E20044"/>
              </a:solidFill>
              <a:ln w="12700">
                <a:solidFill>
                  <a:srgbClr val="E20044">
                    <a:alpha val="0"/>
                  </a:srgbClr>
                </a:solidFill>
                <a:prstDash val="solid"/>
              </a:ln>
            </p:spPr>
          </p:sp>
          <p:sp>
            <p:nvSpPr>
              <p:cNvPr id="20" name="Text 12">
                <a:extLst>
                  <a:ext uri="{FF2B5EF4-FFF2-40B4-BE49-F238E27FC236}">
                    <a16:creationId xmlns:a16="http://schemas.microsoft.com/office/drawing/2014/main" id="{916ABABC-C398-79CF-10F7-CD3BE07A1AAE}"/>
                  </a:ext>
                </a:extLst>
              </p:cNvPr>
              <p:cNvSpPr/>
              <p:nvPr/>
            </p:nvSpPr>
            <p:spPr>
              <a:xfrm>
                <a:off x="7750744" y="3884193"/>
                <a:ext cx="623317" cy="45694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Volume</a:t>
                </a:r>
              </a:p>
              <a:p>
                <a:pPr marL="0" indent="0">
                  <a:buNone/>
                </a:pPr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</a:rPr>
                  <a:t>Buts</a:t>
                </a:r>
              </a:p>
            </p:txBody>
          </p:sp>
        </p:grpSp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6D1F0992-17C1-A27C-E61C-DCFCD362A944}"/>
                </a:ext>
              </a:extLst>
            </p:cNvPr>
            <p:cNvGrpSpPr/>
            <p:nvPr/>
          </p:nvGrpSpPr>
          <p:grpSpPr>
            <a:xfrm>
              <a:off x="8467346" y="3886120"/>
              <a:ext cx="1310302" cy="456942"/>
              <a:chOff x="8467346" y="3886120"/>
              <a:chExt cx="1310302" cy="456942"/>
            </a:xfrm>
          </p:grpSpPr>
          <p:sp>
            <p:nvSpPr>
              <p:cNvPr id="21" name="Shape 13">
                <a:extLst>
                  <a:ext uri="{FF2B5EF4-FFF2-40B4-BE49-F238E27FC236}">
                    <a16:creationId xmlns:a16="http://schemas.microsoft.com/office/drawing/2014/main" id="{2F5912B3-DC24-1791-CC29-9A3FB96A432C}"/>
                  </a:ext>
                </a:extLst>
              </p:cNvPr>
              <p:cNvSpPr/>
              <p:nvPr/>
            </p:nvSpPr>
            <p:spPr>
              <a:xfrm>
                <a:off x="8467346" y="3886120"/>
                <a:ext cx="1310302" cy="456942"/>
              </a:xfrm>
              <a:prstGeom prst="roundRect">
                <a:avLst>
                  <a:gd name="adj" fmla="val 15152"/>
                </a:avLst>
              </a:prstGeom>
              <a:solidFill>
                <a:srgbClr val="0F5B7F"/>
              </a:solidFill>
              <a:ln w="12700">
                <a:solidFill>
                  <a:srgbClr val="0F5B7F">
                    <a:alpha val="0"/>
                  </a:srgbClr>
                </a:solidFill>
                <a:prstDash val="solid"/>
              </a:ln>
            </p:spPr>
          </p:sp>
          <p:sp>
            <p:nvSpPr>
              <p:cNvPr id="22" name="Text 14">
                <a:extLst>
                  <a:ext uri="{FF2B5EF4-FFF2-40B4-BE49-F238E27FC236}">
                    <a16:creationId xmlns:a16="http://schemas.microsoft.com/office/drawing/2014/main" id="{E6E3FEA0-B467-69C9-3C0F-6C55EC28E797}"/>
                  </a:ext>
                </a:extLst>
              </p:cNvPr>
              <p:cNvSpPr/>
              <p:nvPr/>
            </p:nvSpPr>
            <p:spPr>
              <a:xfrm>
                <a:off x="9000545" y="3908070"/>
                <a:ext cx="709650" cy="42036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Éfficacité</a:t>
                </a:r>
              </a:p>
              <a:p>
                <a:pPr marL="0" indent="0">
                  <a:buNone/>
                </a:pPr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</a:rPr>
                  <a:t>Buts - xg</a:t>
                </a:r>
              </a:p>
            </p:txBody>
          </p:sp>
        </p:grpSp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5FEDBB3F-DCF8-ACD7-1881-13AA2A9EF87B}"/>
                </a:ext>
              </a:extLst>
            </p:cNvPr>
            <p:cNvGrpSpPr/>
            <p:nvPr/>
          </p:nvGrpSpPr>
          <p:grpSpPr>
            <a:xfrm>
              <a:off x="9870933" y="3865667"/>
              <a:ext cx="1486359" cy="475862"/>
              <a:chOff x="9870933" y="3865667"/>
              <a:chExt cx="1486359" cy="475862"/>
            </a:xfrm>
          </p:grpSpPr>
          <p:sp>
            <p:nvSpPr>
              <p:cNvPr id="23" name="Shape 15">
                <a:extLst>
                  <a:ext uri="{FF2B5EF4-FFF2-40B4-BE49-F238E27FC236}">
                    <a16:creationId xmlns:a16="http://schemas.microsoft.com/office/drawing/2014/main" id="{732BF376-4D92-A257-3D5A-4D339613017B}"/>
                  </a:ext>
                </a:extLst>
              </p:cNvPr>
              <p:cNvSpPr/>
              <p:nvPr/>
            </p:nvSpPr>
            <p:spPr>
              <a:xfrm>
                <a:off x="9870933" y="3865667"/>
                <a:ext cx="1486359" cy="475862"/>
              </a:xfrm>
              <a:prstGeom prst="roundRect">
                <a:avLst>
                  <a:gd name="adj" fmla="val 15152"/>
                </a:avLst>
              </a:prstGeom>
              <a:solidFill>
                <a:srgbClr val="2E7D32"/>
              </a:solidFill>
              <a:ln w="12700">
                <a:solidFill>
                  <a:srgbClr val="2E7D32">
                    <a:alpha val="0"/>
                  </a:srgbClr>
                </a:solidFill>
                <a:prstDash val="solid"/>
              </a:ln>
            </p:spPr>
          </p:sp>
          <p:sp>
            <p:nvSpPr>
              <p:cNvPr id="24" name="Text 16">
                <a:extLst>
                  <a:ext uri="{FF2B5EF4-FFF2-40B4-BE49-F238E27FC236}">
                    <a16:creationId xmlns:a16="http://schemas.microsoft.com/office/drawing/2014/main" id="{DF45E271-43C1-8076-D0AC-B1938E742F9E}"/>
                  </a:ext>
                </a:extLst>
              </p:cNvPr>
              <p:cNvSpPr/>
              <p:nvPr/>
            </p:nvSpPr>
            <p:spPr>
              <a:xfrm>
                <a:off x="10397764" y="3865667"/>
                <a:ext cx="959527" cy="47586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Temps de jeu</a:t>
                </a:r>
              </a:p>
              <a:p>
                <a:pPr marL="0" indent="0">
                  <a:buNone/>
                </a:pPr>
                <a:r>
                  <a:rPr lang="en-US" sz="1100" dirty="0">
                    <a:solidFill>
                      <a:schemeClr val="bg1">
                        <a:lumMod val="85000"/>
                      </a:schemeClr>
                    </a:solidFill>
                  </a:rPr>
                  <a:t>Buts/90</a:t>
                </a:r>
              </a:p>
            </p:txBody>
          </p:sp>
        </p:grpSp>
      </p:grpSp>
      <p:grpSp>
        <p:nvGrpSpPr>
          <p:cNvPr id="26" name="Footer">
            <a:extLst>
              <a:ext uri="{FF2B5EF4-FFF2-40B4-BE49-F238E27FC236}">
                <a16:creationId xmlns:a16="http://schemas.microsoft.com/office/drawing/2014/main" id="{6FA73A83-5A2A-63E6-BAE5-D3EB6C3202F5}"/>
              </a:ext>
            </a:extLst>
          </p:cNvPr>
          <p:cNvGrpSpPr/>
          <p:nvPr/>
        </p:nvGrpSpPr>
        <p:grpSpPr>
          <a:xfrm>
            <a:off x="502920" y="6446520"/>
            <a:ext cx="11155680" cy="228600"/>
            <a:chOff x="502920" y="6446520"/>
            <a:chExt cx="11155680" cy="228600"/>
          </a:xfrm>
        </p:grpSpPr>
        <p:sp>
          <p:nvSpPr>
            <p:cNvPr id="6" name="Shape 3"/>
            <p:cNvSpPr/>
            <p:nvPr/>
          </p:nvSpPr>
          <p:spPr>
            <a:xfrm>
              <a:off x="502920" y="6446520"/>
              <a:ext cx="11155680" cy="0"/>
            </a:xfrm>
            <a:prstGeom prst="line">
              <a:avLst/>
            </a:prstGeom>
            <a:noFill/>
            <a:ln w="7620">
              <a:solidFill>
                <a:srgbClr val="DCE4E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02920" y="6510528"/>
              <a:ext cx="4754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SportDataPulse · Business Intelligence Analyst</a:t>
              </a:r>
              <a:endParaRPr lang="en-US" sz="7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1201400" y="6510528"/>
              <a:ext cx="411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13</a:t>
              </a:r>
              <a:endParaRPr lang="en-US" sz="750" dirty="0"/>
            </a:p>
          </p:txBody>
        </p:sp>
      </p:grpSp>
      <p:pic>
        <p:nvPicPr>
          <p:cNvPr id="31" name="Logo image" descr="/mnt/data/assets_spdp/logo_icon.png">
            <a:extLst>
              <a:ext uri="{FF2B5EF4-FFF2-40B4-BE49-F238E27FC236}">
                <a16:creationId xmlns:a16="http://schemas.microsoft.com/office/drawing/2014/main" id="{EE802E91-0E94-825F-3E78-8F9A017BAA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829D2E2A-2B32-732B-8018-1475BEBA02DF}"/>
              </a:ext>
            </a:extLst>
          </p:cNvPr>
          <p:cNvSpPr/>
          <p:nvPr/>
        </p:nvSpPr>
        <p:spPr>
          <a:xfrm>
            <a:off x="7172181" y="1508965"/>
            <a:ext cx="475044" cy="475044"/>
          </a:xfrm>
          <a:prstGeom prst="roundRect">
            <a:avLst/>
          </a:prstGeom>
          <a:solidFill>
            <a:srgbClr val="FF81A8">
              <a:alpha val="32000"/>
            </a:srgbClr>
          </a:solidFill>
          <a:ln>
            <a:solidFill>
              <a:srgbClr val="E200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8CB45851-7378-B722-2494-A9B98CE07ACF}"/>
              </a:ext>
            </a:extLst>
          </p:cNvPr>
          <p:cNvSpPr/>
          <p:nvPr/>
        </p:nvSpPr>
        <p:spPr>
          <a:xfrm>
            <a:off x="7316615" y="2223742"/>
            <a:ext cx="72000" cy="72000"/>
          </a:xfrm>
          <a:prstGeom prst="ellipse">
            <a:avLst/>
          </a:prstGeom>
          <a:solidFill>
            <a:srgbClr val="E200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BFF7AD1C-5989-4CD1-4F56-BF47606EB980}"/>
              </a:ext>
            </a:extLst>
          </p:cNvPr>
          <p:cNvSpPr/>
          <p:nvPr/>
        </p:nvSpPr>
        <p:spPr>
          <a:xfrm>
            <a:off x="7316615" y="2496266"/>
            <a:ext cx="72000" cy="72000"/>
          </a:xfrm>
          <a:prstGeom prst="ellipse">
            <a:avLst/>
          </a:prstGeom>
          <a:solidFill>
            <a:srgbClr val="E200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08D4EFD6-3839-2238-DCB0-0B8C729A8993}"/>
              </a:ext>
            </a:extLst>
          </p:cNvPr>
          <p:cNvSpPr/>
          <p:nvPr/>
        </p:nvSpPr>
        <p:spPr>
          <a:xfrm>
            <a:off x="7316615" y="2741104"/>
            <a:ext cx="72000" cy="72000"/>
          </a:xfrm>
          <a:prstGeom prst="ellipse">
            <a:avLst/>
          </a:prstGeom>
          <a:solidFill>
            <a:srgbClr val="E200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4DD1C3A7-E794-2881-E2CF-D713D3C3AF7A}"/>
              </a:ext>
            </a:extLst>
          </p:cNvPr>
          <p:cNvSpPr/>
          <p:nvPr/>
        </p:nvSpPr>
        <p:spPr>
          <a:xfrm>
            <a:off x="6976872" y="4359413"/>
            <a:ext cx="4617720" cy="1921759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002060"/>
                </a:gs>
                <a:gs pos="51000">
                  <a:srgbClr val="0070C0"/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8F37438F-096B-E485-FF99-64ED424FA468}"/>
              </a:ext>
            </a:extLst>
          </p:cNvPr>
          <p:cNvSpPr/>
          <p:nvPr/>
        </p:nvSpPr>
        <p:spPr>
          <a:xfrm>
            <a:off x="7643000" y="4525366"/>
            <a:ext cx="1908753" cy="17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</a:rPr>
              <a:t>Extrait SQL</a:t>
            </a:r>
            <a:endParaRPr lang="en-US" sz="1700" dirty="0">
              <a:solidFill>
                <a:srgbClr val="002060"/>
              </a:solidFill>
            </a:endParaRPr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F1F100EE-C24D-CBCA-2130-523C02E98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6494" y="4535459"/>
            <a:ext cx="304843" cy="197539"/>
          </a:xfrm>
          <a:prstGeom prst="rect">
            <a:avLst/>
          </a:prstGeom>
        </p:spPr>
      </p:pic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C54E2B96-3EBF-8F56-C074-773119F2DDD7}"/>
              </a:ext>
            </a:extLst>
          </p:cNvPr>
          <p:cNvSpPr/>
          <p:nvPr/>
        </p:nvSpPr>
        <p:spPr>
          <a:xfrm>
            <a:off x="7148916" y="4453167"/>
            <a:ext cx="360000" cy="360000"/>
          </a:xfrm>
          <a:prstGeom prst="roundRect">
            <a:avLst/>
          </a:prstGeom>
          <a:solidFill>
            <a:schemeClr val="accent3">
              <a:lumMod val="75000"/>
              <a:alpha val="32000"/>
            </a:schemeClr>
          </a:solidFill>
          <a:ln>
            <a:solidFill>
              <a:srgbClr val="0F5B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8" name="Image 47">
            <a:extLst>
              <a:ext uri="{FF2B5EF4-FFF2-40B4-BE49-F238E27FC236}">
                <a16:creationId xmlns:a16="http://schemas.microsoft.com/office/drawing/2014/main" id="{59089B10-F46F-8AEB-492D-78B0A7B3B6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8916" y="4976497"/>
            <a:ext cx="4338789" cy="1113407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7712C84C-A75B-7354-B663-2234C95E43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3441" y="1572916"/>
            <a:ext cx="304843" cy="304843"/>
          </a:xfrm>
          <a:prstGeom prst="rect">
            <a:avLst/>
          </a:prstGeom>
        </p:spPr>
      </p:pic>
      <p:pic>
        <p:nvPicPr>
          <p:cNvPr id="52" name="Image 51">
            <a:extLst>
              <a:ext uri="{FF2B5EF4-FFF2-40B4-BE49-F238E27FC236}">
                <a16:creationId xmlns:a16="http://schemas.microsoft.com/office/drawing/2014/main" id="{42E970A8-5737-F8C1-2C0A-1611485617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2615" y="3569130"/>
            <a:ext cx="304843" cy="304843"/>
          </a:xfrm>
          <a:prstGeom prst="rect">
            <a:avLst/>
          </a:prstGeom>
        </p:spPr>
      </p:pic>
      <p:pic>
        <p:nvPicPr>
          <p:cNvPr id="54" name="Image 53">
            <a:extLst>
              <a:ext uri="{FF2B5EF4-FFF2-40B4-BE49-F238E27FC236}">
                <a16:creationId xmlns:a16="http://schemas.microsoft.com/office/drawing/2014/main" id="{18946D75-37C4-1E21-1FF9-A30B15CD25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81524" y="3577819"/>
            <a:ext cx="304843" cy="304843"/>
          </a:xfrm>
          <a:prstGeom prst="rect">
            <a:avLst/>
          </a:prstGeom>
        </p:spPr>
      </p:pic>
      <p:pic>
        <p:nvPicPr>
          <p:cNvPr id="56" name="Image 55">
            <a:extLst>
              <a:ext uri="{FF2B5EF4-FFF2-40B4-BE49-F238E27FC236}">
                <a16:creationId xmlns:a16="http://schemas.microsoft.com/office/drawing/2014/main" id="{5A99B1D8-BF47-68E7-BA2B-7261C083B03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81348" y="3569129"/>
            <a:ext cx="304843" cy="304843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5FE97899-CB79-53D8-95EE-5E3C9ECCD98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 </a:t>
            </a:r>
            <a:r>
              <a:rPr lang="en-US" b="1" dirty="0" err="1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clé</a:t>
            </a:r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3 : efficacité </a:t>
            </a:r>
            <a:r>
              <a:rPr lang="en-US" b="1" dirty="0" err="1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individuelle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11">
            <a:extLst>
              <a:ext uri="{FF2B5EF4-FFF2-40B4-BE49-F238E27FC236}">
                <a16:creationId xmlns:a16="http://schemas.microsoft.com/office/drawing/2014/main" id="{7A5D2130-8A1A-CDA3-51BA-CE1D0C45D886}"/>
              </a:ext>
            </a:extLst>
          </p:cNvPr>
          <p:cNvSpPr/>
          <p:nvPr/>
        </p:nvSpPr>
        <p:spPr>
          <a:xfrm>
            <a:off x="849826" y="5162968"/>
            <a:ext cx="10600394" cy="1118208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002060"/>
                </a:gs>
                <a:gs pos="52000">
                  <a:srgbClr val="00B0F0"/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502920" y="32918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 clé 4 : discipline, temps de jeu et penalties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07D8B"/>
                </a:solidFill>
              </a:rPr>
              <a:t>SportDataPulse · Ligue 1 2025 · Analyse BI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CE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D8B"/>
                </a:solidFill>
              </a:rPr>
              <a:t>SportDataPulse · Business Intelligence Analyst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07D8B"/>
                </a:solidFill>
              </a:rPr>
              <a:t>14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868680" y="1696212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E20044"/>
                </a:gs>
                <a:gs pos="51000">
                  <a:schemeClr val="accent1">
                    <a:lumMod val="45000"/>
                    <a:lumOff val="55000"/>
                  </a:schemeClr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737360" y="1872846"/>
            <a:ext cx="1417320" cy="360000"/>
          </a:xfrm>
          <a:prstGeom prst="roundRect">
            <a:avLst>
              <a:gd name="adj" fmla="val 14286"/>
            </a:avLst>
          </a:prstGeom>
          <a:solidFill>
            <a:srgbClr val="E20044"/>
          </a:solidFill>
          <a:ln w="12700">
            <a:solidFill>
              <a:srgbClr val="E200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" name="Text 8"/>
          <p:cNvSpPr/>
          <p:nvPr/>
        </p:nvSpPr>
        <p:spPr>
          <a:xfrm>
            <a:off x="1810512" y="1913326"/>
            <a:ext cx="1271016" cy="32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Discipline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Text 9"/>
          <p:cNvSpPr/>
          <p:nvPr/>
        </p:nvSpPr>
        <p:spPr>
          <a:xfrm>
            <a:off x="891540" y="35711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52A"/>
                </a:solidFill>
              </a:rPr>
              <a:t>Cartons rouges rapportés aux titularisations.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68680" y="40361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07D8B"/>
                </a:solidFill>
              </a:rPr>
              <a:t>Repérer les profils à risque.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0" y="1696212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002060"/>
                </a:gs>
                <a:gs pos="51000">
                  <a:srgbClr val="00B0F0"/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63540" y="1860837"/>
            <a:ext cx="1417320" cy="360000"/>
          </a:xfrm>
          <a:prstGeom prst="roundRect">
            <a:avLst>
              <a:gd name="adj" fmla="val 14286"/>
            </a:avLst>
          </a:prstGeom>
          <a:solidFill>
            <a:srgbClr val="0F5B7F"/>
          </a:solidFill>
          <a:ln w="12700">
            <a:solidFill>
              <a:srgbClr val="0F5B7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36692" y="1897413"/>
            <a:ext cx="1271016" cy="32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Temps de jeu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 14"/>
          <p:cNvSpPr/>
          <p:nvPr/>
        </p:nvSpPr>
        <p:spPr>
          <a:xfrm>
            <a:off x="4937995" y="3578988"/>
            <a:ext cx="2422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52A"/>
                </a:solidFill>
              </a:rPr>
              <a:t>Minutes moyennes et matchs 90 par poste.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615992" y="4073652"/>
            <a:ext cx="3131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07D8B"/>
                </a:solidFill>
              </a:rPr>
              <a:t>Comparer l’utilisation réelle des profils.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95540" y="1696212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266829"/>
                </a:gs>
                <a:gs pos="51000">
                  <a:srgbClr val="92D050"/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144000" y="1860837"/>
            <a:ext cx="1417320" cy="360000"/>
          </a:xfrm>
          <a:prstGeom prst="roundRect">
            <a:avLst>
              <a:gd name="adj" fmla="val 14286"/>
            </a:avLst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40012" y="1882970"/>
            <a:ext cx="1271016" cy="32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Penalties</a:t>
            </a:r>
            <a:endParaRPr 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Text 19"/>
          <p:cNvSpPr/>
          <p:nvPr/>
        </p:nvSpPr>
        <p:spPr>
          <a:xfrm>
            <a:off x="8615580" y="357972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52A"/>
                </a:solidFill>
              </a:rPr>
              <a:t>Volume marqué + taux de réussite.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8663233" y="4069740"/>
            <a:ext cx="2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607D8B"/>
                </a:solidFill>
              </a:rPr>
              <a:t>Identifier les spécialistes fiables.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2144396" y="5490972"/>
            <a:ext cx="57364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52A"/>
                </a:solidFill>
              </a:rPr>
              <a:t>Ces indicateurs replacent les chiffres dans leur contexte d’utilisation : un carton ou un but n’a pas le même poids selon le temps de jeu.</a:t>
            </a:r>
            <a:endParaRPr lang="en-US" sz="1400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A8B3C0F8-8DEA-813C-9B78-7FBF4B4879CA}"/>
              </a:ext>
            </a:extLst>
          </p:cNvPr>
          <p:cNvSpPr/>
          <p:nvPr/>
        </p:nvSpPr>
        <p:spPr>
          <a:xfrm>
            <a:off x="502920" y="1124712"/>
            <a:ext cx="2148840" cy="0"/>
          </a:xfrm>
          <a:prstGeom prst="line">
            <a:avLst/>
          </a:prstGeom>
          <a:noFill/>
          <a:ln w="38100">
            <a:solidFill>
              <a:srgbClr val="E2004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pic>
        <p:nvPicPr>
          <p:cNvPr id="28" name="Logo image" descr="/mnt/data/assets_spdp/logo_icon.png">
            <a:extLst>
              <a:ext uri="{FF2B5EF4-FFF2-40B4-BE49-F238E27FC236}">
                <a16:creationId xmlns:a16="http://schemas.microsoft.com/office/drawing/2014/main" id="{C2A639BA-FE66-3103-C285-33D79882B7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62946F3B-0197-49DA-694D-65ACD88846C8}"/>
              </a:ext>
            </a:extLst>
          </p:cNvPr>
          <p:cNvCxnSpPr/>
          <p:nvPr/>
        </p:nvCxnSpPr>
        <p:spPr>
          <a:xfrm>
            <a:off x="960120" y="4609707"/>
            <a:ext cx="2857736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A3B701BA-AECE-4EDA-4E3C-9B3F8302AB2F}"/>
              </a:ext>
            </a:extLst>
          </p:cNvPr>
          <p:cNvCxnSpPr/>
          <p:nvPr/>
        </p:nvCxnSpPr>
        <p:spPr>
          <a:xfrm>
            <a:off x="4743332" y="4609707"/>
            <a:ext cx="2857736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7935EA5D-02DD-4520-2D35-FB0B0EB2ABD8}"/>
              </a:ext>
            </a:extLst>
          </p:cNvPr>
          <p:cNvCxnSpPr/>
          <p:nvPr/>
        </p:nvCxnSpPr>
        <p:spPr>
          <a:xfrm>
            <a:off x="8446652" y="4609707"/>
            <a:ext cx="2857736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Ellipse 33">
            <a:extLst>
              <a:ext uri="{FF2B5EF4-FFF2-40B4-BE49-F238E27FC236}">
                <a16:creationId xmlns:a16="http://schemas.microsoft.com/office/drawing/2014/main" id="{0998CA34-2E68-54DF-5069-A0B811F7AAE0}"/>
              </a:ext>
            </a:extLst>
          </p:cNvPr>
          <p:cNvSpPr/>
          <p:nvPr/>
        </p:nvSpPr>
        <p:spPr>
          <a:xfrm>
            <a:off x="1942323" y="2462337"/>
            <a:ext cx="1007394" cy="1007394"/>
          </a:xfrm>
          <a:prstGeom prst="ellipse">
            <a:avLst/>
          </a:prstGeom>
          <a:solidFill>
            <a:srgbClr val="E2004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C7FC322C-150E-8B98-F9E6-F6C1FD0F8759}"/>
              </a:ext>
            </a:extLst>
          </p:cNvPr>
          <p:cNvSpPr/>
          <p:nvPr/>
        </p:nvSpPr>
        <p:spPr>
          <a:xfrm>
            <a:off x="2114550" y="2675031"/>
            <a:ext cx="440114" cy="574098"/>
          </a:xfrm>
          <a:prstGeom prst="roundRect">
            <a:avLst/>
          </a:prstGeom>
          <a:solidFill>
            <a:srgbClr val="E20044"/>
          </a:solidFill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EA4313F5-F515-0FC0-7A79-9143AE420934}"/>
              </a:ext>
            </a:extLst>
          </p:cNvPr>
          <p:cNvSpPr/>
          <p:nvPr/>
        </p:nvSpPr>
        <p:spPr>
          <a:xfrm>
            <a:off x="2346037" y="2839565"/>
            <a:ext cx="482946" cy="482946"/>
          </a:xfrm>
          <a:prstGeom prst="ellipse">
            <a:avLst/>
          </a:prstGeom>
          <a:solidFill>
            <a:schemeClr val="bg1">
              <a:alpha val="91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7" name="Image 36" descr="Une image contenant cercle, symbole, Graphiqu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B00D7B98-EA01-1BBC-9208-6D8AA66865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7452" y="2851045"/>
            <a:ext cx="461531" cy="461531"/>
          </a:xfrm>
          <a:prstGeom prst="rect">
            <a:avLst/>
          </a:prstGeom>
          <a:ln w="19050"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39" name="Ellipse 38">
            <a:extLst>
              <a:ext uri="{FF2B5EF4-FFF2-40B4-BE49-F238E27FC236}">
                <a16:creationId xmlns:a16="http://schemas.microsoft.com/office/drawing/2014/main" id="{08F42CFF-DBF7-1DBF-DCF3-325B917BAE8F}"/>
              </a:ext>
            </a:extLst>
          </p:cNvPr>
          <p:cNvSpPr/>
          <p:nvPr/>
        </p:nvSpPr>
        <p:spPr>
          <a:xfrm>
            <a:off x="5577063" y="2424568"/>
            <a:ext cx="1007394" cy="1007394"/>
          </a:xfrm>
          <a:prstGeom prst="ellipse">
            <a:avLst/>
          </a:prstGeom>
          <a:solidFill>
            <a:srgbClr val="002060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1" name="Image 40" descr="Une image contenant symbole, capture d’écran, Graphique, cercle&#10;&#10;Le contenu généré par l’IA peut être incorrect.">
            <a:extLst>
              <a:ext uri="{FF2B5EF4-FFF2-40B4-BE49-F238E27FC236}">
                <a16:creationId xmlns:a16="http://schemas.microsoft.com/office/drawing/2014/main" id="{CF26C6E2-FFC3-AAE6-F4A2-5D2F81A2E9B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5000"/>
          </a:blip>
          <a:stretch>
            <a:fillRect/>
          </a:stretch>
        </p:blipFill>
        <p:spPr>
          <a:xfrm>
            <a:off x="5783929" y="2746035"/>
            <a:ext cx="609685" cy="609685"/>
          </a:xfrm>
          <a:prstGeom prst="rect">
            <a:avLst/>
          </a:prstGeom>
        </p:spPr>
      </p:pic>
      <p:sp>
        <p:nvSpPr>
          <p:cNvPr id="44" name="Ellipse 43">
            <a:extLst>
              <a:ext uri="{FF2B5EF4-FFF2-40B4-BE49-F238E27FC236}">
                <a16:creationId xmlns:a16="http://schemas.microsoft.com/office/drawing/2014/main" id="{12B50326-AE8E-ECBB-664A-29765AEF90B8}"/>
              </a:ext>
            </a:extLst>
          </p:cNvPr>
          <p:cNvSpPr/>
          <p:nvPr/>
        </p:nvSpPr>
        <p:spPr>
          <a:xfrm>
            <a:off x="5757520" y="2609446"/>
            <a:ext cx="482946" cy="482946"/>
          </a:xfrm>
          <a:prstGeom prst="ellipse">
            <a:avLst/>
          </a:prstGeom>
          <a:solidFill>
            <a:schemeClr val="bg1">
              <a:alpha val="91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3" name="Image 42" descr="Une image contenant cercle&#10;&#10;Le contenu généré par l’IA peut être incorrect.">
            <a:extLst>
              <a:ext uri="{FF2B5EF4-FFF2-40B4-BE49-F238E27FC236}">
                <a16:creationId xmlns:a16="http://schemas.microsoft.com/office/drawing/2014/main" id="{67875820-052E-8FB4-DBA9-8EC5EE78C3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5634" y="2503847"/>
            <a:ext cx="609685" cy="609685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45" name="Ellipse 44">
            <a:extLst>
              <a:ext uri="{FF2B5EF4-FFF2-40B4-BE49-F238E27FC236}">
                <a16:creationId xmlns:a16="http://schemas.microsoft.com/office/drawing/2014/main" id="{00A68EB3-C32D-91DF-F2E1-16F704BB9FBB}"/>
              </a:ext>
            </a:extLst>
          </p:cNvPr>
          <p:cNvSpPr/>
          <p:nvPr/>
        </p:nvSpPr>
        <p:spPr>
          <a:xfrm>
            <a:off x="9348963" y="2424568"/>
            <a:ext cx="1007394" cy="1007394"/>
          </a:xfrm>
          <a:prstGeom prst="ellipse">
            <a:avLst/>
          </a:prstGeom>
          <a:solidFill>
            <a:srgbClr val="266829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7" name="Image 46" descr="Une image contenant symbole, cercle&#10;&#10;Le contenu généré par l’IA peut être incorrect.">
            <a:extLst>
              <a:ext uri="{FF2B5EF4-FFF2-40B4-BE49-F238E27FC236}">
                <a16:creationId xmlns:a16="http://schemas.microsoft.com/office/drawing/2014/main" id="{858BC2A5-BAAB-2C17-3628-BC9F4B58CC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535" y="2454606"/>
            <a:ext cx="983822" cy="983822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49" name="Image 48" descr="Une image contenant balle, football, cercle&#10;&#10;Le contenu généré par l’IA peut être incorrect.">
            <a:extLst>
              <a:ext uri="{FF2B5EF4-FFF2-40B4-BE49-F238E27FC236}">
                <a16:creationId xmlns:a16="http://schemas.microsoft.com/office/drawing/2014/main" id="{DC1FC4F1-559A-E0C7-A103-66D57C8376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6542" y="2786095"/>
            <a:ext cx="308727" cy="308727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sp>
        <p:nvSpPr>
          <p:cNvPr id="50" name="ZoneTexte 21">
            <a:extLst>
              <a:ext uri="{FF2B5EF4-FFF2-40B4-BE49-F238E27FC236}">
                <a16:creationId xmlns:a16="http://schemas.microsoft.com/office/drawing/2014/main" id="{F60F7C18-6780-84E3-2275-5F5FCB1AAF68}"/>
              </a:ext>
            </a:extLst>
          </p:cNvPr>
          <p:cNvSpPr txBox="1"/>
          <p:nvPr/>
        </p:nvSpPr>
        <p:spPr>
          <a:xfrm>
            <a:off x="1229996" y="4655182"/>
            <a:ext cx="9144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fr-FR" sz="1100" b="1" dirty="0">
                <a:solidFill>
                  <a:srgbClr val="E20044"/>
                </a:solidFill>
              </a:rPr>
              <a:t>Requête 8</a:t>
            </a:r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F6299D71-9E49-824A-E843-7CC35BF715BD}"/>
              </a:ext>
            </a:extLst>
          </p:cNvPr>
          <p:cNvPicPr preferRelativeResize="0"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979176" y="4666194"/>
            <a:ext cx="230400" cy="230400"/>
          </a:xfrm>
          <a:prstGeom prst="rect">
            <a:avLst/>
          </a:prstGeom>
        </p:spPr>
      </p:pic>
      <p:sp>
        <p:nvSpPr>
          <p:cNvPr id="52" name="ZoneTexte 21">
            <a:extLst>
              <a:ext uri="{FF2B5EF4-FFF2-40B4-BE49-F238E27FC236}">
                <a16:creationId xmlns:a16="http://schemas.microsoft.com/office/drawing/2014/main" id="{FB469934-7DF2-0EED-4C27-FA40CF709805}"/>
              </a:ext>
            </a:extLst>
          </p:cNvPr>
          <p:cNvSpPr txBox="1"/>
          <p:nvPr/>
        </p:nvSpPr>
        <p:spPr>
          <a:xfrm>
            <a:off x="4937995" y="4655182"/>
            <a:ext cx="9144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fr-FR" sz="1100" b="1" dirty="0">
                <a:solidFill>
                  <a:srgbClr val="002060"/>
                </a:solidFill>
              </a:rPr>
              <a:t>Requête 7</a:t>
            </a:r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7BD22845-9869-6C0D-9F36-0A10B0B08D92}"/>
              </a:ext>
            </a:extLst>
          </p:cNvPr>
          <p:cNvPicPr preferRelativeResize="0">
            <a:picLocks/>
          </p:cNvPicPr>
          <p:nvPr/>
        </p:nvPicPr>
        <p:blipFill>
          <a:blip r:embed="rId10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687175" y="4666194"/>
            <a:ext cx="230400" cy="230400"/>
          </a:xfrm>
          <a:prstGeom prst="rect">
            <a:avLst/>
          </a:prstGeom>
        </p:spPr>
      </p:pic>
      <p:sp>
        <p:nvSpPr>
          <p:cNvPr id="54" name="ZoneTexte 21">
            <a:extLst>
              <a:ext uri="{FF2B5EF4-FFF2-40B4-BE49-F238E27FC236}">
                <a16:creationId xmlns:a16="http://schemas.microsoft.com/office/drawing/2014/main" id="{D8B8F2A4-4058-649B-3329-CC9A02EA23F8}"/>
              </a:ext>
            </a:extLst>
          </p:cNvPr>
          <p:cNvSpPr txBox="1"/>
          <p:nvPr/>
        </p:nvSpPr>
        <p:spPr>
          <a:xfrm>
            <a:off x="8663233" y="4676777"/>
            <a:ext cx="914400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fr-FR" sz="1100" b="1" dirty="0">
                <a:solidFill>
                  <a:srgbClr val="266829"/>
                </a:solidFill>
              </a:rPr>
              <a:t>Requête 5</a:t>
            </a:r>
          </a:p>
        </p:txBody>
      </p:sp>
      <p:pic>
        <p:nvPicPr>
          <p:cNvPr id="57" name="Image 56">
            <a:extLst>
              <a:ext uri="{FF2B5EF4-FFF2-40B4-BE49-F238E27FC236}">
                <a16:creationId xmlns:a16="http://schemas.microsoft.com/office/drawing/2014/main" id="{01472701-CF79-987B-E3E3-5A31E76FA1DA}"/>
              </a:ext>
            </a:extLst>
          </p:cNvPr>
          <p:cNvPicPr preferRelativeResize="0"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8384940" y="4692475"/>
            <a:ext cx="230400" cy="229174"/>
          </a:xfrm>
          <a:prstGeom prst="rect">
            <a:avLst/>
          </a:prstGeom>
        </p:spPr>
      </p:pic>
      <p:sp>
        <p:nvSpPr>
          <p:cNvPr id="59" name="Ellipse 58">
            <a:extLst>
              <a:ext uri="{FF2B5EF4-FFF2-40B4-BE49-F238E27FC236}">
                <a16:creationId xmlns:a16="http://schemas.microsoft.com/office/drawing/2014/main" id="{21E491B7-C1FB-7FE5-14C8-9B4AEECB889F}"/>
              </a:ext>
            </a:extLst>
          </p:cNvPr>
          <p:cNvSpPr/>
          <p:nvPr/>
        </p:nvSpPr>
        <p:spPr>
          <a:xfrm>
            <a:off x="1036956" y="5295610"/>
            <a:ext cx="809243" cy="809243"/>
          </a:xfrm>
          <a:prstGeom prst="ellipse">
            <a:avLst/>
          </a:prstGeom>
          <a:solidFill>
            <a:srgbClr val="002060">
              <a:alpha val="2470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1" name="Image 60" descr="Une image contenant Graphique, cercl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BC9094C-4B4D-0882-9860-FB15EF1FA64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6734" y="5396368"/>
            <a:ext cx="609685" cy="609685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3D42CE9B-2AFD-D356-37E0-BEB260A0C81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Résultat </a:t>
            </a:r>
            <a:r>
              <a:rPr lang="en-US" b="1" dirty="0" err="1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clé</a:t>
            </a:r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4 : discipline, temps de jeu et penalties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Header">
            <a:extLst>
              <a:ext uri="{FF2B5EF4-FFF2-40B4-BE49-F238E27FC236}">
                <a16:creationId xmlns:a16="http://schemas.microsoft.com/office/drawing/2014/main" id="{5C1C26A9-DB11-D2C8-D3A6-7FB71D872A60}"/>
              </a:ext>
            </a:extLst>
          </p:cNvPr>
          <p:cNvGrpSpPr/>
          <p:nvPr/>
        </p:nvGrpSpPr>
        <p:grpSpPr>
          <a:xfrm>
            <a:off x="502920" y="329184"/>
            <a:ext cx="9784080" cy="795528"/>
            <a:chOff x="502920" y="329184"/>
            <a:chExt cx="9784080" cy="795528"/>
          </a:xfrm>
        </p:grpSpPr>
        <p:sp>
          <p:nvSpPr>
            <p:cNvPr id="2" name="Text 0"/>
            <p:cNvSpPr/>
            <p:nvPr/>
          </p:nvSpPr>
          <p:spPr>
            <a:xfrm>
              <a:off x="502920" y="329184"/>
              <a:ext cx="9784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2500" b="1" dirty="0">
                  <a:solidFill>
                    <a:srgbClr val="17252A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Analyse enrichie : meilleur joueur en PrgP par club</a:t>
              </a:r>
              <a:endParaRPr lang="en-US" sz="25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530352" y="768096"/>
              <a:ext cx="7132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607D8B"/>
                  </a:solidFill>
                </a:rPr>
                <a:t>Identifier les moteurs de progression du ballon dans chaque club</a:t>
              </a:r>
              <a:endParaRPr lang="en-US" sz="1100" dirty="0"/>
            </a:p>
          </p:txBody>
        </p:sp>
        <p:sp>
          <p:nvSpPr>
            <p:cNvPr id="10" name="Shape 2">
              <a:extLst>
                <a:ext uri="{FF2B5EF4-FFF2-40B4-BE49-F238E27FC236}">
                  <a16:creationId xmlns:a16="http://schemas.microsoft.com/office/drawing/2014/main" id="{6DACF8DF-361B-9A96-0C60-56F28E2DFD16}"/>
                </a:ext>
              </a:extLst>
            </p:cNvPr>
            <p:cNvSpPr/>
            <p:nvPr/>
          </p:nvSpPr>
          <p:spPr>
            <a:xfrm>
              <a:off x="502920" y="1124712"/>
              <a:ext cx="2148840" cy="0"/>
            </a:xfrm>
            <a:prstGeom prst="line">
              <a:avLst/>
            </a:prstGeom>
            <a:noFill/>
            <a:ln w="38100">
              <a:solidFill>
                <a:srgbClr val="E20044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</p:grpSp>
      <p:sp>
        <p:nvSpPr>
          <p:cNvPr id="9" name="Shape 6"/>
          <p:cNvSpPr/>
          <p:nvPr/>
        </p:nvSpPr>
        <p:spPr>
          <a:xfrm>
            <a:off x="685800" y="1318835"/>
            <a:ext cx="4815840" cy="4981379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E20044"/>
                </a:gs>
                <a:gs pos="51000">
                  <a:schemeClr val="accent1">
                    <a:lumMod val="45000"/>
                    <a:lumOff val="55000"/>
                  </a:schemeClr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806440" y="1318835"/>
            <a:ext cx="5074920" cy="4981379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E20044"/>
                </a:gs>
                <a:gs pos="51000">
                  <a:schemeClr val="accent1">
                    <a:lumMod val="45000"/>
                    <a:lumOff val="55000"/>
                  </a:schemeClr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080760" y="14779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0044"/>
                </a:solidFill>
              </a:rPr>
              <a:t>Apport de la requête</a:t>
            </a:r>
            <a:endParaRPr lang="en-US" sz="1700" dirty="0">
              <a:solidFill>
                <a:srgbClr val="E20044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085159" y="2094689"/>
            <a:ext cx="4206240" cy="1417320"/>
          </a:xfrm>
          <a:prstGeom prst="roundRect">
            <a:avLst>
              <a:gd name="adj" fmla="val 5161"/>
            </a:avLst>
          </a:prstGeom>
          <a:solidFill>
            <a:srgbClr val="111820"/>
          </a:solidFill>
          <a:ln w="12700">
            <a:solidFill>
              <a:srgbClr val="111820"/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244069" y="2259281"/>
            <a:ext cx="3888419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chemeClr val="accent3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ROW_NUMBER()</a:t>
            </a:r>
            <a:r>
              <a:rPr lang="en-US" sz="920" dirty="0">
                <a:solidFill>
                  <a:srgbClr val="E20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2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 (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PARTITION BY e.</a:t>
            </a:r>
            <a:r>
              <a:rPr lang="en-US" sz="92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id_equipe</a:t>
            </a:r>
            <a:endParaRPr lang="en-US" sz="92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92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20" dirty="0">
                <a:solidFill>
                  <a:srgbClr val="FF6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2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pr.</a:t>
            </a:r>
            <a:r>
              <a:rPr lang="en-US" sz="92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progression_passe </a:t>
            </a:r>
            <a:r>
              <a:rPr lang="en-US" sz="920" dirty="0">
                <a:solidFill>
                  <a:srgbClr val="FF6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endParaRPr lang="en-US" sz="920" dirty="0">
              <a:solidFill>
                <a:srgbClr val="FF6600"/>
              </a:solidFill>
            </a:endParaRPr>
          </a:p>
          <a:p>
            <a:pPr marL="0" indent="0">
              <a:buNone/>
            </a:pPr>
            <a:r>
              <a:rPr lang="en-US" sz="92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920" dirty="0">
                <a:solidFill>
                  <a:srgbClr val="FF6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92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FF6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920" dirty="0">
                <a:solidFill>
                  <a:srgbClr val="DCE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rang = 1</a:t>
            </a:r>
            <a:endParaRPr lang="en-US" sz="920" dirty="0"/>
          </a:p>
        </p:txBody>
      </p:sp>
      <p:sp>
        <p:nvSpPr>
          <p:cNvPr id="16" name="Text 12"/>
          <p:cNvSpPr/>
          <p:nvPr/>
        </p:nvSpPr>
        <p:spPr>
          <a:xfrm>
            <a:off x="6485641" y="3630655"/>
            <a:ext cx="4090919" cy="1545337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>
              <a:lnSpc>
                <a:spcPct val="250000"/>
              </a:lnSpc>
              <a:buClr>
                <a:srgbClr val="E20044"/>
              </a:buClr>
            </a:pPr>
            <a:r>
              <a:rPr lang="en-US" sz="1200" dirty="0">
                <a:solidFill>
                  <a:srgbClr val="172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Garder uniquement le meilleur joueur de chaque club.</a:t>
            </a:r>
            <a:endParaRPr lang="en-US" sz="1200" dirty="0"/>
          </a:p>
          <a:p>
            <a:pPr>
              <a:lnSpc>
                <a:spcPct val="250000"/>
              </a:lnSpc>
              <a:buClr>
                <a:srgbClr val="E20044"/>
              </a:buClr>
            </a:pPr>
            <a:r>
              <a:rPr lang="en-US" sz="1200" dirty="0">
                <a:solidFill>
                  <a:srgbClr val="172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Comparer les relais techniques par équipe.</a:t>
            </a:r>
            <a:endParaRPr lang="en-US" sz="1200" dirty="0"/>
          </a:p>
          <a:p>
            <a:pPr>
              <a:lnSpc>
                <a:spcPct val="250000"/>
              </a:lnSpc>
              <a:buClr>
                <a:srgbClr val="E20044"/>
              </a:buClr>
            </a:pPr>
            <a:r>
              <a:rPr lang="en-US" sz="1200" dirty="0">
                <a:solidFill>
                  <a:srgbClr val="172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Repérer les joueurs moteurs dans la progression du ballon.</a:t>
            </a:r>
            <a:endParaRPr lang="en-US" sz="1200" dirty="0"/>
          </a:p>
        </p:txBody>
      </p:sp>
      <p:grpSp>
        <p:nvGrpSpPr>
          <p:cNvPr id="21" name="Footer">
            <a:extLst>
              <a:ext uri="{FF2B5EF4-FFF2-40B4-BE49-F238E27FC236}">
                <a16:creationId xmlns:a16="http://schemas.microsoft.com/office/drawing/2014/main" id="{DE964D7F-CE77-9D53-0399-CF96533E8758}"/>
              </a:ext>
            </a:extLst>
          </p:cNvPr>
          <p:cNvGrpSpPr/>
          <p:nvPr/>
        </p:nvGrpSpPr>
        <p:grpSpPr>
          <a:xfrm>
            <a:off x="502920" y="6446520"/>
            <a:ext cx="11155680" cy="228600"/>
            <a:chOff x="502920" y="6446520"/>
            <a:chExt cx="11155680" cy="228600"/>
          </a:xfrm>
        </p:grpSpPr>
        <p:sp>
          <p:nvSpPr>
            <p:cNvPr id="6" name="Shape 3"/>
            <p:cNvSpPr/>
            <p:nvPr/>
          </p:nvSpPr>
          <p:spPr>
            <a:xfrm>
              <a:off x="502920" y="6446520"/>
              <a:ext cx="11155680" cy="0"/>
            </a:xfrm>
            <a:prstGeom prst="line">
              <a:avLst/>
            </a:prstGeom>
            <a:noFill/>
            <a:ln w="7620">
              <a:solidFill>
                <a:srgbClr val="DCE4E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02920" y="6510528"/>
              <a:ext cx="4754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SportDataPulse · Business Intelligence Analyst</a:t>
              </a:r>
              <a:endParaRPr lang="en-US" sz="7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1201400" y="6510528"/>
              <a:ext cx="411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15</a:t>
              </a:r>
              <a:endParaRPr lang="en-US" sz="750" dirty="0"/>
            </a:p>
          </p:txBody>
        </p:sp>
      </p:grpSp>
      <p:pic>
        <p:nvPicPr>
          <p:cNvPr id="22" name="Logo image" descr="/mnt/data/assets_spdp/logo_icon.png">
            <a:extLst>
              <a:ext uri="{FF2B5EF4-FFF2-40B4-BE49-F238E27FC236}">
                <a16:creationId xmlns:a16="http://schemas.microsoft.com/office/drawing/2014/main" id="{88711B82-A244-5B64-0678-20519B4201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A5D2D237-B3E1-2D26-4B9F-783B1006E4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38" y="1854705"/>
            <a:ext cx="4588384" cy="241031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9239" y="6089904"/>
            <a:ext cx="4588384" cy="191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07D8B"/>
                </a:solidFill>
              </a:rPr>
              <a:t>Extrait résultat : meilleur passeur progressif par club</a:t>
            </a:r>
            <a:endParaRPr lang="en-US" sz="750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B1A56BB8-19B3-4CEA-3B12-2AE7BF3CBE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39" y="4308199"/>
            <a:ext cx="4588384" cy="1781424"/>
          </a:xfrm>
          <a:prstGeom prst="rect">
            <a:avLst/>
          </a:prstGeom>
        </p:spPr>
      </p:pic>
      <p:sp>
        <p:nvSpPr>
          <p:cNvPr id="27" name="Text 9">
            <a:extLst>
              <a:ext uri="{FF2B5EF4-FFF2-40B4-BE49-F238E27FC236}">
                <a16:creationId xmlns:a16="http://schemas.microsoft.com/office/drawing/2014/main" id="{0C8AC33F-34F7-3FFE-AB3A-D09F08E45F4A}"/>
              </a:ext>
            </a:extLst>
          </p:cNvPr>
          <p:cNvSpPr/>
          <p:nvPr/>
        </p:nvSpPr>
        <p:spPr>
          <a:xfrm>
            <a:off x="1310640" y="1430485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0044"/>
                </a:solidFill>
              </a:rPr>
              <a:t>Requête 10</a:t>
            </a:r>
            <a:endParaRPr lang="en-US" sz="1700" dirty="0">
              <a:solidFill>
                <a:srgbClr val="E20044"/>
              </a:solidFill>
            </a:endParaRPr>
          </a:p>
        </p:txBody>
      </p:sp>
      <p:pic>
        <p:nvPicPr>
          <p:cNvPr id="28" name="Image 27" descr="Une image contenant tabouret&#10;&#10;Le contenu généré par l’IA peut être incorrect.">
            <a:extLst>
              <a:ext uri="{FF2B5EF4-FFF2-40B4-BE49-F238E27FC236}">
                <a16:creationId xmlns:a16="http://schemas.microsoft.com/office/drawing/2014/main" id="{29B392C4-56EE-9AE8-04AB-7C9E25D820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607" y="1389888"/>
            <a:ext cx="398465" cy="362372"/>
          </a:xfrm>
          <a:prstGeom prst="rect">
            <a:avLst/>
          </a:prstGeom>
          <a:effectLst/>
        </p:spPr>
      </p:pic>
      <p:pic>
        <p:nvPicPr>
          <p:cNvPr id="30" name="Image 29">
            <a:extLst>
              <a:ext uri="{FF2B5EF4-FFF2-40B4-BE49-F238E27FC236}">
                <a16:creationId xmlns:a16="http://schemas.microsoft.com/office/drawing/2014/main" id="{8E65FD19-9128-EEA7-7227-951BDD399D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934" y="3802977"/>
            <a:ext cx="228632" cy="228632"/>
          </a:xfrm>
          <a:prstGeom prst="rect">
            <a:avLst/>
          </a:prstGeom>
        </p:spPr>
      </p:pic>
      <p:pic>
        <p:nvPicPr>
          <p:cNvPr id="31" name="Image 30">
            <a:extLst>
              <a:ext uri="{FF2B5EF4-FFF2-40B4-BE49-F238E27FC236}">
                <a16:creationId xmlns:a16="http://schemas.microsoft.com/office/drawing/2014/main" id="{C6000DCA-3783-2DF3-ECCF-E0287081C2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4635" y="4257720"/>
            <a:ext cx="228632" cy="228632"/>
          </a:xfrm>
          <a:prstGeom prst="rect">
            <a:avLst/>
          </a:prstGeom>
        </p:spPr>
      </p:pic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F6D79BDD-5C53-742D-003D-4978C22C1A2E}"/>
              </a:ext>
            </a:extLst>
          </p:cNvPr>
          <p:cNvSpPr/>
          <p:nvPr/>
        </p:nvSpPr>
        <p:spPr>
          <a:xfrm>
            <a:off x="6113337" y="5294638"/>
            <a:ext cx="4465168" cy="726344"/>
          </a:xfrm>
          <a:prstGeom prst="roundRect">
            <a:avLst>
              <a:gd name="adj" fmla="val 8530"/>
            </a:avLst>
          </a:prstGeom>
          <a:solidFill>
            <a:srgbClr val="C2FEB8">
              <a:alpha val="34902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Shape 40">
            <a:extLst>
              <a:ext uri="{FF2B5EF4-FFF2-40B4-BE49-F238E27FC236}">
                <a16:creationId xmlns:a16="http://schemas.microsoft.com/office/drawing/2014/main" id="{FE8827F9-4437-8804-B786-5B1367D693A0}"/>
              </a:ext>
            </a:extLst>
          </p:cNvPr>
          <p:cNvSpPr/>
          <p:nvPr/>
        </p:nvSpPr>
        <p:spPr>
          <a:xfrm>
            <a:off x="6254194" y="5402103"/>
            <a:ext cx="518400" cy="519599"/>
          </a:xfrm>
          <a:prstGeom prst="ellipse">
            <a:avLst/>
          </a:prstGeom>
          <a:solidFill>
            <a:srgbClr val="266829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5506D81E-3F57-61B7-DFB8-FB737455C3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3336" y="4712463"/>
            <a:ext cx="228632" cy="228632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2D11F900-8414-15C9-6FD8-6C8A3E5F172B}"/>
              </a:ext>
            </a:extLst>
          </p:cNvPr>
          <p:cNvSpPr txBox="1"/>
          <p:nvPr/>
        </p:nvSpPr>
        <p:spPr>
          <a:xfrm>
            <a:off x="6909847" y="5357728"/>
            <a:ext cx="347849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>
                <a:solidFill>
                  <a:srgbClr val="266829"/>
                </a:solidFill>
              </a:rPr>
              <a:t>Lecture métier: </a:t>
            </a:r>
            <a:r>
              <a:rPr lang="fr-FR" sz="1100" dirty="0">
                <a:solidFill>
                  <a:srgbClr val="266829"/>
                </a:solidFill>
              </a:rPr>
              <a:t>la requête isole, pour chaque club, le joueur qui porte le plus la pogression du ballon par la passe.</a:t>
            </a:r>
            <a:endParaRPr lang="fr-FR" sz="1100" b="1" dirty="0">
              <a:solidFill>
                <a:srgbClr val="266829"/>
              </a:solidFill>
            </a:endParaRP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114158AB-E49E-C321-C702-062981D88D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9642" y="5504204"/>
            <a:ext cx="304843" cy="304843"/>
          </a:xfrm>
          <a:prstGeom prst="rect">
            <a:avLst/>
          </a:prstGeom>
        </p:spPr>
      </p:pic>
      <p:sp>
        <p:nvSpPr>
          <p:cNvPr id="39" name="Shape 2">
            <a:extLst>
              <a:ext uri="{FF2B5EF4-FFF2-40B4-BE49-F238E27FC236}">
                <a16:creationId xmlns:a16="http://schemas.microsoft.com/office/drawing/2014/main" id="{A8325F49-6BD8-88B3-D62D-44C7A81B8AB7}"/>
              </a:ext>
            </a:extLst>
          </p:cNvPr>
          <p:cNvSpPr/>
          <p:nvPr/>
        </p:nvSpPr>
        <p:spPr>
          <a:xfrm flipV="1">
            <a:off x="6074161" y="1857020"/>
            <a:ext cx="2023464" cy="8029"/>
          </a:xfrm>
          <a:prstGeom prst="line">
            <a:avLst/>
          </a:prstGeom>
          <a:noFill/>
          <a:ln w="38100">
            <a:solidFill>
              <a:srgbClr val="E2004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D508BB2-4CEF-634B-75F1-F78A4A0E0FB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fr-FR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Analyse enrichie : meilleur joueur en PrgP par club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Header">
            <a:extLst>
              <a:ext uri="{FF2B5EF4-FFF2-40B4-BE49-F238E27FC236}">
                <a16:creationId xmlns:a16="http://schemas.microsoft.com/office/drawing/2014/main" id="{0F60E770-1FE1-3C7F-6B2C-0BCFB227D6F2}"/>
              </a:ext>
            </a:extLst>
          </p:cNvPr>
          <p:cNvGrpSpPr/>
          <p:nvPr/>
        </p:nvGrpSpPr>
        <p:grpSpPr>
          <a:xfrm>
            <a:off x="502920" y="329184"/>
            <a:ext cx="9784080" cy="795528"/>
            <a:chOff x="502920" y="329184"/>
            <a:chExt cx="9784080" cy="795528"/>
          </a:xfrm>
        </p:grpSpPr>
        <p:sp>
          <p:nvSpPr>
            <p:cNvPr id="2" name="Text 0"/>
            <p:cNvSpPr/>
            <p:nvPr/>
          </p:nvSpPr>
          <p:spPr>
            <a:xfrm>
              <a:off x="502920" y="329184"/>
              <a:ext cx="97840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500" b="1" dirty="0">
                  <a:solidFill>
                    <a:srgbClr val="17252A"/>
                  </a:solidFill>
                  <a:latin typeface="Aptos Display" pitchFamily="34" charset="0"/>
                  <a:ea typeface="Aptos Display" pitchFamily="34" charset="-122"/>
                  <a:cs typeface="Aptos Display" pitchFamily="34" charset="-120"/>
                </a:rPr>
                <a:t>Recommandation recrutement : shortlist finisseurs</a:t>
              </a:r>
              <a:endParaRPr lang="en-US" sz="2500" dirty="0"/>
            </a:p>
          </p:txBody>
        </p:sp>
        <p:sp>
          <p:nvSpPr>
            <p:cNvPr id="3" name="Text 1"/>
            <p:cNvSpPr/>
            <p:nvPr/>
          </p:nvSpPr>
          <p:spPr>
            <a:xfrm>
              <a:off x="530352" y="768096"/>
              <a:ext cx="71323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fr-FR" sz="1100" dirty="0">
                  <a:solidFill>
                    <a:srgbClr val="607D8B"/>
                  </a:solidFill>
                </a:rPr>
                <a:t>Identifier des attaquants accessibles avec un salaire annuel ≤ 3 M€</a:t>
              </a:r>
              <a:endParaRPr lang="en-US" sz="1100" dirty="0"/>
            </a:p>
          </p:txBody>
        </p:sp>
        <p:sp>
          <p:nvSpPr>
            <p:cNvPr id="64" name="Shape 2">
              <a:extLst>
                <a:ext uri="{FF2B5EF4-FFF2-40B4-BE49-F238E27FC236}">
                  <a16:creationId xmlns:a16="http://schemas.microsoft.com/office/drawing/2014/main" id="{EE3102DE-5A80-9286-0B85-86C49089114F}"/>
                </a:ext>
              </a:extLst>
            </p:cNvPr>
            <p:cNvSpPr/>
            <p:nvPr/>
          </p:nvSpPr>
          <p:spPr>
            <a:xfrm>
              <a:off x="502920" y="1124712"/>
              <a:ext cx="2148840" cy="0"/>
            </a:xfrm>
            <a:prstGeom prst="line">
              <a:avLst/>
            </a:prstGeom>
            <a:noFill/>
            <a:ln w="38100">
              <a:solidFill>
                <a:srgbClr val="E20044"/>
              </a:solidFill>
              <a:prstDash val="solid"/>
            </a:ln>
          </p:spPr>
          <p:txBody>
            <a:bodyPr/>
            <a:lstStyle/>
            <a:p>
              <a:endParaRPr dirty="0"/>
            </a:p>
          </p:txBody>
        </p:sp>
      </p:grpSp>
      <p:sp>
        <p:nvSpPr>
          <p:cNvPr id="14" name="Shape 11"/>
          <p:cNvSpPr/>
          <p:nvPr/>
        </p:nvSpPr>
        <p:spPr>
          <a:xfrm>
            <a:off x="4636007" y="1361698"/>
            <a:ext cx="6931153" cy="4819645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002060"/>
                </a:gs>
                <a:gs pos="51000">
                  <a:srgbClr val="00B0F0"/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0" name="Rectangle : coins arrondis 139">
            <a:extLst>
              <a:ext uri="{FF2B5EF4-FFF2-40B4-BE49-F238E27FC236}">
                <a16:creationId xmlns:a16="http://schemas.microsoft.com/office/drawing/2014/main" id="{C0011770-37AB-3587-FB4B-F8A24C8C786C}"/>
              </a:ext>
            </a:extLst>
          </p:cNvPr>
          <p:cNvSpPr/>
          <p:nvPr/>
        </p:nvSpPr>
        <p:spPr>
          <a:xfrm>
            <a:off x="4810402" y="5362315"/>
            <a:ext cx="6605458" cy="658667"/>
          </a:xfrm>
          <a:prstGeom prst="roundRect">
            <a:avLst>
              <a:gd name="adj" fmla="val 8530"/>
            </a:avLst>
          </a:prstGeom>
          <a:solidFill>
            <a:srgbClr val="C2FEB8">
              <a:alpha val="34902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Shape 6"/>
          <p:cNvSpPr/>
          <p:nvPr/>
        </p:nvSpPr>
        <p:spPr>
          <a:xfrm>
            <a:off x="530352" y="1361699"/>
            <a:ext cx="3758844" cy="4819644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E20044"/>
                </a:gs>
                <a:gs pos="51000">
                  <a:schemeClr val="accent1">
                    <a:lumMod val="45000"/>
                    <a:lumOff val="55000"/>
                  </a:schemeClr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dirty="0"/>
          </a:p>
        </p:txBody>
      </p:sp>
      <p:sp>
        <p:nvSpPr>
          <p:cNvPr id="10" name="Text 7"/>
          <p:cNvSpPr/>
          <p:nvPr/>
        </p:nvSpPr>
        <p:spPr>
          <a:xfrm>
            <a:off x="1302690" y="1568843"/>
            <a:ext cx="216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20044"/>
                </a:solidFill>
              </a:rPr>
              <a:t>Critères SQL</a:t>
            </a:r>
            <a:endParaRPr lang="en-US" sz="1700" dirty="0">
              <a:solidFill>
                <a:srgbClr val="E20044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1143657" y="2127274"/>
            <a:ext cx="2900690" cy="26821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Autofit/>
          </a:bodyPr>
          <a:lstStyle/>
          <a:p>
            <a:pPr>
              <a:lnSpc>
                <a:spcPct val="270000"/>
              </a:lnSpc>
            </a:pPr>
            <a:r>
              <a:rPr lang="en-US" sz="1050" dirty="0">
                <a:solidFill>
                  <a:srgbClr val="172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 : </a:t>
            </a:r>
            <a:r>
              <a: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attaquant</a:t>
            </a:r>
            <a:endParaRPr 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270000"/>
              </a:lnSpc>
              <a:spcBef>
                <a:spcPts val="600"/>
              </a:spcBef>
            </a:pPr>
            <a:r>
              <a:rPr lang="en-US" sz="1050" dirty="0">
                <a:solidFill>
                  <a:srgbClr val="172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Salaire annuel </a:t>
            </a:r>
            <a:r>
              <a:rPr lang="en-US" sz="1050" b="1" dirty="0">
                <a:solidFill>
                  <a:srgbClr val="E20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&lt;= 3 M€</a:t>
            </a:r>
            <a:endParaRPr lang="en-US" sz="1050" dirty="0"/>
          </a:p>
          <a:p>
            <a:pPr>
              <a:lnSpc>
                <a:spcPct val="270000"/>
              </a:lnSpc>
              <a:spcBef>
                <a:spcPts val="600"/>
              </a:spcBef>
            </a:pPr>
            <a:r>
              <a:rPr lang="en-US" sz="1050" dirty="0">
                <a:solidFill>
                  <a:srgbClr val="172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</a:t>
            </a:r>
            <a:r>
              <a:rPr lang="en-US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buts</a:t>
            </a:r>
            <a:endParaRPr 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270000"/>
              </a:lnSpc>
              <a:spcBef>
                <a:spcPts val="600"/>
              </a:spcBef>
            </a:pPr>
            <a:r>
              <a:rPr lang="fr-FR" sz="1050" dirty="0">
                <a:solidFill>
                  <a:srgbClr val="172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Classement prioritaire par </a:t>
            </a:r>
            <a:r>
              <a:rPr lang="fr-F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 de buts </a:t>
            </a:r>
            <a:r>
              <a:rPr lang="fr-FR" sz="1050" dirty="0">
                <a:solidFill>
                  <a:srgbClr val="172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;</a:t>
            </a:r>
          </a:p>
          <a:p>
            <a:pPr>
              <a:spcBef>
                <a:spcPts val="2000"/>
              </a:spcBef>
            </a:pPr>
            <a:r>
              <a:rPr lang="fr-FR" sz="1050" dirty="0">
                <a:solidFill>
                  <a:srgbClr val="172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Ratio </a:t>
            </a:r>
            <a:r>
              <a:rPr lang="fr-F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PrgP / buts </a:t>
            </a:r>
            <a:r>
              <a:rPr lang="fr-FR" sz="1050" b="1" dirty="0">
                <a:solidFill>
                  <a:srgbClr val="E200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faible</a:t>
            </a:r>
            <a:r>
              <a:rPr lang="fr-FR" sz="1050" dirty="0">
                <a:solidFill>
                  <a:srgbClr val="1725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pour cibler </a:t>
            </a:r>
            <a:r>
              <a:rPr lang="fr-FR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profil </a:t>
            </a:r>
            <a:r>
              <a:rPr lang="fr-FR" sz="1050" b="1" dirty="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finisseur.</a:t>
            </a:r>
          </a:p>
        </p:txBody>
      </p:sp>
      <p:sp>
        <p:nvSpPr>
          <p:cNvPr id="12" name="Shape 9"/>
          <p:cNvSpPr/>
          <p:nvPr/>
        </p:nvSpPr>
        <p:spPr>
          <a:xfrm>
            <a:off x="688925" y="4898163"/>
            <a:ext cx="3321045" cy="360000"/>
          </a:xfrm>
          <a:prstGeom prst="roundRect">
            <a:avLst>
              <a:gd name="adj" fmla="val 14286"/>
            </a:avLst>
          </a:prstGeom>
          <a:solidFill>
            <a:srgbClr val="E20044"/>
          </a:solidFill>
          <a:ln w="12700">
            <a:solidFill>
              <a:srgbClr val="E200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3" name="Text 10"/>
          <p:cNvSpPr/>
          <p:nvPr/>
        </p:nvSpPr>
        <p:spPr>
          <a:xfrm>
            <a:off x="688925" y="4916451"/>
            <a:ext cx="3321045" cy="323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Profil recherché : finisseur accessible</a:t>
            </a:r>
            <a:endParaRPr lang="en-US" sz="1200" dirty="0"/>
          </a:p>
        </p:txBody>
      </p:sp>
      <p:graphicFrame>
        <p:nvGraphicFramePr>
          <p:cNvPr id="114" name="Tableau 113">
            <a:extLst>
              <a:ext uri="{FF2B5EF4-FFF2-40B4-BE49-F238E27FC236}">
                <a16:creationId xmlns:a16="http://schemas.microsoft.com/office/drawing/2014/main" id="{8A6294F6-029E-95B5-1788-4D503FD78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930945"/>
              </p:ext>
            </p:extLst>
          </p:nvPr>
        </p:nvGraphicFramePr>
        <p:xfrm>
          <a:off x="4810402" y="2256392"/>
          <a:ext cx="6605459" cy="288025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65486">
                  <a:extLst>
                    <a:ext uri="{9D8B030D-6E8A-4147-A177-3AD203B41FA5}">
                      <a16:colId xmlns:a16="http://schemas.microsoft.com/office/drawing/2014/main" val="2197961371"/>
                    </a:ext>
                  </a:extLst>
                </a:gridCol>
                <a:gridCol w="330802">
                  <a:extLst>
                    <a:ext uri="{9D8B030D-6E8A-4147-A177-3AD203B41FA5}">
                      <a16:colId xmlns:a16="http://schemas.microsoft.com/office/drawing/2014/main" val="4179435811"/>
                    </a:ext>
                  </a:extLst>
                </a:gridCol>
                <a:gridCol w="1022774">
                  <a:extLst>
                    <a:ext uri="{9D8B030D-6E8A-4147-A177-3AD203B41FA5}">
                      <a16:colId xmlns:a16="http://schemas.microsoft.com/office/drawing/2014/main" val="1526404842"/>
                    </a:ext>
                  </a:extLst>
                </a:gridCol>
                <a:gridCol w="1019642">
                  <a:extLst>
                    <a:ext uri="{9D8B030D-6E8A-4147-A177-3AD203B41FA5}">
                      <a16:colId xmlns:a16="http://schemas.microsoft.com/office/drawing/2014/main" val="1904994023"/>
                    </a:ext>
                  </a:extLst>
                </a:gridCol>
                <a:gridCol w="798400">
                  <a:extLst>
                    <a:ext uri="{9D8B030D-6E8A-4147-A177-3AD203B41FA5}">
                      <a16:colId xmlns:a16="http://schemas.microsoft.com/office/drawing/2014/main" val="824339282"/>
                    </a:ext>
                  </a:extLst>
                </a:gridCol>
                <a:gridCol w="663730">
                  <a:extLst>
                    <a:ext uri="{9D8B030D-6E8A-4147-A177-3AD203B41FA5}">
                      <a16:colId xmlns:a16="http://schemas.microsoft.com/office/drawing/2014/main" val="2011472489"/>
                    </a:ext>
                  </a:extLst>
                </a:gridCol>
                <a:gridCol w="596394">
                  <a:extLst>
                    <a:ext uri="{9D8B030D-6E8A-4147-A177-3AD203B41FA5}">
                      <a16:colId xmlns:a16="http://schemas.microsoft.com/office/drawing/2014/main" val="100327718"/>
                    </a:ext>
                  </a:extLst>
                </a:gridCol>
                <a:gridCol w="1808231">
                  <a:extLst>
                    <a:ext uri="{9D8B030D-6E8A-4147-A177-3AD203B41FA5}">
                      <a16:colId xmlns:a16="http://schemas.microsoft.com/office/drawing/2014/main" val="3350467545"/>
                    </a:ext>
                  </a:extLst>
                </a:gridCol>
              </a:tblGrid>
              <a:tr h="453074"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#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1100" dirty="0"/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/>
                        <a:t>Joueur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Club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Salaire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Buts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/>
                        <a:t>PrgP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100" dirty="0"/>
                        <a:t>Ratio</a:t>
                      </a:r>
                    </a:p>
                    <a:p>
                      <a:pPr algn="l"/>
                      <a:r>
                        <a:rPr lang="fr-FR" sz="1100" dirty="0"/>
                        <a:t>Prgp/buts</a:t>
                      </a: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549904"/>
                  </a:ext>
                </a:extLst>
              </a:tr>
              <a:tr h="2427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17252A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dirty="0">
                        <a:solidFill>
                          <a:srgbClr val="17252A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solidFill>
                            <a:srgbClr val="17252A"/>
                          </a:solidFill>
                        </a:rPr>
                        <a:t>A. Kalimuendo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Rennes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1,5</a:t>
                      </a:r>
                      <a:r>
                        <a:rPr lang="en-US" sz="900" dirty="0">
                          <a:solidFill>
                            <a:srgbClr val="17252A"/>
                          </a:solidFill>
                        </a:rPr>
                        <a:t>M€</a:t>
                      </a:r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71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900" dirty="0"/>
                        <a:t>4,18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501524"/>
                  </a:ext>
                </a:extLst>
              </a:tr>
              <a:tr h="242718">
                <a:tc>
                  <a:txBody>
                    <a:bodyPr/>
                    <a:lstStyle/>
                    <a:p>
                      <a:pPr algn="ctr"/>
                      <a:r>
                        <a:rPr lang="fr-FR" sz="9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b="1" dirty="0"/>
                        <a:t>J. David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Lille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1,95</a:t>
                      </a:r>
                      <a:r>
                        <a:rPr lang="en-US" sz="900" dirty="0">
                          <a:solidFill>
                            <a:srgbClr val="17252A"/>
                          </a:solidFill>
                        </a:rPr>
                        <a:t>M€</a:t>
                      </a:r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63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900" dirty="0"/>
                        <a:t>3,94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033960"/>
                  </a:ext>
                </a:extLst>
              </a:tr>
              <a:tr h="242718">
                <a:tc>
                  <a:txBody>
                    <a:bodyPr/>
                    <a:lstStyle/>
                    <a:p>
                      <a:pPr algn="ctr"/>
                      <a:r>
                        <a:rPr lang="fr-FR" sz="9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b="1" dirty="0"/>
                        <a:t>E. Emegha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Strasbourg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0,75</a:t>
                      </a:r>
                      <a:r>
                        <a:rPr lang="en-US" sz="900" dirty="0">
                          <a:solidFill>
                            <a:srgbClr val="17252A"/>
                          </a:solidFill>
                        </a:rPr>
                        <a:t>M€</a:t>
                      </a:r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14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14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900" dirty="0"/>
                        <a:t>1,00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825566"/>
                  </a:ext>
                </a:extLst>
              </a:tr>
              <a:tr h="242718">
                <a:tc>
                  <a:txBody>
                    <a:bodyPr/>
                    <a:lstStyle/>
                    <a:p>
                      <a:pPr algn="ctr"/>
                      <a:r>
                        <a:rPr lang="fr-FR" sz="9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b="1" dirty="0"/>
                        <a:t>M. Biereth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Monaco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1,15</a:t>
                      </a:r>
                      <a:r>
                        <a:rPr lang="en-US" sz="900" dirty="0">
                          <a:solidFill>
                            <a:srgbClr val="17252A"/>
                          </a:solidFill>
                        </a:rPr>
                        <a:t>M€</a:t>
                      </a:r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24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900" dirty="0"/>
                        <a:t>1,85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161"/>
                  </a:ext>
                </a:extLst>
              </a:tr>
              <a:tr h="242718">
                <a:tc>
                  <a:txBody>
                    <a:bodyPr/>
                    <a:lstStyle/>
                    <a:p>
                      <a:pPr algn="ctr"/>
                      <a:r>
                        <a:rPr lang="fr-FR" sz="9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b="1" dirty="0"/>
                        <a:t>L. Ajorque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Brest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2,16</a:t>
                      </a:r>
                      <a:r>
                        <a:rPr lang="en-US" sz="900" dirty="0">
                          <a:solidFill>
                            <a:srgbClr val="17252A"/>
                          </a:solidFill>
                        </a:rPr>
                        <a:t>M€</a:t>
                      </a:r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41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900" dirty="0"/>
                        <a:t>3,15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235562"/>
                  </a:ext>
                </a:extLst>
              </a:tr>
              <a:tr h="242718">
                <a:tc>
                  <a:txBody>
                    <a:bodyPr/>
                    <a:lstStyle/>
                    <a:p>
                      <a:pPr algn="ctr"/>
                      <a:r>
                        <a:rPr lang="fr-FR" sz="9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b="1" dirty="0"/>
                        <a:t>E. Guessand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Nice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0,89</a:t>
                      </a:r>
                      <a:r>
                        <a:rPr lang="en-US" sz="900" dirty="0">
                          <a:solidFill>
                            <a:srgbClr val="17252A"/>
                          </a:solidFill>
                        </a:rPr>
                        <a:t>M€</a:t>
                      </a:r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78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900" dirty="0"/>
                        <a:t>7,09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179643"/>
                  </a:ext>
                </a:extLst>
              </a:tr>
              <a:tr h="242718">
                <a:tc>
                  <a:txBody>
                    <a:bodyPr/>
                    <a:lstStyle/>
                    <a:p>
                      <a:pPr algn="ctr"/>
                      <a:r>
                        <a:rPr lang="fr-FR" sz="9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b="1" dirty="0"/>
                        <a:t>K. Nakamura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Reims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0,89</a:t>
                      </a:r>
                      <a:r>
                        <a:rPr lang="en-US" sz="900" dirty="0">
                          <a:solidFill>
                            <a:srgbClr val="17252A"/>
                          </a:solidFill>
                        </a:rPr>
                        <a:t>M€</a:t>
                      </a:r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82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900" dirty="0"/>
                        <a:t>7,45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914680"/>
                  </a:ext>
                </a:extLst>
              </a:tr>
              <a:tr h="242718">
                <a:tc>
                  <a:txBody>
                    <a:bodyPr/>
                    <a:lstStyle/>
                    <a:p>
                      <a:pPr algn="ctr"/>
                      <a:r>
                        <a:rPr lang="fr-FR" sz="9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b="1" dirty="0"/>
                        <a:t>L. Stassin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Saint-Étienne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0,72</a:t>
                      </a:r>
                      <a:r>
                        <a:rPr lang="en-US" sz="900" dirty="0">
                          <a:solidFill>
                            <a:srgbClr val="17252A"/>
                          </a:solidFill>
                        </a:rPr>
                        <a:t>M€</a:t>
                      </a:r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35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900" dirty="0"/>
                        <a:t>3,50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519816"/>
                  </a:ext>
                </a:extLst>
              </a:tr>
              <a:tr h="242718">
                <a:tc>
                  <a:txBody>
                    <a:bodyPr/>
                    <a:lstStyle/>
                    <a:p>
                      <a:pPr algn="ctr"/>
                      <a:r>
                        <a:rPr lang="fr-FR" sz="900" b="1" dirty="0"/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b="1" dirty="0"/>
                        <a:t>Z. Davitashvili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900" dirty="0"/>
                        <a:t>Saint-Étienne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0,9</a:t>
                      </a:r>
                      <a:r>
                        <a:rPr lang="en-US" sz="900" dirty="0">
                          <a:solidFill>
                            <a:srgbClr val="17252A"/>
                          </a:solidFill>
                        </a:rPr>
                        <a:t>M€</a:t>
                      </a:r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68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900" dirty="0"/>
                        <a:t>7,56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433086"/>
                  </a:ext>
                </a:extLst>
              </a:tr>
              <a:tr h="242718">
                <a:tc>
                  <a:txBody>
                    <a:bodyPr/>
                    <a:lstStyle/>
                    <a:p>
                      <a:pPr algn="ctr"/>
                      <a:r>
                        <a:rPr lang="fr-FR" sz="900" b="1" dirty="0"/>
                        <a:t>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900" b="1" dirty="0"/>
                        <a:t>E. Lepaul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Angers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0,27</a:t>
                      </a:r>
                      <a:r>
                        <a:rPr lang="en-US" sz="900" dirty="0">
                          <a:solidFill>
                            <a:srgbClr val="17252A"/>
                          </a:solidFill>
                        </a:rPr>
                        <a:t>M€</a:t>
                      </a:r>
                      <a:endParaRPr lang="fr-FR" sz="9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/>
                        <a:t>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900" dirty="0"/>
                        <a:t>1,89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2560939"/>
                  </a:ext>
                </a:extLst>
              </a:tr>
            </a:tbl>
          </a:graphicData>
        </a:graphic>
      </p:graphicFrame>
      <p:grpSp>
        <p:nvGrpSpPr>
          <p:cNvPr id="117" name="Footer">
            <a:extLst>
              <a:ext uri="{FF2B5EF4-FFF2-40B4-BE49-F238E27FC236}">
                <a16:creationId xmlns:a16="http://schemas.microsoft.com/office/drawing/2014/main" id="{B86C3B10-C3C4-321A-3388-9A97962ECAFB}"/>
              </a:ext>
            </a:extLst>
          </p:cNvPr>
          <p:cNvGrpSpPr/>
          <p:nvPr/>
        </p:nvGrpSpPr>
        <p:grpSpPr>
          <a:xfrm>
            <a:off x="502920" y="6446520"/>
            <a:ext cx="11155680" cy="228600"/>
            <a:chOff x="502920" y="6446520"/>
            <a:chExt cx="11155680" cy="228600"/>
          </a:xfrm>
        </p:grpSpPr>
        <p:sp>
          <p:nvSpPr>
            <p:cNvPr id="6" name="Shape 3"/>
            <p:cNvSpPr/>
            <p:nvPr/>
          </p:nvSpPr>
          <p:spPr>
            <a:xfrm>
              <a:off x="502920" y="6446520"/>
              <a:ext cx="11155680" cy="0"/>
            </a:xfrm>
            <a:prstGeom prst="line">
              <a:avLst/>
            </a:prstGeom>
            <a:noFill/>
            <a:ln w="7620">
              <a:solidFill>
                <a:srgbClr val="DCE4EA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502920" y="6510528"/>
              <a:ext cx="47548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SportDataPulse · Business Intelligence Analyst</a:t>
              </a:r>
              <a:endParaRPr lang="en-US" sz="7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1201400" y="6510528"/>
              <a:ext cx="411480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750" dirty="0">
                  <a:solidFill>
                    <a:srgbClr val="607D8B"/>
                  </a:solidFill>
                </a:rPr>
                <a:t>16</a:t>
              </a:r>
              <a:endParaRPr lang="en-US" sz="750" dirty="0"/>
            </a:p>
          </p:txBody>
        </p:sp>
      </p:grpSp>
      <p:pic>
        <p:nvPicPr>
          <p:cNvPr id="118" name="Logo image" descr="/mnt/data/assets_spdp/logo_icon.png">
            <a:extLst>
              <a:ext uri="{FF2B5EF4-FFF2-40B4-BE49-F238E27FC236}">
                <a16:creationId xmlns:a16="http://schemas.microsoft.com/office/drawing/2014/main" id="{09996DC1-4531-4E7B-F7D6-3DC764C1C5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145" name="Shape 38">
            <a:extLst>
              <a:ext uri="{FF2B5EF4-FFF2-40B4-BE49-F238E27FC236}">
                <a16:creationId xmlns:a16="http://schemas.microsoft.com/office/drawing/2014/main" id="{AFC5DA2A-9C3B-71FF-707B-13965D7B82AB}"/>
              </a:ext>
            </a:extLst>
          </p:cNvPr>
          <p:cNvSpPr/>
          <p:nvPr/>
        </p:nvSpPr>
        <p:spPr>
          <a:xfrm>
            <a:off x="624839" y="1508004"/>
            <a:ext cx="499871" cy="499103"/>
          </a:xfrm>
          <a:prstGeom prst="roundRect">
            <a:avLst>
              <a:gd name="adj" fmla="val 14706"/>
            </a:avLst>
          </a:prstGeom>
          <a:solidFill>
            <a:srgbClr val="E20044">
              <a:alpha val="10000"/>
            </a:srgbClr>
          </a:solidFill>
          <a:ln w="12700">
            <a:solidFill>
              <a:srgbClr val="E20044"/>
            </a:solidFill>
            <a:prstDash val="solid"/>
          </a:ln>
        </p:spPr>
      </p:sp>
      <p:sp>
        <p:nvSpPr>
          <p:cNvPr id="119" name="Rectangle : coins arrondis 118">
            <a:extLst>
              <a:ext uri="{FF2B5EF4-FFF2-40B4-BE49-F238E27FC236}">
                <a16:creationId xmlns:a16="http://schemas.microsoft.com/office/drawing/2014/main" id="{48297F7A-F8DF-D9A2-D401-376F08C7D120}"/>
              </a:ext>
            </a:extLst>
          </p:cNvPr>
          <p:cNvSpPr/>
          <p:nvPr/>
        </p:nvSpPr>
        <p:spPr>
          <a:xfrm>
            <a:off x="9735239" y="2769842"/>
            <a:ext cx="1206632" cy="864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38100">
              <a:schemeClr val="bg2">
                <a:lumMod val="2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0" name="Rectangle : coins arrondis 119">
            <a:extLst>
              <a:ext uri="{FF2B5EF4-FFF2-40B4-BE49-F238E27FC236}">
                <a16:creationId xmlns:a16="http://schemas.microsoft.com/office/drawing/2014/main" id="{CB70094D-77AC-66F6-F7F3-BCD661D08862}"/>
              </a:ext>
            </a:extLst>
          </p:cNvPr>
          <p:cNvSpPr/>
          <p:nvPr/>
        </p:nvSpPr>
        <p:spPr>
          <a:xfrm>
            <a:off x="9736810" y="3028998"/>
            <a:ext cx="1206632" cy="864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38100">
              <a:schemeClr val="bg2">
                <a:lumMod val="2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1" name="Rectangle : coins arrondis 120">
            <a:extLst>
              <a:ext uri="{FF2B5EF4-FFF2-40B4-BE49-F238E27FC236}">
                <a16:creationId xmlns:a16="http://schemas.microsoft.com/office/drawing/2014/main" id="{87471525-1D82-55AE-F4AC-4F33B059D0E2}"/>
              </a:ext>
            </a:extLst>
          </p:cNvPr>
          <p:cNvSpPr/>
          <p:nvPr/>
        </p:nvSpPr>
        <p:spPr>
          <a:xfrm>
            <a:off x="9736810" y="3262646"/>
            <a:ext cx="1206632" cy="864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38100">
              <a:schemeClr val="bg2">
                <a:lumMod val="2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2" name="Rectangle : coins arrondis 121">
            <a:extLst>
              <a:ext uri="{FF2B5EF4-FFF2-40B4-BE49-F238E27FC236}">
                <a16:creationId xmlns:a16="http://schemas.microsoft.com/office/drawing/2014/main" id="{6E29F9BF-9F9F-7EBF-3E52-F0ED6DC111B2}"/>
              </a:ext>
            </a:extLst>
          </p:cNvPr>
          <p:cNvSpPr/>
          <p:nvPr/>
        </p:nvSpPr>
        <p:spPr>
          <a:xfrm>
            <a:off x="9741523" y="3504900"/>
            <a:ext cx="1206632" cy="864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38100">
              <a:schemeClr val="bg2">
                <a:lumMod val="2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3" name="Rectangle : coins arrondis 122">
            <a:extLst>
              <a:ext uri="{FF2B5EF4-FFF2-40B4-BE49-F238E27FC236}">
                <a16:creationId xmlns:a16="http://schemas.microsoft.com/office/drawing/2014/main" id="{5EC931C2-3EDC-E035-E7E7-240BDE917BFA}"/>
              </a:ext>
            </a:extLst>
          </p:cNvPr>
          <p:cNvSpPr/>
          <p:nvPr/>
        </p:nvSpPr>
        <p:spPr>
          <a:xfrm>
            <a:off x="9741523" y="3736299"/>
            <a:ext cx="1206632" cy="864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38100">
              <a:schemeClr val="bg2">
                <a:lumMod val="2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4" name="Rectangle : coins arrondis 123">
            <a:extLst>
              <a:ext uri="{FF2B5EF4-FFF2-40B4-BE49-F238E27FC236}">
                <a16:creationId xmlns:a16="http://schemas.microsoft.com/office/drawing/2014/main" id="{61871176-CF6A-DEE4-79F4-E4BA78D80BD8}"/>
              </a:ext>
            </a:extLst>
          </p:cNvPr>
          <p:cNvSpPr/>
          <p:nvPr/>
        </p:nvSpPr>
        <p:spPr>
          <a:xfrm>
            <a:off x="9741523" y="3984222"/>
            <a:ext cx="1206632" cy="864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38100">
              <a:schemeClr val="bg2">
                <a:lumMod val="2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5" name="Rectangle : coins arrondis 124">
            <a:extLst>
              <a:ext uri="{FF2B5EF4-FFF2-40B4-BE49-F238E27FC236}">
                <a16:creationId xmlns:a16="http://schemas.microsoft.com/office/drawing/2014/main" id="{89642CF9-2FB4-B452-D6C4-9E85161978F8}"/>
              </a:ext>
            </a:extLst>
          </p:cNvPr>
          <p:cNvSpPr/>
          <p:nvPr/>
        </p:nvSpPr>
        <p:spPr>
          <a:xfrm>
            <a:off x="9735239" y="4224379"/>
            <a:ext cx="1206632" cy="864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38100">
              <a:schemeClr val="bg2">
                <a:lumMod val="2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6" name="Rectangle : coins arrondis 125">
            <a:extLst>
              <a:ext uri="{FF2B5EF4-FFF2-40B4-BE49-F238E27FC236}">
                <a16:creationId xmlns:a16="http://schemas.microsoft.com/office/drawing/2014/main" id="{17FC4827-6D60-09B1-B012-50A7F46A3AD4}"/>
              </a:ext>
            </a:extLst>
          </p:cNvPr>
          <p:cNvSpPr/>
          <p:nvPr/>
        </p:nvSpPr>
        <p:spPr>
          <a:xfrm>
            <a:off x="9726192" y="4471916"/>
            <a:ext cx="1206632" cy="864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38100">
              <a:schemeClr val="bg2">
                <a:lumMod val="2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7" name="Rectangle : coins arrondis 126">
            <a:extLst>
              <a:ext uri="{FF2B5EF4-FFF2-40B4-BE49-F238E27FC236}">
                <a16:creationId xmlns:a16="http://schemas.microsoft.com/office/drawing/2014/main" id="{5E83D00F-DCE8-288E-455D-DFF146575D18}"/>
              </a:ext>
            </a:extLst>
          </p:cNvPr>
          <p:cNvSpPr/>
          <p:nvPr/>
        </p:nvSpPr>
        <p:spPr>
          <a:xfrm>
            <a:off x="9726192" y="4743300"/>
            <a:ext cx="1206632" cy="864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38100">
              <a:schemeClr val="bg2">
                <a:lumMod val="2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8" name="Rectangle : coins arrondis 127">
            <a:extLst>
              <a:ext uri="{FF2B5EF4-FFF2-40B4-BE49-F238E27FC236}">
                <a16:creationId xmlns:a16="http://schemas.microsoft.com/office/drawing/2014/main" id="{4D09A450-6849-ABEA-99B5-30DA8C118AA2}"/>
              </a:ext>
            </a:extLst>
          </p:cNvPr>
          <p:cNvSpPr/>
          <p:nvPr/>
        </p:nvSpPr>
        <p:spPr>
          <a:xfrm>
            <a:off x="9724621" y="4978299"/>
            <a:ext cx="1206632" cy="864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>
            <a:innerShdw blurRad="38100">
              <a:schemeClr val="bg2">
                <a:lumMod val="25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9" name="Rectangle : coins arrondis 128">
            <a:extLst>
              <a:ext uri="{FF2B5EF4-FFF2-40B4-BE49-F238E27FC236}">
                <a16:creationId xmlns:a16="http://schemas.microsoft.com/office/drawing/2014/main" id="{CC8EFBF4-A0E5-D6F5-FC4A-EEBAB83BD95B}"/>
              </a:ext>
            </a:extLst>
          </p:cNvPr>
          <p:cNvSpPr/>
          <p:nvPr/>
        </p:nvSpPr>
        <p:spPr>
          <a:xfrm>
            <a:off x="9728292" y="2773107"/>
            <a:ext cx="844474" cy="86333"/>
          </a:xfrm>
          <a:prstGeom prst="roundRect">
            <a:avLst>
              <a:gd name="adj" fmla="val 50000"/>
            </a:avLst>
          </a:prstGeom>
          <a:solidFill>
            <a:srgbClr val="FAE906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0" name="Rectangle : coins arrondis 129">
            <a:extLst>
              <a:ext uri="{FF2B5EF4-FFF2-40B4-BE49-F238E27FC236}">
                <a16:creationId xmlns:a16="http://schemas.microsoft.com/office/drawing/2014/main" id="{87A9F947-653B-70A2-6D8E-F6212437F984}"/>
              </a:ext>
            </a:extLst>
          </p:cNvPr>
          <p:cNvSpPr/>
          <p:nvPr/>
        </p:nvSpPr>
        <p:spPr>
          <a:xfrm>
            <a:off x="9724086" y="3023169"/>
            <a:ext cx="774000" cy="93600"/>
          </a:xfrm>
          <a:prstGeom prst="roundRect">
            <a:avLst>
              <a:gd name="adj" fmla="val 50000"/>
            </a:avLst>
          </a:prstGeom>
          <a:solidFill>
            <a:srgbClr val="FAE906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2" name="Rectangle : coins arrondis 131">
            <a:extLst>
              <a:ext uri="{FF2B5EF4-FFF2-40B4-BE49-F238E27FC236}">
                <a16:creationId xmlns:a16="http://schemas.microsoft.com/office/drawing/2014/main" id="{45AB20E6-53A9-4965-15D0-5CCBF6B89B0C}"/>
              </a:ext>
            </a:extLst>
          </p:cNvPr>
          <p:cNvSpPr/>
          <p:nvPr/>
        </p:nvSpPr>
        <p:spPr>
          <a:xfrm>
            <a:off x="9734045" y="3264637"/>
            <a:ext cx="468000" cy="86333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Rectangle : coins arrondis 132">
            <a:extLst>
              <a:ext uri="{FF2B5EF4-FFF2-40B4-BE49-F238E27FC236}">
                <a16:creationId xmlns:a16="http://schemas.microsoft.com/office/drawing/2014/main" id="{908C67F2-83E6-F56F-0D6D-B83991904C82}"/>
              </a:ext>
            </a:extLst>
          </p:cNvPr>
          <p:cNvSpPr/>
          <p:nvPr/>
        </p:nvSpPr>
        <p:spPr>
          <a:xfrm>
            <a:off x="9746314" y="3508351"/>
            <a:ext cx="576000" cy="86333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4" name="Rectangle : coins arrondis 133">
            <a:extLst>
              <a:ext uri="{FF2B5EF4-FFF2-40B4-BE49-F238E27FC236}">
                <a16:creationId xmlns:a16="http://schemas.microsoft.com/office/drawing/2014/main" id="{E99804B4-4ABD-7F84-49CC-7705B7C801EF}"/>
              </a:ext>
            </a:extLst>
          </p:cNvPr>
          <p:cNvSpPr/>
          <p:nvPr/>
        </p:nvSpPr>
        <p:spPr>
          <a:xfrm>
            <a:off x="9723803" y="3736250"/>
            <a:ext cx="612000" cy="86333"/>
          </a:xfrm>
          <a:prstGeom prst="roundRect">
            <a:avLst>
              <a:gd name="adj" fmla="val 50000"/>
            </a:avLst>
          </a:prstGeom>
          <a:solidFill>
            <a:srgbClr val="FAE906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5" name="Rectangle : coins arrondis 134">
            <a:extLst>
              <a:ext uri="{FF2B5EF4-FFF2-40B4-BE49-F238E27FC236}">
                <a16:creationId xmlns:a16="http://schemas.microsoft.com/office/drawing/2014/main" id="{7F93205E-3AA7-7396-8FCB-6D74A500C667}"/>
              </a:ext>
            </a:extLst>
          </p:cNvPr>
          <p:cNvSpPr/>
          <p:nvPr/>
        </p:nvSpPr>
        <p:spPr>
          <a:xfrm>
            <a:off x="9742923" y="3982458"/>
            <a:ext cx="828000" cy="86333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6" name="Rectangle : coins arrondis 135">
            <a:extLst>
              <a:ext uri="{FF2B5EF4-FFF2-40B4-BE49-F238E27FC236}">
                <a16:creationId xmlns:a16="http://schemas.microsoft.com/office/drawing/2014/main" id="{86A474F0-58AC-A2AB-D998-2280C1E4894D}"/>
              </a:ext>
            </a:extLst>
          </p:cNvPr>
          <p:cNvSpPr/>
          <p:nvPr/>
        </p:nvSpPr>
        <p:spPr>
          <a:xfrm>
            <a:off x="9742923" y="4230848"/>
            <a:ext cx="720000" cy="86333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7" name="Rectangle : coins arrondis 136">
            <a:extLst>
              <a:ext uri="{FF2B5EF4-FFF2-40B4-BE49-F238E27FC236}">
                <a16:creationId xmlns:a16="http://schemas.microsoft.com/office/drawing/2014/main" id="{F82867EA-549C-776F-CFC2-3F468EC9A977}"/>
              </a:ext>
            </a:extLst>
          </p:cNvPr>
          <p:cNvSpPr/>
          <p:nvPr/>
        </p:nvSpPr>
        <p:spPr>
          <a:xfrm>
            <a:off x="9722138" y="4473002"/>
            <a:ext cx="684000" cy="86333"/>
          </a:xfrm>
          <a:prstGeom prst="roundRect">
            <a:avLst>
              <a:gd name="adj" fmla="val 50000"/>
            </a:avLst>
          </a:prstGeom>
          <a:solidFill>
            <a:srgbClr val="FAE906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8" name="Rectangle : coins arrondis 137">
            <a:extLst>
              <a:ext uri="{FF2B5EF4-FFF2-40B4-BE49-F238E27FC236}">
                <a16:creationId xmlns:a16="http://schemas.microsoft.com/office/drawing/2014/main" id="{196F61E6-9796-0135-AABB-8C41C5415BB8}"/>
              </a:ext>
            </a:extLst>
          </p:cNvPr>
          <p:cNvSpPr/>
          <p:nvPr/>
        </p:nvSpPr>
        <p:spPr>
          <a:xfrm>
            <a:off x="9731016" y="4750003"/>
            <a:ext cx="972000" cy="86333"/>
          </a:xfrm>
          <a:prstGeom prst="roundRect">
            <a:avLst>
              <a:gd name="adj" fmla="val 50000"/>
            </a:avLst>
          </a:prstGeom>
          <a:solidFill>
            <a:srgbClr val="FF6600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9" name="Rectangle : coins arrondis 138">
            <a:extLst>
              <a:ext uri="{FF2B5EF4-FFF2-40B4-BE49-F238E27FC236}">
                <a16:creationId xmlns:a16="http://schemas.microsoft.com/office/drawing/2014/main" id="{730CBB36-FF87-F95B-BD0F-C34FA77AC1A5}"/>
              </a:ext>
            </a:extLst>
          </p:cNvPr>
          <p:cNvSpPr/>
          <p:nvPr/>
        </p:nvSpPr>
        <p:spPr>
          <a:xfrm>
            <a:off x="9731016" y="4987027"/>
            <a:ext cx="684000" cy="86333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6" name="Text 39">
            <a:extLst>
              <a:ext uri="{FF2B5EF4-FFF2-40B4-BE49-F238E27FC236}">
                <a16:creationId xmlns:a16="http://schemas.microsoft.com/office/drawing/2014/main" id="{2FB4678D-2766-A99A-C8FD-A56BEF90B697}"/>
              </a:ext>
            </a:extLst>
          </p:cNvPr>
          <p:cNvSpPr/>
          <p:nvPr/>
        </p:nvSpPr>
        <p:spPr>
          <a:xfrm>
            <a:off x="596237" y="2173372"/>
            <a:ext cx="1066318" cy="526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>
              <a:solidFill>
                <a:srgbClr val="E2004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7" name="Shape 2">
            <a:extLst>
              <a:ext uri="{FF2B5EF4-FFF2-40B4-BE49-F238E27FC236}">
                <a16:creationId xmlns:a16="http://schemas.microsoft.com/office/drawing/2014/main" id="{0CCE4812-FED4-D1EA-4280-0DEC1127EBB0}"/>
              </a:ext>
            </a:extLst>
          </p:cNvPr>
          <p:cNvSpPr/>
          <p:nvPr/>
        </p:nvSpPr>
        <p:spPr>
          <a:xfrm flipV="1">
            <a:off x="1299105" y="1997858"/>
            <a:ext cx="1239909" cy="0"/>
          </a:xfrm>
          <a:prstGeom prst="line">
            <a:avLst/>
          </a:prstGeom>
          <a:noFill/>
          <a:ln w="38100">
            <a:solidFill>
              <a:srgbClr val="E2004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E5004251-CAA1-D22A-E137-76370B119575}"/>
              </a:ext>
            </a:extLst>
          </p:cNvPr>
          <p:cNvSpPr/>
          <p:nvPr/>
        </p:nvSpPr>
        <p:spPr>
          <a:xfrm>
            <a:off x="5498592" y="1611743"/>
            <a:ext cx="2935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2060"/>
                </a:solidFill>
              </a:rPr>
              <a:t>Shortlist – 10 attaquants</a:t>
            </a:r>
            <a:endParaRPr lang="en-US" sz="1700" dirty="0">
              <a:solidFill>
                <a:srgbClr val="002060"/>
              </a:solidFill>
            </a:endParaRPr>
          </a:p>
        </p:txBody>
      </p:sp>
      <p:sp>
        <p:nvSpPr>
          <p:cNvPr id="5" name="Shape 38">
            <a:extLst>
              <a:ext uri="{FF2B5EF4-FFF2-40B4-BE49-F238E27FC236}">
                <a16:creationId xmlns:a16="http://schemas.microsoft.com/office/drawing/2014/main" id="{7791F414-634F-4104-E7C9-6B10C7B3E67F}"/>
              </a:ext>
            </a:extLst>
          </p:cNvPr>
          <p:cNvSpPr/>
          <p:nvPr/>
        </p:nvSpPr>
        <p:spPr>
          <a:xfrm>
            <a:off x="4782168" y="1531620"/>
            <a:ext cx="499871" cy="499103"/>
          </a:xfrm>
          <a:prstGeom prst="roundRect">
            <a:avLst>
              <a:gd name="adj" fmla="val 14706"/>
            </a:avLst>
          </a:prstGeom>
          <a:solidFill>
            <a:srgbClr val="002060">
              <a:alpha val="10000"/>
            </a:srgbClr>
          </a:solidFill>
          <a:ln w="12700">
            <a:solidFill>
              <a:srgbClr val="002060"/>
            </a:solidFill>
            <a:prstDash val="solid"/>
          </a:ln>
        </p:spPr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EAABE806-4A45-164E-D054-51336490B768}"/>
              </a:ext>
            </a:extLst>
          </p:cNvPr>
          <p:cNvSpPr/>
          <p:nvPr/>
        </p:nvSpPr>
        <p:spPr>
          <a:xfrm>
            <a:off x="5502001" y="1991214"/>
            <a:ext cx="2444135" cy="2"/>
          </a:xfrm>
          <a:prstGeom prst="line">
            <a:avLst/>
          </a:prstGeom>
          <a:noFill/>
          <a:ln w="38100">
            <a:solidFill>
              <a:srgbClr val="00206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BADDD876-086F-D594-9031-77582BAAF0AC}"/>
              </a:ext>
            </a:extLst>
          </p:cNvPr>
          <p:cNvSpPr/>
          <p:nvPr/>
        </p:nvSpPr>
        <p:spPr>
          <a:xfrm>
            <a:off x="4978494" y="5595736"/>
            <a:ext cx="432000" cy="18000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490C3F2A-32AE-C8EE-D85A-EE4163C1DE87}"/>
              </a:ext>
            </a:extLst>
          </p:cNvPr>
          <p:cNvSpPr/>
          <p:nvPr/>
        </p:nvSpPr>
        <p:spPr>
          <a:xfrm>
            <a:off x="7045559" y="5595735"/>
            <a:ext cx="432000" cy="180000"/>
          </a:xfrm>
          <a:prstGeom prst="roundRect">
            <a:avLst/>
          </a:prstGeom>
          <a:solidFill>
            <a:srgbClr val="FAE9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51D32AD-A50A-60A7-1EA9-A01EA8128FC9}"/>
              </a:ext>
            </a:extLst>
          </p:cNvPr>
          <p:cNvSpPr/>
          <p:nvPr/>
        </p:nvSpPr>
        <p:spPr>
          <a:xfrm>
            <a:off x="9301513" y="5595735"/>
            <a:ext cx="432000" cy="180000"/>
          </a:xfrm>
          <a:prstGeom prst="round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786F731-DE66-1E54-8A60-476B9FE01FB4}"/>
              </a:ext>
            </a:extLst>
          </p:cNvPr>
          <p:cNvSpPr txBox="1"/>
          <p:nvPr/>
        </p:nvSpPr>
        <p:spPr>
          <a:xfrm>
            <a:off x="5459930" y="5547236"/>
            <a:ext cx="1489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Ratio PrgP/buts &lt; 3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4BE46FF-34D0-9BEB-7602-32C2396875BC}"/>
              </a:ext>
            </a:extLst>
          </p:cNvPr>
          <p:cNvSpPr txBox="1"/>
          <p:nvPr/>
        </p:nvSpPr>
        <p:spPr>
          <a:xfrm>
            <a:off x="7522580" y="5562123"/>
            <a:ext cx="16668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3 &lt; Ratio PrgP/buts &lt; 6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C369C1A-9F75-43BB-1816-016712679A34}"/>
              </a:ext>
            </a:extLst>
          </p:cNvPr>
          <p:cNvSpPr txBox="1"/>
          <p:nvPr/>
        </p:nvSpPr>
        <p:spPr>
          <a:xfrm>
            <a:off x="9762969" y="5569300"/>
            <a:ext cx="14890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Ratio PrgP/buts &gt; 6</a:t>
            </a: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8F294A65-9BCD-96BB-4E46-34CFC2C4AD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925" y="2248754"/>
            <a:ext cx="304843" cy="304843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7D2E9357-365F-E154-72BD-87A90A0900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98" y="2772183"/>
            <a:ext cx="304843" cy="304843"/>
          </a:xfrm>
          <a:prstGeom prst="rect">
            <a:avLst/>
          </a:prstGeom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0FEDEC37-65C3-42B1-E70A-C9DC6359D4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97" y="3277323"/>
            <a:ext cx="304843" cy="304843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46BE9D23-6003-3DCA-5D2F-8ADCADA45E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582" y="3778454"/>
            <a:ext cx="304843" cy="304843"/>
          </a:xfrm>
          <a:prstGeom prst="rect">
            <a:avLst/>
          </a:prstGeom>
        </p:spPr>
      </p:pic>
      <p:pic>
        <p:nvPicPr>
          <p:cNvPr id="38" name="Image 37">
            <a:extLst>
              <a:ext uri="{FF2B5EF4-FFF2-40B4-BE49-F238E27FC236}">
                <a16:creationId xmlns:a16="http://schemas.microsoft.com/office/drawing/2014/main" id="{FC6DEE64-D187-4CEE-1C64-1216E3E1A2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924" y="4313729"/>
            <a:ext cx="304843" cy="304843"/>
          </a:xfrm>
          <a:prstGeom prst="rect">
            <a:avLst/>
          </a:prstGeom>
        </p:spPr>
      </p:pic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65BBFC22-909D-BE99-5F23-CD73AAB3B7F2}"/>
              </a:ext>
            </a:extLst>
          </p:cNvPr>
          <p:cNvCxnSpPr>
            <a:cxnSpLocks/>
          </p:cNvCxnSpPr>
          <p:nvPr/>
        </p:nvCxnSpPr>
        <p:spPr>
          <a:xfrm>
            <a:off x="680582" y="2688707"/>
            <a:ext cx="33568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C51F2A7D-6FB9-827D-6031-0384F4825E2C}"/>
              </a:ext>
            </a:extLst>
          </p:cNvPr>
          <p:cNvCxnSpPr>
            <a:cxnSpLocks/>
          </p:cNvCxnSpPr>
          <p:nvPr/>
        </p:nvCxnSpPr>
        <p:spPr>
          <a:xfrm>
            <a:off x="680581" y="3186817"/>
            <a:ext cx="33568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100D8856-2B75-A6BD-2D3E-BC643E76109A}"/>
              </a:ext>
            </a:extLst>
          </p:cNvPr>
          <p:cNvCxnSpPr>
            <a:cxnSpLocks/>
          </p:cNvCxnSpPr>
          <p:nvPr/>
        </p:nvCxnSpPr>
        <p:spPr>
          <a:xfrm>
            <a:off x="680580" y="3684927"/>
            <a:ext cx="33568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1DEE12E1-18A6-F3E9-E374-F1A41FCD2B2E}"/>
              </a:ext>
            </a:extLst>
          </p:cNvPr>
          <p:cNvCxnSpPr>
            <a:cxnSpLocks/>
          </p:cNvCxnSpPr>
          <p:nvPr/>
        </p:nvCxnSpPr>
        <p:spPr>
          <a:xfrm>
            <a:off x="680579" y="4183037"/>
            <a:ext cx="33568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Image 53" descr="Une image contenant Graphique, Néon, Caractère coloré, lampe&#10;&#10;Le contenu généré par l’IA peut être incorrect.">
            <a:extLst>
              <a:ext uri="{FF2B5EF4-FFF2-40B4-BE49-F238E27FC236}">
                <a16:creationId xmlns:a16="http://schemas.microsoft.com/office/drawing/2014/main" id="{597878F3-EAA2-D1F3-A105-592D7DC125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8140" y="1666542"/>
            <a:ext cx="216000" cy="216000"/>
          </a:xfrm>
          <a:prstGeom prst="rect">
            <a:avLst/>
          </a:prstGeom>
        </p:spPr>
      </p:pic>
      <p:pic>
        <p:nvPicPr>
          <p:cNvPr id="56" name="Image 55" descr="Une image contenant Graphique, symbole, Caractère coloré, conception&#10;&#10;Le contenu généré par l’IA peut être incorrect.">
            <a:extLst>
              <a:ext uri="{FF2B5EF4-FFF2-40B4-BE49-F238E27FC236}">
                <a16:creationId xmlns:a16="http://schemas.microsoft.com/office/drawing/2014/main" id="{01768E27-5644-D2A3-A970-D87753A725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6662" y="1553965"/>
            <a:ext cx="416066" cy="416066"/>
          </a:xfrm>
          <a:prstGeom prst="rect">
            <a:avLst/>
          </a:prstGeom>
        </p:spPr>
      </p:pic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7CCC3733-4BA4-D965-41B5-BD78ADEE9282}"/>
              </a:ext>
            </a:extLst>
          </p:cNvPr>
          <p:cNvSpPr/>
          <p:nvPr/>
        </p:nvSpPr>
        <p:spPr>
          <a:xfrm>
            <a:off x="667828" y="5449726"/>
            <a:ext cx="3321045" cy="494168"/>
          </a:xfrm>
          <a:prstGeom prst="roundRect">
            <a:avLst/>
          </a:prstGeom>
          <a:solidFill>
            <a:srgbClr val="F2F5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DE83E40A-3769-0E11-BC8E-5B57DE53EAF7}"/>
              </a:ext>
            </a:extLst>
          </p:cNvPr>
          <p:cNvSpPr txBox="1"/>
          <p:nvPr/>
        </p:nvSpPr>
        <p:spPr>
          <a:xfrm>
            <a:off x="1095494" y="5519804"/>
            <a:ext cx="2744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solidFill>
                  <a:schemeClr val="bg2">
                    <a:lumMod val="50000"/>
                  </a:schemeClr>
                </a:solidFill>
              </a:rPr>
              <a:t>ROUND(pr.</a:t>
            </a:r>
            <a:r>
              <a:rPr lang="fr-FR" sz="1000" dirty="0">
                <a:solidFill>
                  <a:srgbClr val="676A73"/>
                </a:solidFill>
              </a:rPr>
              <a:t>progression_</a:t>
            </a:r>
            <a:r>
              <a:rPr lang="fr-FR" sz="1000" dirty="0">
                <a:solidFill>
                  <a:schemeClr val="bg2">
                    <a:lumMod val="50000"/>
                  </a:schemeClr>
                </a:solidFill>
              </a:rPr>
              <a:t>passe::numeric /</a:t>
            </a:r>
          </a:p>
          <a:p>
            <a:r>
              <a:rPr lang="fr-FR" sz="1000" dirty="0">
                <a:solidFill>
                  <a:schemeClr val="bg2">
                    <a:lumMod val="50000"/>
                  </a:schemeClr>
                </a:solidFill>
              </a:rPr>
              <a:t>NULLIF(p.buts, 0), 2) AS ratio</a:t>
            </a:r>
          </a:p>
        </p:txBody>
      </p:sp>
      <p:pic>
        <p:nvPicPr>
          <p:cNvPr id="60" name="Image 59">
            <a:extLst>
              <a:ext uri="{FF2B5EF4-FFF2-40B4-BE49-F238E27FC236}">
                <a16:creationId xmlns:a16="http://schemas.microsoft.com/office/drawing/2014/main" id="{D33A99E0-B92D-AFDE-B6C8-523BEDBA34D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9240" y="5534752"/>
            <a:ext cx="304843" cy="304843"/>
          </a:xfrm>
          <a:prstGeom prst="rect">
            <a:avLst/>
          </a:prstGeom>
        </p:spPr>
      </p:pic>
      <p:pic>
        <p:nvPicPr>
          <p:cNvPr id="62" name="Image 61" descr="Une image contenant cercle&#10;&#10;Le contenu généré par l’IA peut être incorrect.">
            <a:extLst>
              <a:ext uri="{FF2B5EF4-FFF2-40B4-BE49-F238E27FC236}">
                <a16:creationId xmlns:a16="http://schemas.microsoft.com/office/drawing/2014/main" id="{735B557B-86C8-EEAC-6089-FFC736857E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0006" y="1589074"/>
            <a:ext cx="384194" cy="384194"/>
          </a:xfrm>
          <a:prstGeom prst="rect">
            <a:avLst/>
          </a:prstGeom>
        </p:spPr>
      </p:pic>
      <p:sp>
        <p:nvSpPr>
          <p:cNvPr id="15" name="Titre 14">
            <a:extLst>
              <a:ext uri="{FF2B5EF4-FFF2-40B4-BE49-F238E27FC236}">
                <a16:creationId xmlns:a16="http://schemas.microsoft.com/office/drawing/2014/main" id="{30A53EFF-6888-0A65-2730-57E0F9C05FE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Recommandation recrutement : shortlist finisseurs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Bonnes pratiques : sauvegarde, stockage et accès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68096"/>
            <a:ext cx="7132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dirty="0">
                <a:solidFill>
                  <a:srgbClr val="607D8B"/>
                </a:solidFill>
              </a:rPr>
              <a:t>Sécuriser la base, garantir la traçabilité et faciliter la maintenance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6446520"/>
            <a:ext cx="11155680" cy="0"/>
          </a:xfrm>
          <a:prstGeom prst="line">
            <a:avLst/>
          </a:prstGeom>
          <a:noFill/>
          <a:ln w="7620">
            <a:solidFill>
              <a:srgbClr val="DCE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105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07D8B"/>
                </a:solidFill>
              </a:rPr>
              <a:t>SportDataPulse · Business Intelligence Analyst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11201400" y="651052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07D8B"/>
                </a:solidFill>
              </a:rPr>
              <a:t>17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707434" y="1391847"/>
            <a:ext cx="3063240" cy="1912929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E20044"/>
                </a:gs>
                <a:gs pos="51000">
                  <a:schemeClr val="accent1">
                    <a:lumMod val="45000"/>
                    <a:lumOff val="55000"/>
                  </a:schemeClr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611218" y="1487677"/>
            <a:ext cx="1610815" cy="524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0044"/>
                </a:solidFill>
              </a:rPr>
              <a:t>Sauvegarde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243286" y="2318140"/>
            <a:ext cx="2298788" cy="7259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fr-FR" sz="1120" dirty="0">
                <a:solidFill>
                  <a:srgbClr val="17252A"/>
                </a:solidFill>
              </a:rPr>
              <a:t>Dump PostgreSQL planifié.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fr-FR" sz="1120" dirty="0">
                <a:solidFill>
                  <a:srgbClr val="17252A"/>
                </a:solidFill>
              </a:rPr>
              <a:t>Versions datées des sauvegardes.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fr-FR" sz="1120" dirty="0">
                <a:solidFill>
                  <a:srgbClr val="17252A"/>
                </a:solidFill>
              </a:rPr>
              <a:t>Test régulier de restauration.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4410754" y="1391847"/>
            <a:ext cx="3063240" cy="1912922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0F5B7F"/>
                </a:gs>
                <a:gs pos="51000">
                  <a:srgbClr val="35ACE7"/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1EAB7BA8-54C7-5E9E-C5AA-94D484316CD3}"/>
              </a:ext>
            </a:extLst>
          </p:cNvPr>
          <p:cNvSpPr/>
          <p:nvPr/>
        </p:nvSpPr>
        <p:spPr>
          <a:xfrm>
            <a:off x="4503755" y="1492277"/>
            <a:ext cx="552040" cy="549288"/>
          </a:xfrm>
          <a:prstGeom prst="ellipse">
            <a:avLst/>
          </a:prstGeom>
          <a:solidFill>
            <a:srgbClr val="0F5B7F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Text 10"/>
          <p:cNvSpPr/>
          <p:nvPr/>
        </p:nvSpPr>
        <p:spPr>
          <a:xfrm>
            <a:off x="5257800" y="1492277"/>
            <a:ext cx="1667553" cy="549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5B7F"/>
                </a:solidFill>
              </a:rPr>
              <a:t>Stockage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05697" y="2407784"/>
            <a:ext cx="244156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fr-FR" sz="1120" dirty="0">
                <a:solidFill>
                  <a:srgbClr val="17252A"/>
                </a:solidFill>
              </a:rPr>
              <a:t>Séparer les sources, la base, les scripts SQL et les exports d’analyse.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8114074" y="1391848"/>
            <a:ext cx="3063240" cy="1912928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2E7D32"/>
                </a:gs>
                <a:gs pos="51000">
                  <a:srgbClr val="92D050"/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966447" y="1487677"/>
            <a:ext cx="1662227" cy="553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32"/>
                </a:solidFill>
              </a:rPr>
              <a:t>Accès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615677" y="2250064"/>
            <a:ext cx="2423388" cy="7259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fr-FR" sz="1120" dirty="0">
                <a:solidFill>
                  <a:srgbClr val="17252A"/>
                </a:solidFill>
              </a:rPr>
              <a:t>Droits par rôle.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1120" dirty="0">
                <a:solidFill>
                  <a:srgbClr val="17252A"/>
                </a:solidFill>
              </a:rPr>
              <a:t>Accès en lecture seule pour le staff non technique.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2614001" y="3537478"/>
            <a:ext cx="3063240" cy="178138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FF6600"/>
                </a:gs>
                <a:gs pos="51000">
                  <a:srgbClr val="FFB27D"/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401739" y="3629265"/>
            <a:ext cx="1726861" cy="549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600"/>
                </a:solidFill>
              </a:rPr>
              <a:t>Traçabilité</a:t>
            </a:r>
            <a:endParaRPr lang="en-US" sz="2000" dirty="0">
              <a:solidFill>
                <a:srgbClr val="FF6600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3101448" y="4331499"/>
            <a:ext cx="2384951" cy="927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FR" sz="1120" dirty="0">
                <a:solidFill>
                  <a:srgbClr val="17252A"/>
                </a:solidFill>
              </a:rPr>
              <a:t>Conserver les scripts de création, de chargement, d’analyse et de comparaison.</a:t>
            </a:r>
            <a:endParaRPr lang="en-US" sz="1120" dirty="0"/>
          </a:p>
        </p:txBody>
      </p:sp>
      <p:sp>
        <p:nvSpPr>
          <p:cNvPr id="21" name="Shape 18"/>
          <p:cNvSpPr/>
          <p:nvPr/>
        </p:nvSpPr>
        <p:spPr>
          <a:xfrm>
            <a:off x="6317321" y="3537478"/>
            <a:ext cx="3063240" cy="1781384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22225">
            <a:gradFill flip="none" rotWithShape="1">
              <a:gsLst>
                <a:gs pos="0">
                  <a:srgbClr val="E20044"/>
                </a:gs>
                <a:gs pos="51000">
                  <a:schemeClr val="accent1">
                    <a:lumMod val="45000"/>
                    <a:lumOff val="55000"/>
                  </a:schemeClr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121551" y="3642939"/>
            <a:ext cx="1710369" cy="52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20044"/>
                </a:solidFill>
              </a:rPr>
              <a:t>Qualité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771217" y="4293050"/>
            <a:ext cx="2462927" cy="899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fr-FR" sz="1120" dirty="0">
                <a:solidFill>
                  <a:srgbClr val="17252A"/>
                </a:solidFill>
              </a:rPr>
              <a:t>Contrôles après import.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fr-FR" sz="1120" dirty="0">
                <a:solidFill>
                  <a:srgbClr val="17252A"/>
                </a:solidFill>
              </a:rPr>
              <a:t>Dictionnaire de données documenté et maintenu.</a:t>
            </a:r>
            <a:endParaRPr lang="en-US" sz="112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86154059-F7A3-144F-A873-3A9F7091A23A}"/>
              </a:ext>
            </a:extLst>
          </p:cNvPr>
          <p:cNvSpPr/>
          <p:nvPr/>
        </p:nvSpPr>
        <p:spPr>
          <a:xfrm>
            <a:off x="502920" y="1124712"/>
            <a:ext cx="2148840" cy="0"/>
          </a:xfrm>
          <a:prstGeom prst="line">
            <a:avLst/>
          </a:prstGeom>
          <a:noFill/>
          <a:ln w="38100">
            <a:solidFill>
              <a:srgbClr val="E2004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BA9C48A1-F324-97F1-0B62-69624F13A564}"/>
              </a:ext>
            </a:extLst>
          </p:cNvPr>
          <p:cNvSpPr/>
          <p:nvPr/>
        </p:nvSpPr>
        <p:spPr>
          <a:xfrm>
            <a:off x="830578" y="1487677"/>
            <a:ext cx="552040" cy="549288"/>
          </a:xfrm>
          <a:prstGeom prst="ellipse">
            <a:avLst/>
          </a:prstGeom>
          <a:solidFill>
            <a:srgbClr val="E2004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A840EA7D-828A-07CC-5DDE-62EBC0F205BC}"/>
              </a:ext>
            </a:extLst>
          </p:cNvPr>
          <p:cNvSpPr/>
          <p:nvPr/>
        </p:nvSpPr>
        <p:spPr>
          <a:xfrm>
            <a:off x="707434" y="5577293"/>
            <a:ext cx="10400598" cy="637458"/>
          </a:xfrm>
          <a:prstGeom prst="roundRect">
            <a:avLst>
              <a:gd name="adj" fmla="val 5161"/>
            </a:avLst>
          </a:prstGeom>
          <a:solidFill>
            <a:srgbClr val="00B050">
              <a:alpha val="3000"/>
            </a:srgbClr>
          </a:solidFill>
          <a:ln w="22225">
            <a:gradFill flip="none" rotWithShape="1">
              <a:gsLst>
                <a:gs pos="0">
                  <a:srgbClr val="2E7D32"/>
                </a:gs>
                <a:gs pos="51000">
                  <a:srgbClr val="9ADA9D"/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  <a:prstDash val="solid"/>
          </a:ln>
          <a:effectLst/>
        </p:spPr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98A55A43-4F92-A50E-A832-D542267CF2CE}"/>
              </a:ext>
            </a:extLst>
          </p:cNvPr>
          <p:cNvSpPr/>
          <p:nvPr/>
        </p:nvSpPr>
        <p:spPr>
          <a:xfrm>
            <a:off x="1602692" y="5599292"/>
            <a:ext cx="7363755" cy="6154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fr-FR" sz="1600" b="1" dirty="0">
                <a:solidFill>
                  <a:srgbClr val="2E7D32"/>
                </a:solidFill>
              </a:rPr>
              <a:t>Objectif : </a:t>
            </a:r>
            <a:r>
              <a:rPr lang="fr-FR" sz="1600" dirty="0">
                <a:solidFill>
                  <a:srgbClr val="2E7D32"/>
                </a:solidFill>
              </a:rPr>
              <a:t>rendre la base fiable, restaurable et exploitable par le staff dans la durée.</a:t>
            </a:r>
            <a:endParaRPr lang="en-US" sz="1600" dirty="0">
              <a:solidFill>
                <a:srgbClr val="2E7D32"/>
              </a:solidFill>
            </a:endParaRPr>
          </a:p>
        </p:txBody>
      </p:sp>
      <p:pic>
        <p:nvPicPr>
          <p:cNvPr id="28" name="Logo image" descr="/mnt/data/assets_spdp/logo_icon.png">
            <a:extLst>
              <a:ext uri="{FF2B5EF4-FFF2-40B4-BE49-F238E27FC236}">
                <a16:creationId xmlns:a16="http://schemas.microsoft.com/office/drawing/2014/main" id="{DE9AD8B1-A66F-F293-3EC6-89F72CF5FD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pic>
        <p:nvPicPr>
          <p:cNvPr id="5" name="Image 4" descr="Une image contenant cercle, lampe, Graphique, art&#10;&#10;Le contenu généré par l’IA peut être incorrect.">
            <a:extLst>
              <a:ext uri="{FF2B5EF4-FFF2-40B4-BE49-F238E27FC236}">
                <a16:creationId xmlns:a16="http://schemas.microsoft.com/office/drawing/2014/main" id="{ADE8CF87-B8E7-5CCE-84FF-9A5582C3B3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362" y="1588684"/>
            <a:ext cx="370693" cy="370693"/>
          </a:xfrm>
          <a:prstGeom prst="rect">
            <a:avLst/>
          </a:prstGeom>
        </p:spPr>
      </p:pic>
      <p:pic>
        <p:nvPicPr>
          <p:cNvPr id="31" name="Image 30" descr="Une image contenant Police, Graphique, symbole, rouge&#10;&#10;Le contenu généré par l’IA peut être incorrect.">
            <a:extLst>
              <a:ext uri="{FF2B5EF4-FFF2-40B4-BE49-F238E27FC236}">
                <a16:creationId xmlns:a16="http://schemas.microsoft.com/office/drawing/2014/main" id="{8297F2B3-3355-0430-9A66-8121CC1B3B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9766" y="3695792"/>
            <a:ext cx="360027" cy="360027"/>
          </a:xfrm>
          <a:prstGeom prst="rect">
            <a:avLst/>
          </a:prstGeom>
        </p:spPr>
      </p:pic>
      <p:pic>
        <p:nvPicPr>
          <p:cNvPr id="33" name="Image 32" descr="Une image contenant conception&#10;&#10;Le contenu généré par l’IA peut être incorrect.">
            <a:extLst>
              <a:ext uri="{FF2B5EF4-FFF2-40B4-BE49-F238E27FC236}">
                <a16:creationId xmlns:a16="http://schemas.microsoft.com/office/drawing/2014/main" id="{66A02822-DDA9-E203-5115-A65A614EC2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8091" y="1599402"/>
            <a:ext cx="351914" cy="323938"/>
          </a:xfrm>
          <a:prstGeom prst="rect">
            <a:avLst/>
          </a:prstGeom>
        </p:spPr>
      </p:pic>
      <p:sp>
        <p:nvSpPr>
          <p:cNvPr id="39" name="Shape 2">
            <a:extLst>
              <a:ext uri="{FF2B5EF4-FFF2-40B4-BE49-F238E27FC236}">
                <a16:creationId xmlns:a16="http://schemas.microsoft.com/office/drawing/2014/main" id="{54FED4F7-0C0B-3C40-D3F9-EADDD4BA2FC9}"/>
              </a:ext>
            </a:extLst>
          </p:cNvPr>
          <p:cNvSpPr/>
          <p:nvPr/>
        </p:nvSpPr>
        <p:spPr>
          <a:xfrm flipV="1">
            <a:off x="1602692" y="1975925"/>
            <a:ext cx="1350820" cy="0"/>
          </a:xfrm>
          <a:prstGeom prst="line">
            <a:avLst/>
          </a:prstGeom>
          <a:noFill/>
          <a:ln w="38100">
            <a:solidFill>
              <a:srgbClr val="E2004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245C238B-56A3-860A-4051-F4904221FAF1}"/>
              </a:ext>
            </a:extLst>
          </p:cNvPr>
          <p:cNvSpPr/>
          <p:nvPr/>
        </p:nvSpPr>
        <p:spPr>
          <a:xfrm flipV="1">
            <a:off x="3401739" y="4131838"/>
            <a:ext cx="1206352" cy="0"/>
          </a:xfrm>
          <a:prstGeom prst="line">
            <a:avLst/>
          </a:prstGeom>
          <a:noFill/>
          <a:ln w="38100">
            <a:solidFill>
              <a:srgbClr val="FF6600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539FDDD1-E51F-D51D-DCF4-34E5D3F1812E}"/>
              </a:ext>
            </a:extLst>
          </p:cNvPr>
          <p:cNvSpPr/>
          <p:nvPr/>
        </p:nvSpPr>
        <p:spPr>
          <a:xfrm flipV="1">
            <a:off x="7136548" y="4147690"/>
            <a:ext cx="866809" cy="0"/>
          </a:xfrm>
          <a:prstGeom prst="line">
            <a:avLst/>
          </a:prstGeom>
          <a:noFill/>
          <a:ln w="38100">
            <a:solidFill>
              <a:srgbClr val="E2004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9BBDA201-52C4-6895-9170-C65B87AC9093}"/>
              </a:ext>
            </a:extLst>
          </p:cNvPr>
          <p:cNvSpPr/>
          <p:nvPr/>
        </p:nvSpPr>
        <p:spPr>
          <a:xfrm flipV="1">
            <a:off x="5223835" y="2012284"/>
            <a:ext cx="1093486" cy="0"/>
          </a:xfrm>
          <a:prstGeom prst="line">
            <a:avLst/>
          </a:prstGeom>
          <a:noFill/>
          <a:ln w="38100">
            <a:solidFill>
              <a:srgbClr val="0F5B7F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3" name="Shape 2">
            <a:extLst>
              <a:ext uri="{FF2B5EF4-FFF2-40B4-BE49-F238E27FC236}">
                <a16:creationId xmlns:a16="http://schemas.microsoft.com/office/drawing/2014/main" id="{D2BD137D-1F03-A22B-6916-6F3544C4EE78}"/>
              </a:ext>
            </a:extLst>
          </p:cNvPr>
          <p:cNvSpPr/>
          <p:nvPr/>
        </p:nvSpPr>
        <p:spPr>
          <a:xfrm flipV="1">
            <a:off x="8966447" y="2012284"/>
            <a:ext cx="724308" cy="0"/>
          </a:xfrm>
          <a:prstGeom prst="line">
            <a:avLst/>
          </a:prstGeom>
          <a:noFill/>
          <a:ln w="38100">
            <a:solidFill>
              <a:srgbClr val="2E7D32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82837BC7-DC02-CC04-3E3D-1CEE8535406B}"/>
              </a:ext>
            </a:extLst>
          </p:cNvPr>
          <p:cNvSpPr/>
          <p:nvPr/>
        </p:nvSpPr>
        <p:spPr>
          <a:xfrm>
            <a:off x="945679" y="2414016"/>
            <a:ext cx="69007" cy="69007"/>
          </a:xfrm>
          <a:prstGeom prst="ellipse">
            <a:avLst/>
          </a:prstGeom>
          <a:solidFill>
            <a:srgbClr val="E200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D7F90F08-61C2-CD9F-8293-BCF13D13DF14}"/>
              </a:ext>
            </a:extLst>
          </p:cNvPr>
          <p:cNvSpPr/>
          <p:nvPr/>
        </p:nvSpPr>
        <p:spPr>
          <a:xfrm>
            <a:off x="939820" y="2685010"/>
            <a:ext cx="69007" cy="69007"/>
          </a:xfrm>
          <a:prstGeom prst="ellipse">
            <a:avLst/>
          </a:prstGeom>
          <a:solidFill>
            <a:srgbClr val="E200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9FD4DA40-7F1A-6D1F-74B1-6CF65925B328}"/>
              </a:ext>
            </a:extLst>
          </p:cNvPr>
          <p:cNvSpPr/>
          <p:nvPr/>
        </p:nvSpPr>
        <p:spPr>
          <a:xfrm>
            <a:off x="945679" y="2952216"/>
            <a:ext cx="69007" cy="69007"/>
          </a:xfrm>
          <a:prstGeom prst="ellipse">
            <a:avLst/>
          </a:prstGeom>
          <a:solidFill>
            <a:srgbClr val="E200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130A81D7-4E70-E5DC-2D96-FE2B77C50B37}"/>
              </a:ext>
            </a:extLst>
          </p:cNvPr>
          <p:cNvSpPr/>
          <p:nvPr/>
        </p:nvSpPr>
        <p:spPr>
          <a:xfrm>
            <a:off x="4608091" y="2566918"/>
            <a:ext cx="69007" cy="69007"/>
          </a:xfrm>
          <a:prstGeom prst="ellipse">
            <a:avLst/>
          </a:prstGeom>
          <a:solidFill>
            <a:srgbClr val="0F5B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69BACA57-ED8D-1405-7336-A34002341216}"/>
              </a:ext>
            </a:extLst>
          </p:cNvPr>
          <p:cNvSpPr/>
          <p:nvPr/>
        </p:nvSpPr>
        <p:spPr>
          <a:xfrm>
            <a:off x="8211348" y="1501082"/>
            <a:ext cx="552040" cy="549288"/>
          </a:xfrm>
          <a:prstGeom prst="ellipse">
            <a:avLst/>
          </a:prstGeom>
          <a:solidFill>
            <a:srgbClr val="2E7D32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5" name="Image 34" descr="Une image contenant clipart, Graphique, dessin humoristique&#10;&#10;Le contenu généré par l’IA peut être incorrect.">
            <a:extLst>
              <a:ext uri="{FF2B5EF4-FFF2-40B4-BE49-F238E27FC236}">
                <a16:creationId xmlns:a16="http://schemas.microsoft.com/office/drawing/2014/main" id="{F09C884E-93CA-D715-2E25-3A71D4D6FCC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9654" y="1550780"/>
            <a:ext cx="435428" cy="435428"/>
          </a:xfrm>
          <a:prstGeom prst="rect">
            <a:avLst/>
          </a:prstGeom>
        </p:spPr>
      </p:pic>
      <p:sp>
        <p:nvSpPr>
          <p:cNvPr id="50" name="Ellipse 49">
            <a:extLst>
              <a:ext uri="{FF2B5EF4-FFF2-40B4-BE49-F238E27FC236}">
                <a16:creationId xmlns:a16="http://schemas.microsoft.com/office/drawing/2014/main" id="{8AFA50B3-BD39-9A89-9ADB-77F2705CA99C}"/>
              </a:ext>
            </a:extLst>
          </p:cNvPr>
          <p:cNvSpPr/>
          <p:nvPr/>
        </p:nvSpPr>
        <p:spPr>
          <a:xfrm>
            <a:off x="8408421" y="2388541"/>
            <a:ext cx="69007" cy="69007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C5BE30AB-923E-083A-3237-6D0157EE7A2D}"/>
              </a:ext>
            </a:extLst>
          </p:cNvPr>
          <p:cNvSpPr/>
          <p:nvPr/>
        </p:nvSpPr>
        <p:spPr>
          <a:xfrm>
            <a:off x="8408420" y="2635925"/>
            <a:ext cx="69007" cy="69007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94B635B1-DD44-C18F-A1F9-5440DBB75E86}"/>
              </a:ext>
            </a:extLst>
          </p:cNvPr>
          <p:cNvSpPr/>
          <p:nvPr/>
        </p:nvSpPr>
        <p:spPr>
          <a:xfrm>
            <a:off x="2719545" y="3629425"/>
            <a:ext cx="552040" cy="549288"/>
          </a:xfrm>
          <a:prstGeom prst="ellipse">
            <a:avLst/>
          </a:prstGeom>
          <a:solidFill>
            <a:srgbClr val="FF66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7" name="Image 36" descr="Une image contenant symbole, Graphique, Police, cercle&#10;&#10;Le contenu généré par l’IA peut être incorrect.">
            <a:extLst>
              <a:ext uri="{FF2B5EF4-FFF2-40B4-BE49-F238E27FC236}">
                <a16:creationId xmlns:a16="http://schemas.microsoft.com/office/drawing/2014/main" id="{A390F9B7-EAC6-6809-D9E5-FF976B1E9E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6081" y="3735851"/>
            <a:ext cx="345846" cy="345846"/>
          </a:xfrm>
          <a:prstGeom prst="rect">
            <a:avLst/>
          </a:prstGeom>
        </p:spPr>
      </p:pic>
      <p:sp>
        <p:nvSpPr>
          <p:cNvPr id="53" name="Ellipse 52">
            <a:extLst>
              <a:ext uri="{FF2B5EF4-FFF2-40B4-BE49-F238E27FC236}">
                <a16:creationId xmlns:a16="http://schemas.microsoft.com/office/drawing/2014/main" id="{D279B149-BC0F-5B7E-3392-0A2548698285}"/>
              </a:ext>
            </a:extLst>
          </p:cNvPr>
          <p:cNvSpPr/>
          <p:nvPr/>
        </p:nvSpPr>
        <p:spPr>
          <a:xfrm>
            <a:off x="6443416" y="3629265"/>
            <a:ext cx="552040" cy="549288"/>
          </a:xfrm>
          <a:prstGeom prst="ellipse">
            <a:avLst/>
          </a:prstGeom>
          <a:solidFill>
            <a:srgbClr val="E2004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5B8E9FAF-E31F-B6F9-0D1C-3EE1EFB9152D}"/>
              </a:ext>
            </a:extLst>
          </p:cNvPr>
          <p:cNvSpPr/>
          <p:nvPr/>
        </p:nvSpPr>
        <p:spPr>
          <a:xfrm>
            <a:off x="6515625" y="4497249"/>
            <a:ext cx="69007" cy="69007"/>
          </a:xfrm>
          <a:prstGeom prst="ellipse">
            <a:avLst/>
          </a:prstGeom>
          <a:solidFill>
            <a:srgbClr val="E200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A9A31BC0-1110-C3E8-698E-BCD03CEC307B}"/>
              </a:ext>
            </a:extLst>
          </p:cNvPr>
          <p:cNvSpPr/>
          <p:nvPr/>
        </p:nvSpPr>
        <p:spPr>
          <a:xfrm>
            <a:off x="6509766" y="4768243"/>
            <a:ext cx="69007" cy="69007"/>
          </a:xfrm>
          <a:prstGeom prst="ellipse">
            <a:avLst/>
          </a:prstGeom>
          <a:solidFill>
            <a:srgbClr val="E2004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6A2EABD2-DC34-47C4-914E-7DD883F6EDED}"/>
              </a:ext>
            </a:extLst>
          </p:cNvPr>
          <p:cNvSpPr/>
          <p:nvPr/>
        </p:nvSpPr>
        <p:spPr>
          <a:xfrm>
            <a:off x="2845856" y="4534996"/>
            <a:ext cx="69007" cy="69007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7" name="Image 56" descr="Une image contenant symbole, cercle&#10;&#10;Le contenu généré par l’IA peut être incorrect.">
            <a:extLst>
              <a:ext uri="{FF2B5EF4-FFF2-40B4-BE49-F238E27FC236}">
                <a16:creationId xmlns:a16="http://schemas.microsoft.com/office/drawing/2014/main" id="{5BAE9CD3-44AA-B9D3-C917-D5C08C7B9C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692" y="5599879"/>
            <a:ext cx="574716" cy="574716"/>
          </a:xfrm>
          <a:prstGeom prst="rect">
            <a:avLst/>
          </a:prstGeom>
          <a:effectLst/>
        </p:spPr>
      </p:pic>
      <p:pic>
        <p:nvPicPr>
          <p:cNvPr id="58" name="Image 57" descr="Une image contenant symbole, Graphique, logo, Police&#10;&#10;Le contenu généré par l’IA peut être incorrect.">
            <a:extLst>
              <a:ext uri="{FF2B5EF4-FFF2-40B4-BE49-F238E27FC236}">
                <a16:creationId xmlns:a16="http://schemas.microsoft.com/office/drawing/2014/main" id="{C048B368-053D-E057-1270-5B9ABF05AAB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2050" y="5805761"/>
            <a:ext cx="180000" cy="180000"/>
          </a:xfrm>
          <a:prstGeom prst="rect">
            <a:avLst/>
          </a:prstGeom>
        </p:spPr>
      </p:pic>
      <p:sp>
        <p:nvSpPr>
          <p:cNvPr id="4" name="Titre 3">
            <a:extLst>
              <a:ext uri="{FF2B5EF4-FFF2-40B4-BE49-F238E27FC236}">
                <a16:creationId xmlns:a16="http://schemas.microsoft.com/office/drawing/2014/main" id="{1BFCD07D-9B06-DFCB-442B-D6D9B22BD0D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pPr marL="0" indent="0"/>
            <a:r>
              <a:rPr lang="en-US" b="1" dirty="0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Bonnes pratiques : sauvegarde, stockage et </a:t>
            </a:r>
            <a:r>
              <a:rPr lang="en-US" b="1" dirty="0" err="1">
                <a:solidFill>
                  <a:srgbClr val="1725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accès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89611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092026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Annexe SQL 1/2 : requêtes métier et résultats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77724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3707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Synthèse des requêtes principales à commenter pendant la soutenance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234440" cy="41148"/>
          </a:xfrm>
          <a:prstGeom prst="rect">
            <a:avLst/>
          </a:prstGeom>
          <a:solidFill>
            <a:srgbClr val="E20044"/>
          </a:solidFill>
          <a:ln w="15240">
            <a:solidFill>
              <a:srgbClr val="E20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47104"/>
            <a:ext cx="438912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 dirty="0">
                <a:ln>
                  <a:noFill/>
                </a:ln>
                <a:solidFill>
                  <a:srgbClr val="63707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SportDataPulse · Business Intelligence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 dirty="0">
                <a:ln>
                  <a:noFill/>
                </a:ln>
                <a:solidFill>
                  <a:srgbClr val="63707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143000"/>
            <a:ext cx="112471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30" b="0" i="0" u="none" strike="noStrike" kern="1200" cap="none" spc="0" normalizeH="0" baseline="0" noProof="0" dirty="0">
                <a:ln>
                  <a:noFill/>
                </a:ln>
                <a:solidFill>
                  <a:srgbClr val="0920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But : montrer que chaque question métier est reliée à une requête SQL, un résultat et une interprétation. Les requêtes complètes restent dans le livrable Étape 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5532120" cy="2057400"/>
          </a:xfrm>
          <a:prstGeom prst="roundRect">
            <a:avLst>
              <a:gd name="adj" fmla="val 5212"/>
            </a:avLst>
          </a:prstGeom>
          <a:solidFill>
            <a:srgbClr val="FFFFFF"/>
          </a:solidFill>
          <a:ln w="22225">
            <a:gradFill>
              <a:gsLst>
                <a:gs pos="0">
                  <a:srgbClr val="002060"/>
                </a:gs>
                <a:gs pos="5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" y="1709928"/>
            <a:ext cx="5202936" cy="2468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002C5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R2 - Moyenne de matchs joués par joueur, par équipe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075688"/>
            <a:ext cx="5202936" cy="941832"/>
          </a:xfrm>
          <a:prstGeom prst="roundRect">
            <a:avLst/>
          </a:prstGeom>
          <a:solidFill>
            <a:srgbClr val="0C1C22"/>
          </a:solidFill>
          <a:ln w="15240">
            <a:solidFill>
              <a:srgbClr val="09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4983479" cy="7589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SELECT e.nom_equipe,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ROUND(AVG(t.matchs_joues),2) AS moyenne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FROM temps_de_jeu 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JOIN joueur j ON t.id_joueur=j.id_joueur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JOIN equipe e ON j.id_equipe=e.id_equipe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GROUP BY e.nom_equipe;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99815"/>
            <a:ext cx="5202936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0920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Résultat : utilisation moyenne de l’effectif par club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46704"/>
            <a:ext cx="5202936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0" i="0" u="none" strike="noStrike" kern="1200" cap="none" spc="0" normalizeH="0" baseline="0" noProof="0" dirty="0">
                <a:ln>
                  <a:noFill/>
                </a:ln>
                <a:solidFill>
                  <a:srgbClr val="0A141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Lecture : une moyenne élevée indique un effectif régulièrement utilisé ou une forte stabilité dans les choix de composition.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00200"/>
            <a:ext cx="5532120" cy="2057400"/>
          </a:xfrm>
          <a:prstGeom prst="roundRect">
            <a:avLst>
              <a:gd name="adj" fmla="val 5212"/>
            </a:avLst>
          </a:prstGeom>
          <a:solidFill>
            <a:srgbClr val="FFFFFF"/>
          </a:solidFill>
          <a:ln w="22225">
            <a:gradFill>
              <a:gsLst>
                <a:gs pos="0">
                  <a:srgbClr val="2E7D32"/>
                </a:gs>
                <a:gs pos="51000">
                  <a:srgbClr val="B0DD7F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36792" y="1709928"/>
            <a:ext cx="5202936" cy="2468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2F8F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R5 - Top penalties + taux de réussite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2075688"/>
            <a:ext cx="5202936" cy="941832"/>
          </a:xfrm>
          <a:prstGeom prst="roundRect">
            <a:avLst/>
          </a:prstGeom>
          <a:solidFill>
            <a:srgbClr val="0C1C22"/>
          </a:solidFill>
          <a:ln w="15240">
            <a:solidFill>
              <a:srgbClr val="09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46520" y="2167128"/>
            <a:ext cx="4983479" cy="7589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SELECT j.nom_joueur, p.penalties_marques,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p.penalties_tentes,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ROUND(p.penalties_marques*100.0 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NULLIF(p.penalties_tentes,0),2) AS taux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ORDER BY penalties_marques DESC LIMIT 10;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099815"/>
            <a:ext cx="5202936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0920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Résultat : spécialistes identifiés + taux sécurisé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3346704"/>
            <a:ext cx="5202936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0" i="0" u="none" strike="noStrike" kern="1200" cap="none" spc="0" normalizeH="0" baseline="0" noProof="0" dirty="0">
                <a:ln>
                  <a:noFill/>
                </a:ln>
                <a:solidFill>
                  <a:srgbClr val="0A141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Lecture : NULLIF évite la division par zéro ; le classement croise volume et fiabilité sur penalties.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13632"/>
            <a:ext cx="5532120" cy="2057400"/>
          </a:xfrm>
          <a:prstGeom prst="roundRect">
            <a:avLst>
              <a:gd name="adj" fmla="val 4754"/>
            </a:avLst>
          </a:prstGeom>
          <a:solidFill>
            <a:srgbClr val="FFFFFF"/>
          </a:solidFill>
          <a:ln w="22225">
            <a:gradFill>
              <a:gsLst>
                <a:gs pos="0">
                  <a:srgbClr val="FF6600"/>
                </a:gs>
                <a:gs pos="51000">
                  <a:srgbClr val="FFB27D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7512" y="4023360"/>
            <a:ext cx="5202936" cy="2468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F47B2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R8 - Cartons rouges rapportés aux titularisations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" y="4389120"/>
            <a:ext cx="5202936" cy="941832"/>
          </a:xfrm>
          <a:prstGeom prst="roundRect">
            <a:avLst/>
          </a:prstGeom>
          <a:solidFill>
            <a:srgbClr val="0C1C22"/>
          </a:solidFill>
          <a:ln w="15240">
            <a:solidFill>
              <a:srgbClr val="09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4480560"/>
            <a:ext cx="4983479" cy="7589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SELECT j.nom_joueur, p.cartons_rouges,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t.matchs_titulaires,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ROUND(p.cartons_rouges*100.0 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NULLIF(t.matchs_titulaires,0),2) AS ratio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WHERE p.cartons_rouges &gt; 0;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5413248"/>
            <a:ext cx="5202936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0920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Résultat : profils à risque relativisés par le temps de jeu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5660136"/>
            <a:ext cx="5202936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0" i="0" u="none" strike="noStrike" kern="1200" cap="none" spc="0" normalizeH="0" baseline="0" noProof="0" dirty="0">
                <a:ln>
                  <a:noFill/>
                </a:ln>
                <a:solidFill>
                  <a:srgbClr val="0A141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Lecture : un carton rouge est interprété selon le volume de titularisations, pas seulement en valeur brute.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913632"/>
            <a:ext cx="5532120" cy="2057400"/>
          </a:xfrm>
          <a:prstGeom prst="roundRect">
            <a:avLst>
              <a:gd name="adj" fmla="val 5670"/>
            </a:avLst>
          </a:prstGeom>
          <a:solidFill>
            <a:srgbClr val="FFFFFF"/>
          </a:solidFill>
          <a:ln w="22225">
            <a:gradFill>
              <a:gsLst>
                <a:gs pos="0">
                  <a:srgbClr val="E20044"/>
                </a:gs>
                <a:gs pos="51000">
                  <a:srgbClr val="FF81A8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36792" y="4023360"/>
            <a:ext cx="5202936" cy="2468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E2004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R9 - Efficacité : différence entre buts et xG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36792" y="4389120"/>
            <a:ext cx="5202936" cy="941832"/>
          </a:xfrm>
          <a:prstGeom prst="roundRect">
            <a:avLst/>
          </a:prstGeom>
          <a:solidFill>
            <a:srgbClr val="0C1C22"/>
          </a:solidFill>
          <a:ln w="15240">
            <a:solidFill>
              <a:srgbClr val="09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46520" y="4480560"/>
            <a:ext cx="4983479" cy="7589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SELECT j.nom_joueur, p.buts, a.xg,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ROUND((p.buts::numeric - a.xg),2)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AS difference_buts_xg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FROM joueur j JOIN attendu a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ON j.id_joueur=a.id_joueur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ORDER BY difference_buts_xg DESC LIMIT 10;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413248"/>
            <a:ext cx="5202936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0920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Résultat : finisseurs au-dessus des occasions attendues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5660136"/>
            <a:ext cx="5202936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0" i="0" u="none" strike="noStrike" kern="1200" cap="none" spc="0" normalizeH="0" baseline="0" noProof="0" dirty="0">
                <a:ln>
                  <a:noFill/>
                </a:ln>
                <a:solidFill>
                  <a:srgbClr val="0A141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Lecture : l’écart buts - xG repère les joueurs qui convertissent mieux que la qualité moyenne de leurs occasions.</a:t>
            </a:r>
          </a:p>
        </p:txBody>
      </p:sp>
      <p:pic>
        <p:nvPicPr>
          <p:cNvPr id="33" name="Logo image" descr="/mnt/data/assets_spdp/logo_icon.png">
            <a:extLst>
              <a:ext uri="{FF2B5EF4-FFF2-40B4-BE49-F238E27FC236}">
                <a16:creationId xmlns:a16="http://schemas.microsoft.com/office/drawing/2014/main" id="{0DF16B20-AC6F-9EB0-CC10-FB10FD821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BCAD571C-9796-6BCD-E3C3-DC60EBE8FC5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vl="0">
              <a:spcBef>
                <a:spcPts val="0"/>
              </a:spcBef>
              <a:defRPr/>
            </a:pPr>
            <a:r>
              <a:rPr lang="fr-FR" b="1" dirty="0">
                <a:solidFill>
                  <a:srgbClr val="092026"/>
                </a:solidFill>
                <a:latin typeface="Aptos Display"/>
              </a:rPr>
              <a:t>Annexe SQL 1/2 : requêtes métier et résultats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8">
            <a:extLst>
              <a:ext uri="{FF2B5EF4-FFF2-40B4-BE49-F238E27FC236}">
                <a16:creationId xmlns:a16="http://schemas.microsoft.com/office/drawing/2014/main" id="{09F67918-7DCD-A356-83B3-5FE6AE287352}"/>
              </a:ext>
            </a:extLst>
          </p:cNvPr>
          <p:cNvSpPr/>
          <p:nvPr/>
        </p:nvSpPr>
        <p:spPr>
          <a:xfrm>
            <a:off x="502920" y="1600200"/>
            <a:ext cx="5532120" cy="2057400"/>
          </a:xfrm>
          <a:prstGeom prst="roundRect">
            <a:avLst>
              <a:gd name="adj" fmla="val 5212"/>
            </a:avLst>
          </a:prstGeom>
          <a:solidFill>
            <a:srgbClr val="FFFFFF"/>
          </a:solidFill>
          <a:ln w="22225">
            <a:gradFill>
              <a:gsLst>
                <a:gs pos="0">
                  <a:srgbClr val="002060"/>
                </a:gs>
                <a:gs pos="5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Rounded Rectangle 14">
            <a:extLst>
              <a:ext uri="{FF2B5EF4-FFF2-40B4-BE49-F238E27FC236}">
                <a16:creationId xmlns:a16="http://schemas.microsoft.com/office/drawing/2014/main" id="{3E1C615F-2D9B-A4F2-A480-E916EA6D23BC}"/>
              </a:ext>
            </a:extLst>
          </p:cNvPr>
          <p:cNvSpPr/>
          <p:nvPr/>
        </p:nvSpPr>
        <p:spPr>
          <a:xfrm>
            <a:off x="6172200" y="1600200"/>
            <a:ext cx="5532120" cy="2057400"/>
          </a:xfrm>
          <a:prstGeom prst="roundRect">
            <a:avLst>
              <a:gd name="adj" fmla="val 5212"/>
            </a:avLst>
          </a:prstGeom>
          <a:solidFill>
            <a:srgbClr val="FFFFFF"/>
          </a:solidFill>
          <a:ln w="22225">
            <a:gradFill>
              <a:gsLst>
                <a:gs pos="0">
                  <a:srgbClr val="2E7D32"/>
                </a:gs>
                <a:gs pos="51000">
                  <a:srgbClr val="B0DD7F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ounded Rectangle 20">
            <a:extLst>
              <a:ext uri="{FF2B5EF4-FFF2-40B4-BE49-F238E27FC236}">
                <a16:creationId xmlns:a16="http://schemas.microsoft.com/office/drawing/2014/main" id="{7C94C114-2220-0F5E-8157-BB0FF7688D54}"/>
              </a:ext>
            </a:extLst>
          </p:cNvPr>
          <p:cNvSpPr/>
          <p:nvPr/>
        </p:nvSpPr>
        <p:spPr>
          <a:xfrm>
            <a:off x="502920" y="3913632"/>
            <a:ext cx="5532120" cy="2057400"/>
          </a:xfrm>
          <a:prstGeom prst="roundRect">
            <a:avLst>
              <a:gd name="adj" fmla="val 4754"/>
            </a:avLst>
          </a:prstGeom>
          <a:solidFill>
            <a:srgbClr val="FFFFFF"/>
          </a:solidFill>
          <a:ln w="22225">
            <a:gradFill>
              <a:gsLst>
                <a:gs pos="0">
                  <a:srgbClr val="FF6600"/>
                </a:gs>
                <a:gs pos="51000">
                  <a:srgbClr val="FFB27D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ounded Rectangle 26">
            <a:extLst>
              <a:ext uri="{FF2B5EF4-FFF2-40B4-BE49-F238E27FC236}">
                <a16:creationId xmlns:a16="http://schemas.microsoft.com/office/drawing/2014/main" id="{B3E1BFEF-5222-A074-BC42-CE23954B79D5}"/>
              </a:ext>
            </a:extLst>
          </p:cNvPr>
          <p:cNvSpPr/>
          <p:nvPr/>
        </p:nvSpPr>
        <p:spPr>
          <a:xfrm>
            <a:off x="6172200" y="3913632"/>
            <a:ext cx="5532120" cy="2057400"/>
          </a:xfrm>
          <a:prstGeom prst="roundRect">
            <a:avLst>
              <a:gd name="adj" fmla="val 5670"/>
            </a:avLst>
          </a:prstGeom>
          <a:solidFill>
            <a:srgbClr val="FFFFFF"/>
          </a:solidFill>
          <a:ln w="22225">
            <a:gradFill>
              <a:gsLst>
                <a:gs pos="0">
                  <a:srgbClr val="E20044"/>
                </a:gs>
                <a:gs pos="51000">
                  <a:srgbClr val="FF81A8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11480" y="292608"/>
            <a:ext cx="89611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092026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Annexe SQL 2/2 : analyses avancées et recrutement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77724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3707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Extraits SQL justifiant la valeur ajoutée BI et la shortlist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234440" cy="41148"/>
          </a:xfrm>
          <a:prstGeom prst="rect">
            <a:avLst/>
          </a:prstGeom>
          <a:solidFill>
            <a:srgbClr val="E20044"/>
          </a:solidFill>
          <a:ln w="15240">
            <a:solidFill>
              <a:srgbClr val="E20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47104"/>
            <a:ext cx="438912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 dirty="0">
                <a:ln>
                  <a:noFill/>
                </a:ln>
                <a:solidFill>
                  <a:srgbClr val="63707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SportDataPulse · Business Intelligence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 dirty="0">
                <a:ln>
                  <a:noFill/>
                </a:ln>
                <a:solidFill>
                  <a:srgbClr val="63707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143000"/>
            <a:ext cx="1124712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30" b="0" i="0" u="none" strike="noStrike" kern="1200" cap="none" spc="0" normalizeH="0" baseline="0" noProof="0" dirty="0">
                <a:ln>
                  <a:noFill/>
                </a:ln>
                <a:solidFill>
                  <a:srgbClr val="0920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Ces requêtes répondent aux questions de recul : progression du ballon, efficacité par 90 minutes et recommandation de recrutement.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709928"/>
            <a:ext cx="5202936" cy="2468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002C5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R10 - Meilleur PrgP par club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075688"/>
            <a:ext cx="5202936" cy="941832"/>
          </a:xfrm>
          <a:prstGeom prst="roundRect">
            <a:avLst>
              <a:gd name="adj" fmla="val 12663"/>
            </a:avLst>
          </a:prstGeom>
          <a:solidFill>
            <a:srgbClr val="0C1C22"/>
          </a:solidFill>
          <a:ln w="15240">
            <a:solidFill>
              <a:srgbClr val="09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4983479" cy="7589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ROW_NUMBER() OVER (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PARTITION BY e.id_equipe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ORDER BY pr.progression_passe DESC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) AS rang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...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WHERE rang = 1;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" y="3099815"/>
            <a:ext cx="5202936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0920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Résultat : 1 joueur moteur de progression par équipe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346704"/>
            <a:ext cx="5202936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0" i="0" u="none" strike="noStrike" kern="1200" cap="none" spc="0" normalizeH="0" baseline="0" noProof="0" dirty="0">
                <a:ln>
                  <a:noFill/>
                </a:ln>
                <a:solidFill>
                  <a:srgbClr val="0A141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Lecture : la fonction fenêtre permet de classer les joueurs à l’intérieur de chaque club et de conserver le meilleur relais progressif.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709928"/>
            <a:ext cx="5202936" cy="2468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2F8F3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R11 - Shortlist attaquants finisseurs ≤ 3 M€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2075688"/>
            <a:ext cx="5202936" cy="941832"/>
          </a:xfrm>
          <a:prstGeom prst="roundRect">
            <a:avLst>
              <a:gd name="adj" fmla="val 12663"/>
            </a:avLst>
          </a:prstGeom>
          <a:solidFill>
            <a:srgbClr val="0C1C22"/>
          </a:solidFill>
          <a:ln w="15240">
            <a:solidFill>
              <a:srgbClr val="09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46520" y="2167128"/>
            <a:ext cx="4983479" cy="7589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WITH candidats AS (...)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WHERE j.code_position LIKE '%AT%'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AND s.salaire_annuel &lt;= 3000000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AND p.buts &gt;= 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ORDER BY buts DESC;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3099815"/>
            <a:ext cx="5202936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0920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Résultat : 10 profils accessibles priorisés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3346704"/>
            <a:ext cx="5202936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0" i="0" u="none" strike="noStrike" kern="1200" cap="none" spc="0" normalizeH="0" baseline="0" noProof="0" dirty="0">
                <a:ln>
                  <a:noFill/>
                </a:ln>
                <a:solidFill>
                  <a:srgbClr val="0A141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Lecture : le filtre salaire + buts cible des profils exploitables ; le ratio PrgP/buts aide à repérer les finisseurs plutôt que les organisateurs.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4023360"/>
            <a:ext cx="5202936" cy="2468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F47B2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R12 - Efficacité offensive : buts par 90 minutes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" y="4389120"/>
            <a:ext cx="5202936" cy="941832"/>
          </a:xfrm>
          <a:prstGeom prst="roundRect">
            <a:avLst>
              <a:gd name="adj" fmla="val 10662"/>
            </a:avLst>
          </a:prstGeom>
          <a:solidFill>
            <a:srgbClr val="0C1C22"/>
          </a:solidFill>
          <a:ln w="15240">
            <a:solidFill>
              <a:srgbClr val="09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" y="4480560"/>
            <a:ext cx="4983479" cy="7589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SELECT j.nom_joueur, p.buts, t.matchs_90,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ROUND(p.buts::numeric /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NULLIF(t.matchs_90,0),2) AS buts_par_90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WHERE t.matchs_90 &gt;= 5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ORDER BY buts_par_90 DESC LIMIT 10;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" y="5413248"/>
            <a:ext cx="5202936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0920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Résultat : comparaison neutralisée par le temps de jeu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5660136"/>
            <a:ext cx="5202936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0" i="0" u="none" strike="noStrike" kern="1200" cap="none" spc="0" normalizeH="0" baseline="0" noProof="0" dirty="0">
                <a:ln>
                  <a:noFill/>
                </a:ln>
                <a:solidFill>
                  <a:srgbClr val="0A141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Lecture : le seuil de 5 matchs complets évite de survaloriser un joueur ayant très peu joué.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4023360"/>
            <a:ext cx="5202936" cy="2468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 dirty="0">
                <a:ln>
                  <a:noFill/>
                </a:ln>
                <a:solidFill>
                  <a:srgbClr val="E2004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R13 - Potentiel offensif avec temps de jeu limité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36792" y="4389120"/>
            <a:ext cx="5202936" cy="941832"/>
          </a:xfrm>
          <a:prstGeom prst="roundRect">
            <a:avLst>
              <a:gd name="adj" fmla="val 11662"/>
            </a:avLst>
          </a:prstGeom>
          <a:solidFill>
            <a:srgbClr val="0C1C22"/>
          </a:solidFill>
          <a:ln w="15240">
            <a:solidFill>
              <a:srgbClr val="0920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46520" y="4480560"/>
            <a:ext cx="4983479" cy="7589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WHERE t.matchs_90 BETWEEN 5 AND 20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AND p.buts &gt;= 3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ORDER BY buts_par_90 DESC,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xg_par_90 DESC, difference_buts_xg DESC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ECF6F8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LIMIT 10;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5413248"/>
            <a:ext cx="5202936" cy="20116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 dirty="0">
                <a:ln>
                  <a:noFill/>
                </a:ln>
                <a:solidFill>
                  <a:srgbClr val="092026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Résultat : profils productifs malgré un rôle limité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5660136"/>
            <a:ext cx="5202936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0" i="0" u="none" strike="noStrike" kern="1200" cap="none" spc="0" normalizeH="0" baseline="0" noProof="0" dirty="0">
                <a:ln>
                  <a:noFill/>
                </a:ln>
                <a:solidFill>
                  <a:srgbClr val="0A141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Lecture : utile pour détecter des joueurs sous-exploités : efficacité réelle, qualité des occasions et minutes jouées.</a:t>
            </a:r>
          </a:p>
        </p:txBody>
      </p:sp>
      <p:pic>
        <p:nvPicPr>
          <p:cNvPr id="37" name="Logo image" descr="/mnt/data/assets_spdp/logo_icon.png">
            <a:extLst>
              <a:ext uri="{FF2B5EF4-FFF2-40B4-BE49-F238E27FC236}">
                <a16:creationId xmlns:a16="http://schemas.microsoft.com/office/drawing/2014/main" id="{BCAC8D1E-79F8-CE5B-80FC-F3CC395301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90FCF88B-A33B-4470-175C-49C04DF7F8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lvl="0">
              <a:spcBef>
                <a:spcPts val="0"/>
              </a:spcBef>
              <a:defRPr/>
            </a:pPr>
            <a:r>
              <a:rPr lang="fr-FR" b="1" dirty="0">
                <a:solidFill>
                  <a:srgbClr val="092026"/>
                </a:solidFill>
                <a:latin typeface="Aptos Display"/>
              </a:rPr>
              <a:t>Annexe SQL 2/2 : analyses avancées et recrutement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92608"/>
            <a:ext cx="89611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092026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Conclusion 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777240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 dirty="0">
                <a:ln>
                  <a:noFill/>
                </a:ln>
                <a:solidFill>
                  <a:srgbClr val="63707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SportDataPulse · Ligue 1 2025 · Analyse BI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05840"/>
            <a:ext cx="1234440" cy="41148"/>
          </a:xfrm>
          <a:prstGeom prst="rect">
            <a:avLst/>
          </a:prstGeom>
          <a:solidFill>
            <a:srgbClr val="E20044"/>
          </a:solidFill>
          <a:ln w="15240">
            <a:solidFill>
              <a:srgbClr val="E20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47104"/>
            <a:ext cx="438912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 dirty="0">
                <a:ln>
                  <a:noFill/>
                </a:ln>
                <a:solidFill>
                  <a:srgbClr val="63707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SportDataPulse · Business Intelligence 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547104"/>
            <a:ext cx="320040" cy="16459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0" i="0" u="none" strike="noStrike" kern="1200" cap="none" spc="0" normalizeH="0" baseline="0" noProof="0" dirty="0">
                <a:ln>
                  <a:noFill/>
                </a:ln>
                <a:solidFill>
                  <a:srgbClr val="63707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34440"/>
            <a:ext cx="10972800" cy="868680"/>
          </a:xfrm>
          <a:prstGeom prst="roundRect">
            <a:avLst/>
          </a:prstGeom>
          <a:solidFill>
            <a:srgbClr val="092026"/>
          </a:solidFill>
          <a:ln w="22225">
            <a:gradFill flip="none" rotWithShape="1">
              <a:gsLst>
                <a:gs pos="0">
                  <a:srgbClr val="FF0000"/>
                </a:gs>
                <a:gs pos="51000">
                  <a:srgbClr val="FF5B5B"/>
                </a:gs>
                <a:gs pos="100000">
                  <a:schemeClr val="tx1"/>
                </a:gs>
              </a:gsLst>
              <a:lin ang="2700000" scaled="1"/>
              <a:tileRect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1542828"/>
            <a:ext cx="10424160" cy="283154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La base transforme les données de Ligue 1 en décisions sportives plus objectives, argumentées et reproductibles.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23160"/>
            <a:ext cx="3429000" cy="2103120"/>
          </a:xfrm>
          <a:prstGeom prst="roundRect">
            <a:avLst>
              <a:gd name="adj" fmla="val 6536"/>
            </a:avLst>
          </a:prstGeom>
          <a:solidFill>
            <a:srgbClr val="FEEFF5"/>
          </a:solidFill>
          <a:ln w="22225">
            <a:gradFill flip="none" rotWithShape="1">
              <a:gsLst>
                <a:gs pos="0">
                  <a:srgbClr val="E20044"/>
                </a:gs>
                <a:gs pos="51000">
                  <a:srgbClr val="FF81A8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58952" y="2606040"/>
            <a:ext cx="475488" cy="475488"/>
          </a:xfrm>
          <a:prstGeom prst="roundRect">
            <a:avLst/>
          </a:prstGeom>
          <a:solidFill>
            <a:srgbClr val="E20044"/>
          </a:solidFill>
          <a:ln w="15240">
            <a:solidFill>
              <a:srgbClr val="E20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8952" y="2688336"/>
            <a:ext cx="475488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615184"/>
            <a:ext cx="2514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E20044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Base fiable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46120"/>
            <a:ext cx="2907792" cy="960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0" i="0" u="none" strike="noStrike" kern="1200" cap="none" spc="0" normalizeH="0" baseline="0" noProof="0" dirty="0">
                <a:ln>
                  <a:noFill/>
                </a:ln>
                <a:solidFill>
                  <a:srgbClr val="0A141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PostgreSQL chargé, contrôlé et documenté.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0" i="0" u="none" strike="noStrike" kern="1200" cap="none" spc="0" normalizeH="0" baseline="0" noProof="0" dirty="0">
                <a:ln>
                  <a:noFill/>
                </a:ln>
                <a:solidFill>
                  <a:srgbClr val="0A141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Schéma relationnel, dictionnaire et vue consolidée assurent la traçabilité.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2423160"/>
            <a:ext cx="3429000" cy="2103120"/>
          </a:xfrm>
          <a:prstGeom prst="roundRect">
            <a:avLst>
              <a:gd name="adj" fmla="val 6958"/>
            </a:avLst>
          </a:prstGeom>
          <a:solidFill>
            <a:srgbClr val="ECF6FC"/>
          </a:solidFill>
          <a:ln w="22225">
            <a:gradFill flip="none" rotWithShape="1">
              <a:gsLst>
                <a:gs pos="0">
                  <a:srgbClr val="002060"/>
                </a:gs>
                <a:gs pos="51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35424" y="2606040"/>
            <a:ext cx="475488" cy="475488"/>
          </a:xfrm>
          <a:prstGeom prst="roundRect">
            <a:avLst/>
          </a:prstGeom>
          <a:solidFill>
            <a:srgbClr val="002C5D"/>
          </a:solidFill>
          <a:ln w="15240">
            <a:solidFill>
              <a:srgbClr val="002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35424" y="2688336"/>
            <a:ext cx="475488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615184"/>
            <a:ext cx="2514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002C5D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Analyses exploitables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46120"/>
            <a:ext cx="2907792" cy="960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0" i="0" u="none" strike="noStrike" kern="1200" cap="none" spc="0" normalizeH="0" baseline="0" noProof="0" dirty="0">
                <a:ln>
                  <a:noFill/>
                </a:ln>
                <a:solidFill>
                  <a:srgbClr val="0A141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Requêtes SQL reliées aux besoins métier : clubs, joueurs, postes, discipline, xG, PrgP.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7304" y="2423160"/>
            <a:ext cx="3429000" cy="2103120"/>
          </a:xfrm>
          <a:prstGeom prst="roundRect">
            <a:avLst>
              <a:gd name="adj" fmla="val 6536"/>
            </a:avLst>
          </a:prstGeom>
          <a:solidFill>
            <a:srgbClr val="EBF8EE"/>
          </a:solidFill>
          <a:ln w="22225">
            <a:gradFill flip="none" rotWithShape="1">
              <a:gsLst>
                <a:gs pos="0">
                  <a:srgbClr val="2E7D32"/>
                </a:gs>
                <a:gs pos="51000">
                  <a:srgbClr val="B0DD7F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2700000" scaled="1"/>
              <a:tileRect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311896" y="2606040"/>
            <a:ext cx="475488" cy="475488"/>
          </a:xfrm>
          <a:prstGeom prst="roundRect">
            <a:avLst/>
          </a:prstGeom>
          <a:solidFill>
            <a:srgbClr val="2F8F3E"/>
          </a:solidFill>
          <a:ln w="15240">
            <a:solidFill>
              <a:srgbClr val="2F8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11896" y="2688336"/>
            <a:ext cx="475488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7112" y="2615184"/>
            <a:ext cx="25146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2F8F3E"/>
                </a:solidFill>
                <a:effectLst/>
                <a:uLnTx/>
                <a:uFillTx/>
                <a:latin typeface="Aptos Display"/>
                <a:ea typeface="+mn-ea"/>
                <a:cs typeface="+mn-cs"/>
              </a:rPr>
              <a:t>Décision actionnable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3246120"/>
            <a:ext cx="2907792" cy="9601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20" b="0" i="0" u="none" strike="noStrike" kern="1200" cap="none" spc="0" normalizeH="0" baseline="0" noProof="0" dirty="0">
                <a:ln>
                  <a:noFill/>
                </a:ln>
                <a:solidFill>
                  <a:srgbClr val="0A141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Shortlist d’attaquants finisseurs ≤ 3 M€, à challenger ensuite par scouting vidéo et contexte contractuel.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846320"/>
            <a:ext cx="5349240" cy="1143000"/>
          </a:xfrm>
          <a:prstGeom prst="roundRect">
            <a:avLst>
              <a:gd name="adj" fmla="val 13560"/>
            </a:avLst>
          </a:prstGeom>
          <a:solidFill>
            <a:srgbClr val="FFFFFF"/>
          </a:solidFill>
          <a:ln w="22225">
            <a:gradFill>
              <a:gsLst>
                <a:gs pos="0">
                  <a:srgbClr val="E20044"/>
                </a:gs>
                <a:gs pos="51000">
                  <a:srgbClr val="FF81A8"/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73952" y="5010912"/>
            <a:ext cx="489204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E2004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Message final au staff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5358384"/>
            <a:ext cx="4892040" cy="402336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0" i="0" u="none" strike="noStrike" kern="1200" cap="none" spc="0" normalizeH="0" baseline="0" noProof="0" dirty="0">
                <a:ln>
                  <a:noFill/>
                </a:ln>
                <a:solidFill>
                  <a:srgbClr val="0A141E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La donnée ne remplace pas le jugement sportif : elle le rend plus clair, plus comparable et mieux défendable.</a:t>
            </a:r>
          </a:p>
        </p:txBody>
      </p:sp>
      <p:pic>
        <p:nvPicPr>
          <p:cNvPr id="31" name="Logo image" descr="/mnt/data/assets_spdp/logo_icon.png">
            <a:extLst>
              <a:ext uri="{FF2B5EF4-FFF2-40B4-BE49-F238E27FC236}">
                <a16:creationId xmlns:a16="http://schemas.microsoft.com/office/drawing/2014/main" id="{0622073B-40DE-F221-5B6C-5566B4849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4030" l="5735" r="91618">
                        <a14:foregroundMark x1="14772" y1="24699" x2="60882" y2="10746"/>
                        <a14:foregroundMark x1="72829" y1="25537" x2="93676" y2="51343"/>
                        <a14:foregroundMark x1="60882" y1="10746" x2="71330" y2="23680"/>
                        <a14:foregroundMark x1="85349" y1="64409" x2="66993" y2="93211"/>
                        <a14:foregroundMark x1="88908" y1="58824" x2="88552" y2="59384"/>
                        <a14:foregroundMark x1="93676" y1="51343" x2="88945" y2="58766"/>
                        <a14:foregroundMark x1="65517" y1="93881" x2="23967" y2="87403"/>
                        <a14:foregroundMark x1="17894" y1="81051" x2="6997" y2="43987"/>
                        <a14:foregroundMark x1="33235" y1="90299" x2="64265" y2="91940"/>
                        <a14:foregroundMark x1="41324" y1="94030" x2="58088" y2="92836"/>
                        <a14:foregroundMark x1="89118" y1="62106" x2="89118" y2="63134"/>
                        <a14:foregroundMark x1="89118" y1="39552" x2="89118" y2="59541"/>
                        <a14:foregroundMark x1="90441" y1="61343" x2="91618" y2="41045"/>
                        <a14:foregroundMark x1="87995" y1="58913" x2="88235" y2="58060"/>
                        <a14:foregroundMark x1="73825" y1="39929" x2="73676" y2="39254"/>
                        <a14:foregroundMark x1="64728" y1="32173" x2="60882" y2="19851"/>
                        <a14:foregroundMark x1="84412" y1="68955" x2="86471" y2="64925"/>
                        <a14:foregroundMark x1="84853" y1="63731" x2="86618" y2="63731"/>
                        <a14:foregroundMark x1="83235" y1="64627" x2="86912" y2="65075"/>
                        <a14:backgroundMark x1="9853" y1="30149" x2="9853" y2="30149"/>
                        <a14:backgroundMark x1="9853" y1="30149" x2="3676" y2="42537"/>
                        <a14:backgroundMark x1="17206" y1="83433" x2="21618" y2="89104"/>
                        <a14:backgroundMark x1="14265" y1="24328" x2="8971" y2="30448"/>
                        <a14:backgroundMark x1="5735" y1="42537" x2="6618" y2="44179"/>
                        <a14:backgroundMark x1="17647" y1="82537" x2="16324" y2="85075"/>
                        <a14:backgroundMark x1="17206" y1="82537" x2="18382" y2="81791"/>
                        <a14:backgroundMark x1="17059" y1="81791" x2="22647" y2="88358"/>
                        <a14:backgroundMark x1="22941" y1="87761" x2="24118" y2="87463"/>
                        <a14:backgroundMark x1="47206" y1="55522" x2="47794" y2="50896"/>
                        <a14:backgroundMark x1="46912" y1="56567" x2="48382" y2="49254"/>
                        <a14:backgroundMark x1="48676" y1="50299" x2="46618" y2="53731"/>
                        <a14:backgroundMark x1="47500" y1="55970" x2="48676" y2="56269"/>
                        <a14:backgroundMark x1="46324" y1="55224" x2="47206" y2="56269"/>
                        <a14:backgroundMark x1="45588" y1="55522" x2="47794" y2="51194"/>
                        <a14:backgroundMark x1="46618" y1="54328" x2="46618" y2="54328"/>
                        <a14:backgroundMark x1="47206" y1="54776" x2="45735" y2="54030"/>
                        <a14:backgroundMark x1="47794" y1="51791" x2="47794" y2="54776"/>
                        <a14:backgroundMark x1="56912" y1="35075" x2="57647" y2="51791"/>
                        <a14:backgroundMark x1="57647" y1="53284" x2="56912" y2="54030"/>
                        <a14:backgroundMark x1="57059" y1="52090" x2="58088" y2="53582"/>
                        <a14:backgroundMark x1="56176" y1="54030" x2="57647" y2="54776"/>
                        <a14:backgroundMark x1="66912" y1="27015" x2="69118" y2="27761"/>
                        <a14:backgroundMark x1="68382" y1="29104" x2="69706" y2="49851"/>
                        <a14:backgroundMark x1="66176" y1="40597" x2="66765" y2="37313"/>
                        <a14:backgroundMark x1="70588" y1="30597" x2="71176" y2="27612"/>
                        <a14:backgroundMark x1="67647" y1="25373" x2="68235" y2="46269"/>
                        <a14:backgroundMark x1="71912" y1="30299" x2="71176" y2="26866"/>
                        <a14:backgroundMark x1="71324" y1="32836" x2="70588" y2="26866"/>
                        <a14:backgroundMark x1="66618" y1="36716" x2="70588" y2="34627"/>
                        <a14:backgroundMark x1="71765" y1="35821" x2="69853" y2="37015"/>
                        <a14:backgroundMark x1="70294" y1="31940" x2="68235" y2="45075"/>
                        <a14:backgroundMark x1="70588" y1="28209" x2="71324" y2="33433"/>
                        <a14:backgroundMark x1="71765" y1="33134" x2="71471" y2="37612"/>
                        <a14:backgroundMark x1="68676" y1="25821" x2="70588" y2="25821"/>
                        <a14:backgroundMark x1="69706" y1="26716" x2="72206" y2="26567"/>
                        <a14:backgroundMark x1="66912" y1="33433" x2="65735" y2="35075"/>
                        <a14:backgroundMark x1="70294" y1="26567" x2="72059" y2="26269"/>
                        <a14:backgroundMark x1="70147" y1="31045" x2="72059" y2="26716"/>
                        <a14:backgroundMark x1="69706" y1="27910" x2="72500" y2="30299"/>
                        <a14:backgroundMark x1="85294" y1="62537" x2="88382" y2="61642"/>
                        <a14:backgroundMark x1="87806" y1="62920" x2="88088" y2="61343"/>
                        <a14:backgroundMark x1="88382" y1="62985" x2="88382" y2="60149"/>
                        <a14:backgroundMark x1="87970" y1="61575" x2="88529" y2="61642"/>
                        <a14:backgroundMark x1="86029" y1="61343" x2="86328" y2="61379"/>
                        <a14:backgroundMark x1="84559" y1="61343" x2="85949" y2="61984"/>
                        <a14:backgroundMark x1="87792" y1="61590" x2="88088" y2="60448"/>
                        <a14:backgroundMark x1="87458" y1="62878" x2="87673" y2="62049"/>
                        <a14:backgroundMark x1="87504" y1="62883" x2="89265" y2="61791"/>
                        <a14:backgroundMark x1="65882" y1="94925" x2="65441" y2="93582"/>
                        <a14:backgroundMark x1="64559" y1="95672" x2="71029" y2="94328"/>
                        <a14:backgroundMark x1="64118" y1="96119" x2="68235" y2="95224"/>
                        <a14:backgroundMark x1="62500" y1="97612" x2="68676" y2="95224"/>
                      </a14:backgroundRemoval>
                    </a14:imgEffect>
                  </a14:imgLayer>
                </a14:imgProps>
              </a:ext>
            </a:extLst>
          </a:blip>
          <a:srcRect l="735" r="735"/>
          <a:stretch/>
        </p:blipFill>
        <p:spPr>
          <a:xfrm>
            <a:off x="11082528" y="348225"/>
            <a:ext cx="530352" cy="530352"/>
          </a:xfrm>
          <a:prstGeom prst="rect">
            <a:avLst/>
          </a:prstGeom>
          <a:effectLst>
            <a:innerShdw blurRad="63500" dist="50800" dir="18900000">
              <a:prstClr val="black">
                <a:alpha val="50000"/>
              </a:prstClr>
            </a:innerShdw>
          </a:effectLst>
        </p:spPr>
      </p:pic>
      <p:sp>
        <p:nvSpPr>
          <p:cNvPr id="5" name="Titre 4">
            <a:extLst>
              <a:ext uri="{FF2B5EF4-FFF2-40B4-BE49-F238E27FC236}">
                <a16:creationId xmlns:a16="http://schemas.microsoft.com/office/drawing/2014/main" id="{A1B3B663-1189-6D9C-C0C3-7E4D4C9668B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57200" y="-1143000"/>
            <a:ext cx="8229600" cy="11430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spcBef>
                <a:spcPts val="0"/>
              </a:spcBef>
              <a:defRPr/>
            </a:pPr>
            <a:r>
              <a:rPr lang="fr-FR" b="1" dirty="0">
                <a:solidFill>
                  <a:srgbClr val="092026"/>
                </a:solidFill>
                <a:latin typeface="Aptos Display"/>
              </a:rPr>
              <a:t>Conclusion finale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ouge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12559</TotalTime>
  <Words>5373</Words>
  <Application>Microsoft Office PowerPoint</Application>
  <PresentationFormat>Grand écran</PresentationFormat>
  <Paragraphs>766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Calibri</vt:lpstr>
      <vt:lpstr>Consolas</vt:lpstr>
      <vt:lpstr>Wingdings</vt:lpstr>
      <vt:lpstr>Office Theme</vt:lpstr>
      <vt:lpstr>1_Office Theme</vt:lpstr>
      <vt:lpstr>Analyse des performances Ligue 1 - Saison 2025</vt:lpstr>
      <vt:lpstr>Objectif et contexte</vt:lpstr>
      <vt:lpstr>Cheminement du projet</vt:lpstr>
      <vt:lpstr>Données initiales et préparation</vt:lpstr>
      <vt:lpstr>Dictionnaire de données mis à jour</vt:lpstr>
      <vt:lpstr>Schéma relationnel normalisé</vt:lpstr>
      <vt:lpstr>Base PostgreSQL : tables chargées et vue consolidée</vt:lpstr>
      <vt:lpstr>Contrôles de cohérence des données</vt:lpstr>
      <vt:lpstr>Données brutes vs vue consolidée</vt:lpstr>
      <vt:lpstr>Requêtes SQL : méthode et exemple</vt:lpstr>
      <vt:lpstr>Résultat clé 1 : performance offensive des clubs</vt:lpstr>
      <vt:lpstr>Résultat clé 2 : effectifs et répartition des postes</vt:lpstr>
      <vt:lpstr>Résultat clé 3 : efficacité individuelle</vt:lpstr>
      <vt:lpstr>Résultat clé 4 : discipline, temps de jeu et penalties</vt:lpstr>
      <vt:lpstr>Analyse enrichie : meilleur joueur en PrgP par club</vt:lpstr>
      <vt:lpstr>Recommandation recrutement : shortlist finisseurs</vt:lpstr>
      <vt:lpstr>Bonnes pratiques : sauvegarde, stockage et accès</vt:lpstr>
      <vt:lpstr>Annexe SQL 1/2 : requêtes métier et résultats</vt:lpstr>
      <vt:lpstr>Annexe SQL 2/2 : analyses avancées et recrutement</vt:lpstr>
      <vt:lpstr>Conclusion finale</vt:lpstr>
    </vt:vector>
  </TitlesOfParts>
  <Company>SportDataPulse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finale SportDataPulse</dc:title>
  <dc:subject>SportDataPulse - Analyse des performances L1 2025</dc:subject>
  <dc:creator>Steve Bell</dc:creator>
  <cp:lastModifiedBy>steve BELL</cp:lastModifiedBy>
  <cp:revision>33</cp:revision>
  <dcterms:created xsi:type="dcterms:W3CDTF">2026-05-10T11:05:31Z</dcterms:created>
  <dcterms:modified xsi:type="dcterms:W3CDTF">2026-06-04T07:19:16Z</dcterms:modified>
</cp:coreProperties>
</file>