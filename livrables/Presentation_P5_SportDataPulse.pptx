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19B69"/>
    <a:srgbClr val="BA8062"/>
    <a:srgbClr val="E20044"/>
    <a:srgbClr val="7F1734"/>
    <a:srgbClr val="0B1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08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171506016483737E-2"/>
          <c:y val="0"/>
          <c:w val="0.95582849398351621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Buts</c:v>
                </c:pt>
              </c:strCache>
            </c:strRef>
          </c:tx>
          <c:spPr>
            <a:solidFill>
              <a:srgbClr val="E20044"/>
            </a:solidFill>
            <a:ln>
              <a:solidFill>
                <a:schemeClr val="accent2"/>
              </a:solidFill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90500" h="3810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0" rIns="38100" bIns="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  <a:noFill/>
                  <a:ln>
                    <a:noFill/>
                  </a:ln>
                </c15:spPr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Paris S-G</c:v>
                </c:pt>
                <c:pt idx="1">
                  <c:v>Marseille</c:v>
                </c:pt>
                <c:pt idx="2">
                  <c:v>Monaco</c:v>
                </c:pt>
                <c:pt idx="3">
                  <c:v>Lyon</c:v>
                </c:pt>
                <c:pt idx="4">
                  <c:v>Nice</c:v>
                </c:pt>
                <c:pt idx="5">
                  <c:v>Strasbourg</c:v>
                </c:pt>
                <c:pt idx="6">
                  <c:v>Brest</c:v>
                </c:pt>
                <c:pt idx="7">
                  <c:v>Lille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86</c:v>
                </c:pt>
                <c:pt idx="1">
                  <c:v>71</c:v>
                </c:pt>
                <c:pt idx="2">
                  <c:v>63</c:v>
                </c:pt>
                <c:pt idx="3">
                  <c:v>62</c:v>
                </c:pt>
                <c:pt idx="4">
                  <c:v>56</c:v>
                </c:pt>
                <c:pt idx="5">
                  <c:v>53</c:v>
                </c:pt>
                <c:pt idx="6">
                  <c:v>50</c:v>
                </c:pt>
                <c:pt idx="7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AB-43FB-8495-E1DDDD38C304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197" b="1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Buts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dk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0"/>
        <c:majorTickMark val="none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114864864864864E-2"/>
          <c:y val="0"/>
          <c:w val="0.97888513513513509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Joueurs</c:v>
                </c:pt>
              </c:strCache>
            </c:strRef>
          </c:tx>
          <c:spPr>
            <a:solidFill>
              <a:srgbClr val="002060"/>
            </a:soli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90500" h="3810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DF</c:v>
                </c:pt>
                <c:pt idx="1">
                  <c:v>MT</c:v>
                </c:pt>
                <c:pt idx="2">
                  <c:v>AT</c:v>
                </c:pt>
                <c:pt idx="3">
                  <c:v>GB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199</c:v>
                </c:pt>
                <c:pt idx="1">
                  <c:v>175</c:v>
                </c:pt>
                <c:pt idx="2">
                  <c:v>142</c:v>
                </c:pt>
                <c:pt idx="3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B4E-492D-BDC4-6C4A2E8587B5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197" b="1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fr-FR" dirty="0"/>
                  <a:t>Effectifs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dk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0"/>
        <c:majorTickMark val="none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2974101921470341E-2"/>
          <c:y val="0"/>
          <c:w val="0.97702589807852969"/>
          <c:h val="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Buts</c:v>
                </c:pt>
              </c:strCache>
            </c:strRef>
          </c:tx>
          <c:spPr>
            <a:gradFill>
              <a:gsLst>
                <a:gs pos="0">
                  <a:schemeClr val="accent1"/>
                </a:gs>
                <a:gs pos="100000">
                  <a:schemeClr val="accent1">
                    <a:lumMod val="84000"/>
                  </a:schemeClr>
                </a:gs>
              </a:gsLst>
              <a:lin ang="5400000" scaled="1"/>
            </a:gradFill>
            <a:ln>
              <a:noFill/>
            </a:ln>
            <a:effectLst>
              <a:outerShdw blurRad="76200" dir="18900000" sy="23000" kx="-1200000" algn="bl" rotWithShape="0">
                <a:prstClr val="black">
                  <a:alpha val="20000"/>
                </a:prstClr>
              </a:outerShdw>
            </a:effectLst>
            <a:scene3d>
              <a:camera prst="orthographicFront"/>
              <a:lightRig rig="threePt" dir="t"/>
            </a:scene3d>
            <a:sp3d>
              <a:bevelT w="190500" h="3810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Dembélé</c:v>
                </c:pt>
                <c:pt idx="1">
                  <c:v>Greenwood</c:v>
                </c:pt>
                <c:pt idx="2">
                  <c:v>Kalimuendo</c:v>
                </c:pt>
                <c:pt idx="3">
                  <c:v>David</c:v>
                </c:pt>
                <c:pt idx="4">
                  <c:v>Emegha</c:v>
                </c:pt>
                <c:pt idx="5">
                  <c:v>Barcola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</c:v>
                </c:pt>
                <c:pt idx="1">
                  <c:v>19</c:v>
                </c:pt>
                <c:pt idx="2">
                  <c:v>17</c:v>
                </c:pt>
                <c:pt idx="3">
                  <c:v>16</c:v>
                </c:pt>
                <c:pt idx="4">
                  <c:v>14</c:v>
                </c:pt>
                <c:pt idx="5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BD-4602-8D28-B01C0B77F464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41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effectLst/>
                <a:latin typeface="+mn-lt"/>
                <a:ea typeface="+mn-ea"/>
                <a:cs typeface="+mn-cs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baseline="0">
                  <a:solidFill>
                    <a:schemeClr val="dk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fr-FR"/>
            </a:p>
          </c:txPr>
        </c:title>
        <c:numFmt formatCode="General" sourceLinked="0"/>
        <c:majorTickMark val="none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gradFill flip="none" rotWithShape="1">
      <a:gsLst>
        <a:gs pos="0">
          <a:schemeClr val="lt1"/>
        </a:gs>
        <a:gs pos="68000">
          <a:schemeClr val="lt1">
            <a:lumMod val="85000"/>
          </a:schemeClr>
        </a:gs>
        <a:gs pos="100000">
          <a:schemeClr val="lt1"/>
        </a:gs>
      </a:gsLst>
      <a:lin ang="5400000" scaled="1"/>
      <a:tileRect/>
    </a:gradFill>
    <a:ln w="9525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lt1"/>
    </cs:fontRef>
    <cs:spPr/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lt1"/>
    </cs:fontRef>
    <cs:spPr/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4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>
      <a:effectLst/>
    </cs:defRPr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68000">
            <a:schemeClr val="lt1">
              <a:lumMod val="85000"/>
            </a:schemeClr>
          </a:gs>
          <a:gs pos="100000">
            <a:schemeClr val="lt1"/>
          </a:gs>
        </a:gsLst>
        <a:lin ang="5400000" scaled="1"/>
        <a:tileRect/>
      </a:gra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lt1"/>
    </cs:fontRef>
    <cs:spPr/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gradFill>
          <a:gsLst>
            <a:gs pos="0">
              <a:schemeClr val="phClr"/>
            </a:gs>
            <a:gs pos="100000">
              <a:schemeClr val="phClr">
                <a:lumMod val="84000"/>
              </a:schemeClr>
            </a:gs>
          </a:gsLst>
          <a:lin ang="5400000" scaled="1"/>
        </a:gra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100000">
            <a:schemeClr val="phClr">
              <a:lumMod val="84000"/>
            </a:schemeClr>
          </a:gs>
        </a:gsLst>
        <a:lin ang="5400000" scaled="1"/>
      </a:gradFill>
      <a:effectLst>
        <a:outerShdw blurRad="76200" dir="18900000" sy="23000" kx="-1200000" algn="bl" rotWithShape="0">
          <a:prstClr val="black">
            <a:alpha val="20000"/>
          </a:prstClr>
        </a:outerShdw>
      </a:effectLst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>
        <a:solidFill>
          <a:schemeClr val="dk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35000"/>
          <a:lumOff val="65000"/>
        </a:schemeClr>
      </a:solidFill>
      <a:ln w="9525">
        <a:solidFill>
          <a:schemeClr val="dk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dk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65000"/>
        <a:lumOff val="35000"/>
      </a:schemeClr>
    </cs:fontRef>
    <cs:defRPr kern="1200">
      <a:effectLst/>
    </cs:defRPr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>
          <a:lumMod val="95000"/>
        </a:schemeClr>
      </a:solidFill>
      <a:ln w="9525">
        <a:solidFill>
          <a:schemeClr val="dk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043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0" descr="/mnt/data/slide_assets/stadium_dark.png">
            <a:extLst>
              <a:ext uri="{FF2B5EF4-FFF2-40B4-BE49-F238E27FC236}">
                <a16:creationId xmlns:a16="http://schemas.microsoft.com/office/drawing/2014/main" id="{D9040830-3125-7810-1A03-2B22273886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" name="Image 0" descr="/mnt/data/assets_spdp/logo_icon.png"/>
          <p:cNvPicPr>
            <a:picLocks noChangeAspect="1"/>
          </p:cNvPicPr>
          <p:nvPr/>
        </p:nvPicPr>
        <p:blipFill>
          <a:blip r:embed="rId4"/>
          <a:srcRect l="735" r="735"/>
          <a:stretch/>
        </p:blipFill>
        <p:spPr>
          <a:xfrm>
            <a:off x="685800" y="59436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713232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</a:rPr>
              <a:t>SportDataPulse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685800" y="2057400"/>
            <a:ext cx="6492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Analyse des performances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Ligue 1 - Saison 2025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713232" y="32461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DE7EC"/>
                </a:solidFill>
              </a:rPr>
              <a:t>Création, chargement et exploitation d’une base PostgreSQL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13232" y="39776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86384" y="4014216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Base relationnelle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423160" y="397764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496312" y="4014216"/>
            <a:ext cx="1088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SQL métier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767328" y="3977640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40480" y="4014216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Qualité des données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13232" y="59984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Business Intelligence Analyst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326880" y="599846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</a:rPr>
              <a:t>Steve Bell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Objectif et contexte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07D8B"/>
                </a:solidFill>
              </a:rPr>
              <a:t>Transformer les données de Ligue 1 en aide à la décision sportive</a:t>
            </a:r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2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40080" y="132588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1444752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0044"/>
                </a:solidFill>
              </a:rPr>
              <a:t>551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1792224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joueurs analysés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2423160" y="1325880"/>
            <a:ext cx="1600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32888" y="1444752"/>
            <a:ext cx="1380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B7F"/>
                </a:solidFill>
              </a:rPr>
              <a:t>18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532888" y="1792224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clubs analysés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4206240" y="1325880"/>
            <a:ext cx="1965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15968" y="144475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PostgreSQL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315968" y="1792224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SGBD retenu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640080" y="2514600"/>
            <a:ext cx="5455920" cy="242316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68680" y="27249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0044"/>
                </a:solidFill>
              </a:rPr>
              <a:t>Mission</a:t>
            </a:r>
            <a:endParaRPr lang="en-US" sz="1200" dirty="0">
              <a:solidFill>
                <a:srgbClr val="E20044"/>
              </a:solidFill>
            </a:endParaRPr>
          </a:p>
        </p:txBody>
      </p:sp>
      <p:sp>
        <p:nvSpPr>
          <p:cNvPr id="20" name="Text 17"/>
          <p:cNvSpPr/>
          <p:nvPr/>
        </p:nvSpPr>
        <p:spPr>
          <a:xfrm>
            <a:off x="868680" y="3063239"/>
            <a:ext cx="5081744" cy="1732695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Centraliser les statistiques joueurs, équipes, temps de jeu, xG, progression et salaires.</a:t>
            </a:r>
            <a:endParaRPr lang="en-US" sz="1300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Répondre aux questions du directeur sportif avec des requêtes SQL vérifiables.</a:t>
            </a:r>
            <a:endParaRPr lang="en-US" sz="13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Identifier les performances collectives, individuelles et les opportunités de recrutement.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355080" y="1325880"/>
            <a:ext cx="51663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629400" y="15819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Valeur ajoutée BI</a:t>
            </a:r>
            <a:endParaRPr lang="en-US" sz="1700" dirty="0">
              <a:solidFill>
                <a:srgbClr val="E20044"/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6629400" y="205740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7252A"/>
                </a:solidFill>
              </a:rPr>
              <a:t>Passer d’une intuition sportive à une lecture factuelle, reproductible et défendable.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629400" y="2871216"/>
            <a:ext cx="425196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29400" y="3090672"/>
            <a:ext cx="4343400" cy="12801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Décision sportive objectivée</a:t>
            </a:r>
            <a:endParaRPr lang="en-US" sz="135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Méthodologie SQL reproductible</a:t>
            </a:r>
            <a:endParaRPr lang="en-US" sz="135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Contrôles qualité et traçabilité</a:t>
            </a:r>
            <a:endParaRPr lang="en-US" sz="1350" dirty="0"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285A7CF8-A28F-1037-17E0-26800BC090AE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Cheminement du projet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</a:rPr>
              <a:t>De la donnée brute à la recommandation sportive</a:t>
            </a:r>
            <a:endParaRPr lang="en-US" sz="110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32104" y="1709928"/>
            <a:ext cx="292608" cy="292608"/>
          </a:xfrm>
          <a:prstGeom prst="rect">
            <a:avLst/>
          </a:prstGeom>
          <a:solidFill>
            <a:srgbClr val="E200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5039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Source FBref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039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Fichier initial L1 2025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31343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6032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2706624" y="1709928"/>
            <a:ext cx="292608" cy="292608"/>
          </a:xfrm>
          <a:prstGeom prst="rect">
            <a:avLst/>
          </a:prstGeom>
          <a:solidFill>
            <a:srgbClr val="0F5B7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72491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Modélisation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72491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Tables métier + dictionnaire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18795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43484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4581144" y="1709928"/>
            <a:ext cx="292608" cy="292608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9943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Chargement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9943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PostgreSQL / Docker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06247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0936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6455664" y="1709928"/>
            <a:ext cx="292608" cy="292608"/>
          </a:xfrm>
          <a:prstGeom prst="rect">
            <a:avLst/>
          </a:prstGeom>
          <a:solidFill>
            <a:srgbClr val="F2B705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47395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Contrôles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7395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volumes, jointures, doublons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793699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8388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8330184" y="1709928"/>
            <a:ext cx="292608" cy="292608"/>
          </a:xfrm>
          <a:prstGeom prst="rect">
            <a:avLst/>
          </a:prstGeom>
          <a:solidFill>
            <a:srgbClr val="E2004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834847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Analyses SQL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34847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résultats + interprétations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9811512" y="2075688"/>
            <a:ext cx="228600" cy="228600"/>
          </a:xfrm>
          <a:prstGeom prst="chevron">
            <a:avLst/>
          </a:prstGeom>
          <a:solidFill>
            <a:srgbClr val="DCE4EA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058400" y="1600200"/>
            <a:ext cx="1572768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10204704" y="1709928"/>
            <a:ext cx="292608" cy="292608"/>
          </a:xfrm>
          <a:prstGeom prst="rect">
            <a:avLst/>
          </a:prstGeom>
          <a:solidFill>
            <a:srgbClr val="0F5B7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10222992" y="210312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252A"/>
                </a:solidFill>
              </a:rPr>
              <a:t>Décision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10222992" y="242316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07D8B"/>
                </a:solidFill>
              </a:rPr>
              <a:t>shortlist recrutement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1143000" y="3840480"/>
            <a:ext cx="9875520" cy="1234440"/>
          </a:xfrm>
          <a:prstGeom prst="roundRect">
            <a:avLst>
              <a:gd name="adj" fmla="val 5926"/>
            </a:avLst>
          </a:prstGeom>
          <a:solidFill>
            <a:srgbClr val="102027"/>
          </a:solidFill>
          <a:ln w="12700">
            <a:solidFill>
              <a:srgbClr val="102027"/>
            </a:solidFill>
            <a:prstDash val="solid"/>
          </a:ln>
        </p:spPr>
        <p:txBody>
          <a:bodyPr anchor="ctr"/>
          <a:lstStyle/>
          <a:p>
            <a:endParaRPr lang="fr-FR"/>
          </a:p>
        </p:txBody>
      </p:sp>
      <p:sp>
        <p:nvSpPr>
          <p:cNvPr id="39" name="Text 36"/>
          <p:cNvSpPr/>
          <p:nvPr/>
        </p:nvSpPr>
        <p:spPr>
          <a:xfrm>
            <a:off x="1417320" y="4096512"/>
            <a:ext cx="18288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Principe directeur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3429000" y="4041648"/>
            <a:ext cx="7086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Conserver les données brutes pour la traçabilité, puis ajouter une vue consolidée pour contrôler l’impact des doublons fonctionnels.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2057400" y="5303520"/>
            <a:ext cx="1508760" cy="310896"/>
          </a:xfrm>
          <a:prstGeom prst="roundRect">
            <a:avLst>
              <a:gd name="adj" fmla="val 1470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2130552" y="5340096"/>
            <a:ext cx="1362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Données brutes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3794760" y="5303520"/>
            <a:ext cx="1664208" cy="310896"/>
          </a:xfrm>
          <a:prstGeom prst="roundRect">
            <a:avLst>
              <a:gd name="adj" fmla="val 14706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867912" y="5340096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Vue consolidée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5687568" y="5303520"/>
            <a:ext cx="2121408" cy="310896"/>
          </a:xfrm>
          <a:prstGeom prst="roundRect">
            <a:avLst>
              <a:gd name="adj" fmla="val 14706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60720" y="5340096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Comparaison d’impact</a:t>
            </a:r>
            <a:endParaRPr lang="en-US" sz="850" dirty="0"/>
          </a:p>
        </p:txBody>
      </p:sp>
      <p:sp>
        <p:nvSpPr>
          <p:cNvPr id="47" name="Shape 2">
            <a:extLst>
              <a:ext uri="{FF2B5EF4-FFF2-40B4-BE49-F238E27FC236}">
                <a16:creationId xmlns:a16="http://schemas.microsoft.com/office/drawing/2014/main" id="{C5011BE9-A4D9-7FBE-4178-E7D606486778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initiales et préparation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07D8B"/>
                </a:solidFill>
              </a:rPr>
              <a:t>Source </a:t>
            </a:r>
            <a:r>
              <a:rPr lang="fr-FR" sz="1100" dirty="0" err="1">
                <a:solidFill>
                  <a:srgbClr val="607D8B"/>
                </a:solidFill>
              </a:rPr>
              <a:t>FBref</a:t>
            </a:r>
            <a:r>
              <a:rPr lang="fr-FR" sz="1100" dirty="0">
                <a:solidFill>
                  <a:srgbClr val="607D8B"/>
                </a:solidFill>
              </a:rPr>
              <a:t> : données joueurs, équipes et statistiques 2025</a:t>
            </a:r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4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40080" y="1325880"/>
            <a:ext cx="553212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Chaîne de traitement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2084832"/>
            <a:ext cx="4846320" cy="20116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 du fichier source puis séparation en tables métier.</a:t>
            </a:r>
            <a:endParaRPr lang="en-US" sz="132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Contrôle des formats, valeurs manquantes et caractères spéciaux.</a:t>
            </a:r>
            <a:endParaRPr lang="en-US" sz="132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 des CSV avec maintien de la cohérence des identifiants.</a:t>
            </a:r>
            <a:endParaRPr lang="en-US" sz="132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Détection de doublons fonctionnels et création d’une vue SQL consolidée.</a:t>
            </a:r>
            <a:endParaRPr lang="en-US" sz="1320" dirty="0"/>
          </a:p>
        </p:txBody>
      </p:sp>
      <p:sp>
        <p:nvSpPr>
          <p:cNvPr id="12" name="Shape 9"/>
          <p:cNvSpPr/>
          <p:nvPr/>
        </p:nvSpPr>
        <p:spPr>
          <a:xfrm>
            <a:off x="6537960" y="132588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47688" y="144475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0044"/>
                </a:solidFill>
              </a:rPr>
              <a:t>551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47688" y="179222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lignes joueurs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8275320" y="132588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85048" y="144475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551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85048" y="179222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performances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10012680" y="1325880"/>
            <a:ext cx="15087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122408" y="1444752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B7F"/>
                </a:solidFill>
              </a:rPr>
              <a:t>18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0122408" y="1792224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équipes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6537960" y="2514600"/>
            <a:ext cx="49834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812280" y="278892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Contrôles qualité ajoutés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812280" y="3218688"/>
            <a:ext cx="411480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brut vs consolidé ;</a:t>
            </a:r>
            <a:endParaRPr lang="en-US" sz="1350" dirty="0"/>
          </a:p>
          <a:p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doublons fonctionnels ;</a:t>
            </a:r>
            <a:endParaRPr lang="en-US" sz="1350" dirty="0"/>
          </a:p>
          <a:p>
            <a:r>
              <a:rPr lang="en-US" sz="13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écarts uniquement si résultat différent.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812280" y="44348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</a:rPr>
              <a:t>Conclusion : impact global limité, mais consolidation pertinente pour les analyses par joueur.</a:t>
            </a:r>
            <a:endParaRPr lang="en-US" sz="125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0917E9AE-2A33-1D99-75D6-5488F6BA3B16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Dictionnaire de données mis à jour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D8B"/>
                </a:solidFill>
              </a:rPr>
              <a:t>SportDataPulse · Ligue 1 2025 · Analyse BI</a:t>
            </a:r>
            <a:endParaRPr lang="en-US" sz="110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5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" y="1447504"/>
            <a:ext cx="11003280" cy="1875797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02920" y="3387308"/>
            <a:ext cx="313944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Extrait du dictionnaire : codes, signification, types, longueurs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6985820" y="3646092"/>
            <a:ext cx="4480560" cy="2364261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260140" y="3718245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Pourquoi c’est important ?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260140" y="3998675"/>
            <a:ext cx="3840480" cy="1600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Normaliser les noms de champs.</a:t>
            </a:r>
            <a:endParaRPr lang="en-US" sz="1320" dirty="0"/>
          </a:p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Définir les types SQL et contraintes.</a:t>
            </a:r>
            <a:endParaRPr lang="en-US" sz="1320" dirty="0"/>
          </a:p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Faciliter les contrôles de cohérence.</a:t>
            </a:r>
            <a:endParaRPr lang="en-US" sz="1320" dirty="0"/>
          </a:p>
          <a:p>
            <a:r>
              <a:rPr lang="en-US" sz="132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Rendre les requêtes compréhensibles et maintenables.</a:t>
            </a:r>
            <a:endParaRPr lang="en-US" sz="1320" dirty="0"/>
          </a:p>
        </p:txBody>
      </p:sp>
      <p:sp>
        <p:nvSpPr>
          <p:cNvPr id="15" name="Shape 11"/>
          <p:cNvSpPr/>
          <p:nvPr/>
        </p:nvSpPr>
        <p:spPr>
          <a:xfrm>
            <a:off x="7260140" y="5644595"/>
            <a:ext cx="1170432" cy="292608"/>
          </a:xfrm>
          <a:prstGeom prst="roundRect">
            <a:avLst>
              <a:gd name="adj" fmla="val 15625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33292" y="5681171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Traçabilité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8567732" y="5644595"/>
            <a:ext cx="960120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640884" y="5681171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Qualité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9665012" y="5644595"/>
            <a:ext cx="685800" cy="292608"/>
          </a:xfrm>
          <a:prstGeom prst="roundRect">
            <a:avLst>
              <a:gd name="adj" fmla="val 15625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738164" y="5681171"/>
            <a:ext cx="539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SQL</a:t>
            </a:r>
            <a:endParaRPr lang="en-US" sz="850" dirty="0"/>
          </a:p>
        </p:txBody>
      </p:sp>
      <p:pic>
        <p:nvPicPr>
          <p:cNvPr id="22" name="Image 21">
            <a:extLst>
              <a:ext uri="{FF2B5EF4-FFF2-40B4-BE49-F238E27FC236}">
                <a16:creationId xmlns:a16="http://schemas.microsoft.com/office/drawing/2014/main" id="{5DBCAD25-47BA-4D2D-19BC-E779D7C923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36" y="1640081"/>
            <a:ext cx="10660625" cy="1484999"/>
          </a:xfrm>
          <a:prstGeom prst="rect">
            <a:avLst/>
          </a:prstGeom>
          <a:ln w="12700">
            <a:solidFill>
              <a:srgbClr val="7F1734"/>
            </a:solidFill>
          </a:ln>
        </p:spPr>
      </p:pic>
      <p:sp>
        <p:nvSpPr>
          <p:cNvPr id="23" name="Shape 2">
            <a:extLst>
              <a:ext uri="{FF2B5EF4-FFF2-40B4-BE49-F238E27FC236}">
                <a16:creationId xmlns:a16="http://schemas.microsoft.com/office/drawing/2014/main" id="{4725B05C-DA09-6E78-5569-5C130A6C4C5E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Schéma relationnel normalisé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dirty="0">
                <a:solidFill>
                  <a:srgbClr val="607D8B"/>
                </a:solidFill>
              </a:rPr>
              <a:t>Un modèle normalisé pour croiser les indicateurs sans dupliquer l’information</a:t>
            </a:r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6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33549" y="1536193"/>
            <a:ext cx="731520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33549" y="5824729"/>
            <a:ext cx="7315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Schéma relationnel : joueur au centre, dimensions et tables statistiques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8268789" y="1536193"/>
            <a:ext cx="3246120" cy="425196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8543109" y="1783081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Choix de modélisation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8543109" y="2203705"/>
            <a:ext cx="260604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 centrale : joueur.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Référentiels : équipe, position.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Statistiques séparées : temps, performance, xG, progression.</a:t>
            </a:r>
            <a:endParaRPr lang="en-US" sz="1280" dirty="0"/>
          </a:p>
          <a:p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Salaire conservé en source complémentaire.</a:t>
            </a:r>
            <a:endParaRPr lang="en-US" sz="1280" dirty="0"/>
          </a:p>
        </p:txBody>
      </p:sp>
      <p:sp>
        <p:nvSpPr>
          <p:cNvPr id="15" name="Shape 11"/>
          <p:cNvSpPr/>
          <p:nvPr/>
        </p:nvSpPr>
        <p:spPr>
          <a:xfrm>
            <a:off x="8543109" y="4187953"/>
            <a:ext cx="256032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543109" y="4416553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180" b="1" dirty="0">
                <a:solidFill>
                  <a:srgbClr val="2E7D32"/>
                </a:solidFill>
              </a:rPr>
              <a:t>Objectif : éviter la duplication de l’information et sécuriser les jointures.</a:t>
            </a:r>
            <a:endParaRPr lang="en-US" sz="1180" dirty="0"/>
          </a:p>
        </p:txBody>
      </p:sp>
      <p:pic>
        <p:nvPicPr>
          <p:cNvPr id="22" name="Image 21" descr="Une image contenant le diagramme du schéma relationnel">
            <a:extLst>
              <a:ext uri="{FF2B5EF4-FFF2-40B4-BE49-F238E27FC236}">
                <a16:creationId xmlns:a16="http://schemas.microsoft.com/office/drawing/2014/main" id="{8A762728-7E59-CB6F-50C8-58D7EFCB63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20" r="3423"/>
          <a:stretch/>
        </p:blipFill>
        <p:spPr>
          <a:xfrm>
            <a:off x="664030" y="1627632"/>
            <a:ext cx="7239000" cy="4029891"/>
          </a:xfrm>
          <a:prstGeom prst="rect">
            <a:avLst/>
          </a:prstGeom>
        </p:spPr>
      </p:pic>
      <p:sp>
        <p:nvSpPr>
          <p:cNvPr id="23" name="Shape 2">
            <a:extLst>
              <a:ext uri="{FF2B5EF4-FFF2-40B4-BE49-F238E27FC236}">
                <a16:creationId xmlns:a16="http://schemas.microsoft.com/office/drawing/2014/main" id="{7C7E8309-4DC1-A6F4-252A-B273232319A7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Base PostgreSQL : tables chargées et vue consolidée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7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686730"/>
            <a:ext cx="6492240" cy="4343400"/>
          </a:xfrm>
          <a:prstGeom prst="roundRect">
            <a:avLst>
              <a:gd name="adj" fmla="val 1684"/>
            </a:avLst>
          </a:prstGeom>
          <a:solidFill>
            <a:srgbClr val="17252A"/>
          </a:solidFill>
          <a:ln w="12700">
            <a:solidFill>
              <a:srgbClr val="17252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189428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pgAdmin / PostgreSQL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14400" y="2241758"/>
            <a:ext cx="2425958" cy="3337560"/>
          </a:xfrm>
          <a:prstGeom prst="rect">
            <a:avLst/>
          </a:prstGeom>
          <a:solidFill>
            <a:srgbClr val="0D151A"/>
          </a:solidFill>
          <a:ln w="12700">
            <a:solidFill>
              <a:srgbClr val="3446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11010" y="2406350"/>
            <a:ext cx="2189227" cy="307313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Schemas</a:t>
            </a:r>
            <a:endParaRPr lang="en-US" sz="1200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endParaRPr lang="en-US" sz="1200" b="1" dirty="0"/>
          </a:p>
          <a:p>
            <a:pPr marL="0" indent="0">
              <a:buNone/>
            </a:pPr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Tables</a:t>
            </a:r>
            <a:endParaRPr lang="en-US" sz="1200" b="1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equipe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joueur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position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performance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temps_de_jeu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attendu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progression</a:t>
            </a:r>
            <a:endParaRPr lang="en-US" sz="1050" dirty="0"/>
          </a:p>
          <a:p>
            <a:pPr lvl="1"/>
            <a:r>
              <a:rPr lang="en-US" sz="105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sz="105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salaire_source</a:t>
            </a:r>
            <a:endParaRPr lang="en-US" sz="1050" dirty="0"/>
          </a:p>
          <a:p>
            <a:pPr marL="0" indent="0">
              <a:buNone/>
            </a:pPr>
            <a:r>
              <a:rPr lang="en-US" sz="120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n-US" sz="1200" b="1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Views</a:t>
            </a:r>
          </a:p>
          <a:p>
            <a:pPr lvl="1"/>
            <a:r>
              <a:rPr lang="en-US" sz="900" dirty="0" err="1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v_stats_joueurs_consolidees</a:t>
            </a:r>
            <a:r>
              <a:rPr lang="en-US" sz="900" dirty="0">
                <a:solidFill>
                  <a:srgbClr val="DDE7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685592" y="2241758"/>
            <a:ext cx="3191070" cy="3337560"/>
          </a:xfrm>
          <a:prstGeom prst="rect">
            <a:avLst/>
          </a:prstGeom>
          <a:solidFill>
            <a:srgbClr val="0D151A"/>
          </a:solidFill>
          <a:ln w="12700">
            <a:solidFill>
              <a:srgbClr val="34464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57438" y="2342342"/>
            <a:ext cx="311922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OR REPLACE VIEW v_stats_joueurs_consolidees AS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nom_joueur, code_position, id_equipe,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SUM(buts) AS buts,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SUM(matchs_joues) AS matchs_joues,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SUM(xg) AS xg,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SUM(progression_passe) AS prgp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...</a:t>
            </a:r>
            <a:endParaRPr lang="en-US" sz="870" dirty="0"/>
          </a:p>
          <a:p>
            <a:pPr marL="0" indent="0">
              <a:buNone/>
            </a:pPr>
            <a:r>
              <a:rPr lang="en-US" sz="870" dirty="0">
                <a:solidFill>
                  <a:srgbClr val="BDEE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nom_joueur, code_position, id_equipe;</a:t>
            </a:r>
            <a:endParaRPr lang="en-US" sz="870" dirty="0"/>
          </a:p>
        </p:txBody>
      </p:sp>
      <p:sp>
        <p:nvSpPr>
          <p:cNvPr id="15" name="Shape 12"/>
          <p:cNvSpPr/>
          <p:nvPr/>
        </p:nvSpPr>
        <p:spPr>
          <a:xfrm>
            <a:off x="7635240" y="1875998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44968" y="1994870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20044"/>
                </a:solidFill>
              </a:rPr>
              <a:t>8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744968" y="2342342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tables métier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9372600" y="1875998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82328" y="1994870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</a:rPr>
              <a:t>1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482328" y="2342342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vue consolidée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7635240" y="2927558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44968" y="3046430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F5B7F"/>
                </a:solidFill>
              </a:rPr>
              <a:t>0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7744968" y="3393902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modification source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9372600" y="2927558"/>
            <a:ext cx="1508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482328" y="3046430"/>
            <a:ext cx="1289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B705"/>
                </a:solidFill>
              </a:rPr>
              <a:t>SQL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9482328" y="3393902"/>
            <a:ext cx="1289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reproductible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7635240" y="4070558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82128" y="436316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7252A"/>
                </a:solidFill>
              </a:rPr>
              <a:t>En soutenance : affichage en live de la base et de la vue consolidée dans le SGBD.</a:t>
            </a:r>
            <a:endParaRPr lang="en-US" sz="1250" dirty="0"/>
          </a:p>
        </p:txBody>
      </p:sp>
      <p:pic>
        <p:nvPicPr>
          <p:cNvPr id="32" name="Image 31">
            <a:extLst>
              <a:ext uri="{FF2B5EF4-FFF2-40B4-BE49-F238E27FC236}">
                <a16:creationId xmlns:a16="http://schemas.microsoft.com/office/drawing/2014/main" id="{6DB11A97-FE18-388A-BB35-86F6C68F9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24" y="2840356"/>
            <a:ext cx="144000" cy="144000"/>
          </a:xfrm>
          <a:prstGeom prst="rect">
            <a:avLst/>
          </a:prstGeom>
        </p:spPr>
      </p:pic>
      <p:pic>
        <p:nvPicPr>
          <p:cNvPr id="34" name="Image 33" descr="Une image contenant capture d’écran, Rectangle, Graphique, carré&#10;&#10;Le contenu généré par l’IA peut être incorrect.">
            <a:extLst>
              <a:ext uri="{FF2B5EF4-FFF2-40B4-BE49-F238E27FC236}">
                <a16:creationId xmlns:a16="http://schemas.microsoft.com/office/drawing/2014/main" id="{077A916E-903D-E947-802E-4923187F987F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071440" y="3107749"/>
            <a:ext cx="144000" cy="144000"/>
          </a:xfrm>
          <a:prstGeom prst="rect">
            <a:avLst/>
          </a:prstGeom>
        </p:spPr>
      </p:pic>
      <p:pic>
        <p:nvPicPr>
          <p:cNvPr id="38" name="Image 37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4BB16AE3-B065-3166-7F00-90CB4CD3ADCC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6428" y="3479632"/>
            <a:ext cx="144000" cy="90000"/>
          </a:xfrm>
          <a:prstGeom prst="rect">
            <a:avLst/>
          </a:prstGeom>
        </p:spPr>
      </p:pic>
      <p:pic>
        <p:nvPicPr>
          <p:cNvPr id="39" name="Image 38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560E87F2-6D9C-6420-EDCC-56640F699943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4780" y="3659422"/>
            <a:ext cx="144000" cy="90000"/>
          </a:xfrm>
          <a:prstGeom prst="rect">
            <a:avLst/>
          </a:prstGeom>
        </p:spPr>
      </p:pic>
      <p:pic>
        <p:nvPicPr>
          <p:cNvPr id="40" name="Image 39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134F0B04-7034-D8A4-8F1D-B8EF0F795AEF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3132" y="3829687"/>
            <a:ext cx="144000" cy="90000"/>
          </a:xfrm>
          <a:prstGeom prst="rect">
            <a:avLst/>
          </a:prstGeom>
        </p:spPr>
      </p:pic>
      <p:pic>
        <p:nvPicPr>
          <p:cNvPr id="41" name="Image 40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5C067F11-D3A8-854D-E822-0A3AA9343A1F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2007" y="3980902"/>
            <a:ext cx="144000" cy="90000"/>
          </a:xfrm>
          <a:prstGeom prst="rect">
            <a:avLst/>
          </a:prstGeom>
        </p:spPr>
      </p:pic>
      <p:pic>
        <p:nvPicPr>
          <p:cNvPr id="42" name="Image 41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F89A0DD2-9290-CB61-216E-8A52C1B1208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0882" y="4122592"/>
            <a:ext cx="144000" cy="90000"/>
          </a:xfrm>
          <a:prstGeom prst="rect">
            <a:avLst/>
          </a:prstGeom>
        </p:spPr>
      </p:pic>
      <p:pic>
        <p:nvPicPr>
          <p:cNvPr id="43" name="Image 42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18EEF6BD-88A7-537A-EF33-4B4E7FDCDD55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59757" y="4292857"/>
            <a:ext cx="144000" cy="90000"/>
          </a:xfrm>
          <a:prstGeom prst="rect">
            <a:avLst/>
          </a:prstGeom>
        </p:spPr>
      </p:pic>
      <p:pic>
        <p:nvPicPr>
          <p:cNvPr id="44" name="Image 43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EFB9F48F-94B6-0C1C-969E-3B21644F81F8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57586" y="4453597"/>
            <a:ext cx="144000" cy="90000"/>
          </a:xfrm>
          <a:prstGeom prst="rect">
            <a:avLst/>
          </a:prstGeom>
        </p:spPr>
      </p:pic>
      <p:pic>
        <p:nvPicPr>
          <p:cNvPr id="45" name="Image 44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B1C63267-3EB2-E4FE-C264-08B21FEC1C69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565986" y="4623862"/>
            <a:ext cx="144000" cy="90000"/>
          </a:xfrm>
          <a:prstGeom prst="rect">
            <a:avLst/>
          </a:prstGeom>
        </p:spPr>
      </p:pic>
      <p:pic>
        <p:nvPicPr>
          <p:cNvPr id="47" name="Image 46">
            <a:extLst>
              <a:ext uri="{FF2B5EF4-FFF2-40B4-BE49-F238E27FC236}">
                <a16:creationId xmlns:a16="http://schemas.microsoft.com/office/drawing/2014/main" id="{64EAFEE8-6593-461D-D685-06A2A599623A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1189036" y="3319580"/>
            <a:ext cx="162000" cy="126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45E5FEC8-7644-9C5E-5BA3-BF9479D23ED4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1229640" y="4764598"/>
            <a:ext cx="162000" cy="126000"/>
          </a:xfrm>
          <a:prstGeom prst="rect">
            <a:avLst/>
          </a:prstGeom>
        </p:spPr>
      </p:pic>
      <p:pic>
        <p:nvPicPr>
          <p:cNvPr id="51" name="Image 50" descr="Une image contenant Rectangle, carré, capture d’écran, bleu&#10;&#10;Le contenu généré par l’IA peut être incorrect.">
            <a:extLst>
              <a:ext uri="{FF2B5EF4-FFF2-40B4-BE49-F238E27FC236}">
                <a16:creationId xmlns:a16="http://schemas.microsoft.com/office/drawing/2014/main" id="{832C161F-BC18-2B72-77D7-941EB4424792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1330680" y="4957907"/>
            <a:ext cx="144000" cy="90000"/>
          </a:xfrm>
          <a:prstGeom prst="rect">
            <a:avLst/>
          </a:prstGeom>
        </p:spPr>
      </p:pic>
      <p:pic>
        <p:nvPicPr>
          <p:cNvPr id="53" name="Graphique 52" descr="Loupe avec un remplissage uni">
            <a:extLst>
              <a:ext uri="{FF2B5EF4-FFF2-40B4-BE49-F238E27FC236}">
                <a16:creationId xmlns:a16="http://schemas.microsoft.com/office/drawing/2014/main" id="{E323A0F7-3A08-B2DA-FB91-543AD1417E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37032" y="4964201"/>
            <a:ext cx="108000" cy="108000"/>
          </a:xfrm>
          <a:prstGeom prst="rect">
            <a:avLst/>
          </a:prstGeom>
        </p:spPr>
      </p:pic>
      <p:sp>
        <p:nvSpPr>
          <p:cNvPr id="29" name="Shape 2">
            <a:extLst>
              <a:ext uri="{FF2B5EF4-FFF2-40B4-BE49-F238E27FC236}">
                <a16:creationId xmlns:a16="http://schemas.microsoft.com/office/drawing/2014/main" id="{B820D202-FA1E-8C15-051B-80E526F9ED6B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Contrôles de cohérence des données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8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31925" y="1492439"/>
            <a:ext cx="4847019" cy="4471417"/>
          </a:xfrm>
          <a:prstGeom prst="roundRect">
            <a:avLst>
              <a:gd name="adj" fmla="val 2051"/>
            </a:avLst>
          </a:prstGeom>
          <a:solidFill>
            <a:schemeClr val="tx1">
              <a:lumMod val="95000"/>
              <a:lumOff val="5000"/>
            </a:schemeClr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31925" y="5963857"/>
            <a:ext cx="4847020" cy="2285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Exemple : contrôle des volumes après chargement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5698285" y="1492439"/>
            <a:ext cx="5731715" cy="2022102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9DCABCE9-9444-4CB2-D90A-808C7CD86A1F}"/>
              </a:ext>
            </a:extLst>
          </p:cNvPr>
          <p:cNvSpPr txBox="1"/>
          <p:nvPr/>
        </p:nvSpPr>
        <p:spPr>
          <a:xfrm>
            <a:off x="806244" y="1658563"/>
            <a:ext cx="4298380" cy="4416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'Joueurs'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 COUNT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joueur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UNION ALL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'Équipes'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equipe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UNION ALL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'Performances'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performance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UNION ALL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SELECT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6AAB73"/>
                </a:solidFill>
                <a:effectLst/>
                <a:latin typeface="JetBrains Mono"/>
              </a:rPr>
              <a:t>'Temps de jeu'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AS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b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</a:br>
            <a:r>
              <a:rPr kumimoji="0" lang="fr-FR" altLang="fr-FR" sz="900" b="0" i="0" u="none" strike="noStrike" cap="none" normalizeH="0" baseline="0" dirty="0">
                <a:ln>
                  <a:noFill/>
                </a:ln>
                <a:solidFill>
                  <a:srgbClr val="CF8E6D"/>
                </a:solidFill>
                <a:effectLst/>
                <a:latin typeface="JetBrains Mono"/>
              </a:rPr>
              <a:t>FROM </a:t>
            </a:r>
            <a:r>
              <a:rPr kumimoji="0" lang="fr-FR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temps_de_jeu</a:t>
            </a:r>
            <a:endParaRPr kumimoji="0" lang="fr-FR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900" dirty="0">
              <a:solidFill>
                <a:srgbClr val="BCBEC4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UNION ALL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fr-FR" altLang="fr-FR" sz="900" dirty="0">
              <a:solidFill>
                <a:srgbClr val="BCBEC4"/>
              </a:solidFill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SELECT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619B69"/>
                </a:solidFill>
                <a:effectLst/>
                <a:latin typeface="JetBrains Mono"/>
              </a:rPr>
              <a:t>'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619B69"/>
                </a:solidFill>
                <a:effectLst/>
                <a:latin typeface="JetBrains Mono"/>
              </a:rPr>
              <a:t>Attendu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619B69"/>
                </a:solidFill>
                <a:effectLst/>
                <a:latin typeface="JetBrains Mono"/>
              </a:rPr>
              <a:t>'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AS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AS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FROM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attendu</a:t>
            </a: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UNION ALL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SELECT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619B69"/>
                </a:solidFill>
                <a:effectLst/>
                <a:latin typeface="JetBrains Mono"/>
              </a:rPr>
              <a:t>'Progression'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AS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,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JetBrains Mono"/>
              </a:rPr>
              <a:t>COUNT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(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FFFF00"/>
                </a:solidFill>
                <a:effectLst/>
                <a:latin typeface="JetBrains Mono"/>
              </a:rPr>
              <a:t>*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) 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AS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total_lignes</a:t>
            </a: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FROM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 progression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A8062"/>
                </a:solidFill>
                <a:effectLst/>
                <a:latin typeface="JetBrains Mono"/>
              </a:rPr>
              <a:t>ORDER BY </a:t>
            </a:r>
            <a:r>
              <a:rPr kumimoji="0" lang="en-US" altLang="fr-FR" sz="900" b="0" i="0" u="none" strike="noStrike" cap="none" normalizeH="0" baseline="0" dirty="0" err="1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table_controlee</a:t>
            </a:r>
            <a:r>
              <a:rPr kumimoji="0" lang="en-US" altLang="fr-FR" sz="900" b="0" i="0" u="none" strike="noStrike" cap="none" normalizeH="0" baseline="0" dirty="0">
                <a:ln>
                  <a:noFill/>
                </a:ln>
                <a:solidFill>
                  <a:srgbClr val="BCBEC4"/>
                </a:solidFill>
                <a:effectLst/>
                <a:latin typeface="JetBrains Mono"/>
              </a:rPr>
              <a:t>;</a:t>
            </a:r>
            <a:endParaRPr kumimoji="0" lang="fr-FR" altLang="fr-FR" sz="900" b="0" i="0" u="none" strike="noStrike" cap="none" normalizeH="0" baseline="0" dirty="0">
              <a:ln>
                <a:noFill/>
              </a:ln>
              <a:solidFill>
                <a:srgbClr val="BCBEC4"/>
              </a:solidFill>
              <a:effectLst/>
              <a:latin typeface="JetBrains Mon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altLang="fr-FR" sz="11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5890788" y="1658606"/>
            <a:ext cx="32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Contrôles réalisés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890788" y="2058879"/>
            <a:ext cx="5426141" cy="6848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Volumes par table : joueur, équipe, performance, temps de jeu, xG, progression.</a:t>
            </a:r>
            <a:endParaRPr lang="en-US" sz="1100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Validité des jointures entre tables métier.</a:t>
            </a:r>
            <a:endParaRPr lang="en-US" sz="1100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Division sécurisée avec NULLIF dans les ratios.</a:t>
            </a:r>
            <a:endParaRPr lang="en-US" sz="1100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Comparaison brut vs consolidé pour mesurer l’impact des doublons.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890787" y="2851035"/>
            <a:ext cx="534179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</a:rPr>
              <a:t>Les contrôles limitent le risque d’analyse faussée par un mauvais import ou des valeurs incohérentes.</a:t>
            </a:r>
            <a:endParaRPr lang="en-US" sz="110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03661550-2089-031E-87F2-C45BEDB65C02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53E4B3FB-C690-B672-913A-131947B76521}"/>
              </a:ext>
            </a:extLst>
          </p:cNvPr>
          <p:cNvSpPr/>
          <p:nvPr/>
        </p:nvSpPr>
        <p:spPr>
          <a:xfrm>
            <a:off x="5698285" y="3610999"/>
            <a:ext cx="5731715" cy="2352858"/>
          </a:xfrm>
          <a:prstGeom prst="roundRect">
            <a:avLst>
              <a:gd name="adj" fmla="val 2051"/>
            </a:avLst>
          </a:prstGeom>
          <a:solidFill>
            <a:schemeClr val="tx1">
              <a:lumMod val="95000"/>
              <a:lumOff val="5000"/>
            </a:schemeClr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BAFC5F8B-B701-27CF-33CB-6A8EC8D09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7546" y="4189768"/>
            <a:ext cx="4413632" cy="1606567"/>
          </a:xfrm>
          <a:prstGeom prst="rect">
            <a:avLst/>
          </a:prstGeom>
        </p:spPr>
      </p:pic>
      <p:sp>
        <p:nvSpPr>
          <p:cNvPr id="22" name="Text 9">
            <a:extLst>
              <a:ext uri="{FF2B5EF4-FFF2-40B4-BE49-F238E27FC236}">
                <a16:creationId xmlns:a16="http://schemas.microsoft.com/office/drawing/2014/main" id="{B65D3C38-0AC9-13FB-C364-5A48A778E91B}"/>
              </a:ext>
            </a:extLst>
          </p:cNvPr>
          <p:cNvSpPr/>
          <p:nvPr/>
        </p:nvSpPr>
        <p:spPr>
          <a:xfrm>
            <a:off x="5890787" y="3788861"/>
            <a:ext cx="31822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Résultat</a:t>
            </a:r>
            <a:endParaRPr lang="en-US" sz="17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brutes vs vue consolidée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9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647394"/>
            <a:ext cx="3246120" cy="38862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192171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Approche 1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Données brutes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14400" y="2653234"/>
            <a:ext cx="256032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Fidèle à la source.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Alignée avec les résultats attendus.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Conserve toutes les lignes historiques.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251960" y="1647394"/>
            <a:ext cx="3246120" cy="38862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480560" y="1921714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</a:rPr>
              <a:t>Approche 2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</a:rPr>
              <a:t>Vue consolidée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480560" y="2653234"/>
            <a:ext cx="256032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Fusion logique des doublons.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Plus fiable pour les analyses par joueur.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global mesuré et documenté.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818120" y="1647394"/>
            <a:ext cx="3688080" cy="2011680"/>
          </a:xfrm>
          <a:prstGeom prst="roundRect">
            <a:avLst>
              <a:gd name="adj" fmla="val 3636"/>
            </a:avLst>
          </a:prstGeom>
          <a:solidFill>
            <a:schemeClr val="tx1">
              <a:lumMod val="95000"/>
              <a:lumOff val="5000"/>
            </a:schemeClr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818120" y="3695650"/>
            <a:ext cx="3337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Exemple : joueurs impactés par la consolidation</a:t>
            </a:r>
            <a:endParaRPr lang="en-US" sz="750" dirty="0"/>
          </a:p>
        </p:txBody>
      </p:sp>
      <p:sp>
        <p:nvSpPr>
          <p:cNvPr id="18" name="Text 14"/>
          <p:cNvSpPr/>
          <p:nvPr/>
        </p:nvSpPr>
        <p:spPr>
          <a:xfrm>
            <a:off x="7818120" y="411627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7252A"/>
                </a:solidFill>
              </a:rPr>
              <a:t>Résultat : les écarts restent limités, mais la démarche renforce la qualité analytique.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7818120" y="4847794"/>
            <a:ext cx="1298448" cy="292608"/>
          </a:xfrm>
          <a:prstGeom prst="roundRect">
            <a:avLst>
              <a:gd name="adj" fmla="val 15625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91272" y="4884370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Qualité data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9235440" y="4847794"/>
            <a:ext cx="1188720" cy="292608"/>
          </a:xfrm>
          <a:prstGeom prst="roundRect">
            <a:avLst>
              <a:gd name="adj" fmla="val 15625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308592" y="4884370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Traçabilité</a:t>
            </a:r>
            <a:endParaRPr lang="en-US" sz="850" dirty="0"/>
          </a:p>
        </p:txBody>
      </p:sp>
      <p:pic>
        <p:nvPicPr>
          <p:cNvPr id="26" name="Image 25">
            <a:extLst>
              <a:ext uri="{FF2B5EF4-FFF2-40B4-BE49-F238E27FC236}">
                <a16:creationId xmlns:a16="http://schemas.microsoft.com/office/drawing/2014/main" id="{7EF28997-EE9A-ACAF-21E9-C6738725E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52" y="2148263"/>
            <a:ext cx="3484215" cy="905629"/>
          </a:xfrm>
          <a:prstGeom prst="rect">
            <a:avLst/>
          </a:prstGeom>
        </p:spPr>
      </p:pic>
      <p:sp>
        <p:nvSpPr>
          <p:cNvPr id="16" name="Shape 2">
            <a:extLst>
              <a:ext uri="{FF2B5EF4-FFF2-40B4-BE49-F238E27FC236}">
                <a16:creationId xmlns:a16="http://schemas.microsoft.com/office/drawing/2014/main" id="{6226294F-4E5F-7020-E191-03716CE52CBB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Requêtes SQL : méthode et exemple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10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709397" y="1801957"/>
            <a:ext cx="5074920" cy="2194560"/>
          </a:xfrm>
          <a:prstGeom prst="roundRect">
            <a:avLst>
              <a:gd name="adj" fmla="val 3333"/>
            </a:avLst>
          </a:prstGeom>
          <a:solidFill>
            <a:srgbClr val="111820"/>
          </a:solidFill>
          <a:ln w="12700">
            <a:solidFill>
              <a:srgbClr val="111820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3989" y="1966549"/>
            <a:ext cx="474573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e.nom_equipe,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SUM(p.buts)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total_buts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equipe 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joueur j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e.id_equipe = j.id_equipe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performance p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j.id_joueur = p.id_joueur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e.nom_equipe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total_buts </a:t>
            </a:r>
            <a:r>
              <a:rPr lang="en-US" sz="92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</a:t>
            </a: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6195797" y="1801957"/>
            <a:ext cx="480060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09397" y="4672878"/>
            <a:ext cx="1028700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983717" y="4810038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Structure documentaire systématique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3688077" y="5096454"/>
            <a:ext cx="1645920" cy="301752"/>
          </a:xfrm>
          <a:prstGeom prst="roundRect">
            <a:avLst>
              <a:gd name="adj" fmla="val 15152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761229" y="5133030"/>
            <a:ext cx="1499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1. Question métier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516877" y="5096454"/>
            <a:ext cx="1325880" cy="301752"/>
          </a:xfrm>
          <a:prstGeom prst="roundRect">
            <a:avLst>
              <a:gd name="adj" fmla="val 15152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590029" y="5133030"/>
            <a:ext cx="1179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2. Requête SQL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025637" y="5096454"/>
            <a:ext cx="1051560" cy="301752"/>
          </a:xfrm>
          <a:prstGeom prst="roundRect">
            <a:avLst>
              <a:gd name="adj" fmla="val 15152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098789" y="5133030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3. Résultat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8260077" y="5096454"/>
            <a:ext cx="1536192" cy="301752"/>
          </a:xfrm>
          <a:prstGeom prst="roundRect">
            <a:avLst>
              <a:gd name="adj" fmla="val 15152"/>
            </a:avLst>
          </a:prstGeom>
          <a:solidFill>
            <a:srgbClr val="F2B705"/>
          </a:solidFill>
          <a:ln w="12700">
            <a:solidFill>
              <a:srgbClr val="F2B705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33229" y="5133030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0"/>
                </a:solidFill>
              </a:rPr>
              <a:t>4. Interprétation</a:t>
            </a:r>
            <a:endParaRPr lang="en-US" sz="1000" dirty="0"/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76187011-DF4D-8C54-4F9F-F57CD2F72A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77" y="1884254"/>
            <a:ext cx="3705551" cy="2397264"/>
          </a:xfrm>
          <a:prstGeom prst="rect">
            <a:avLst/>
          </a:prstGeom>
        </p:spPr>
      </p:pic>
      <p:sp>
        <p:nvSpPr>
          <p:cNvPr id="12" name="Shape 2">
            <a:extLst>
              <a:ext uri="{FF2B5EF4-FFF2-40B4-BE49-F238E27FC236}">
                <a16:creationId xmlns:a16="http://schemas.microsoft.com/office/drawing/2014/main" id="{EE0FC178-C81A-CE0A-E1F7-71ADF1C4C1A3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1 : performance offensive des clubs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11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>
            <p:extLst>
              <p:ext uri="{D42A27DB-BD31-4B8C-83A1-F6EECF244321}">
                <p14:modId xmlns:p14="http://schemas.microsoft.com/office/powerpoint/2010/main" val="470538488"/>
              </p:ext>
            </p:extLst>
          </p:nvPr>
        </p:nvGraphicFramePr>
        <p:xfrm>
          <a:off x="530352" y="1682496"/>
          <a:ext cx="6900376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7887928" y="1682496"/>
            <a:ext cx="3611880" cy="38404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162248" y="20025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Lecture métier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162248" y="2459736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50" b="1" dirty="0">
                <a:solidFill>
                  <a:srgbClr val="17252A"/>
                </a:solidFill>
              </a:rPr>
              <a:t>Paris SG domine nettement la production offensive, devant Marseille, Monaco et Lyon.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8162248" y="3282696"/>
            <a:ext cx="2743200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162248" y="3557016"/>
            <a:ext cx="288036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Indicateur collectif simple.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Aide à comparer la puissance offensive.</a:t>
            </a:r>
            <a:endParaRPr lang="en-US" sz="1250" dirty="0"/>
          </a:p>
          <a:p>
            <a:r>
              <a:rPr lang="en-US" sz="125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pour croiser avec les xG ou le temps de jeu.</a:t>
            </a:r>
            <a:endParaRPr lang="en-US" sz="1250" dirty="0"/>
          </a:p>
        </p:txBody>
      </p:sp>
      <p:sp>
        <p:nvSpPr>
          <p:cNvPr id="15" name="Shape 2">
            <a:extLst>
              <a:ext uri="{FF2B5EF4-FFF2-40B4-BE49-F238E27FC236}">
                <a16:creationId xmlns:a16="http://schemas.microsoft.com/office/drawing/2014/main" id="{99ED4508-F759-60CD-DF03-5AA9B4C1E21C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2 : effectifs et répartition des postes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12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>
            <p:extLst>
              <p:ext uri="{D42A27DB-BD31-4B8C-83A1-F6EECF244321}">
                <p14:modId xmlns:p14="http://schemas.microsoft.com/office/powerpoint/2010/main" val="1400724172"/>
              </p:ext>
            </p:extLst>
          </p:nvPr>
        </p:nvGraphicFramePr>
        <p:xfrm>
          <a:off x="530352" y="1668238"/>
          <a:ext cx="5413248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6446520" y="1668238"/>
            <a:ext cx="461772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720840" y="196084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Répartition observée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6720840" y="2399758"/>
            <a:ext cx="388620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Défenseurs et milieux représentent le cœur des effectifs.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attaquants forment un volume important mais plus ciblé.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gardiens restent logiquement moins nombreux.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720840" y="3881086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</a:rPr>
              <a:t>La répartition aide à contextualiser les moyennes par poste et à éviter les lectures biaisées.</a:t>
            </a:r>
            <a:endParaRPr lang="en-US" sz="125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74E4D820-696F-2BD2-7E37-0D79459EC7EB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3 : efficacité individuelle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13</a:t>
            </a:r>
            <a:endParaRPr lang="en-US" sz="750" dirty="0"/>
          </a:p>
        </p:txBody>
      </p:sp>
      <p:graphicFrame>
        <p:nvGraphicFramePr>
          <p:cNvPr id="9" name="Chart 0"/>
          <p:cNvGraphicFramePr/>
          <p:nvPr>
            <p:extLst>
              <p:ext uri="{D42A27DB-BD31-4B8C-83A1-F6EECF244321}">
                <p14:modId xmlns:p14="http://schemas.microsoft.com/office/powerpoint/2010/main" val="4027340809"/>
              </p:ext>
            </p:extLst>
          </p:nvPr>
        </p:nvGraphicFramePr>
        <p:xfrm>
          <a:off x="502920" y="1636775"/>
          <a:ext cx="60807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Shape 6"/>
          <p:cNvSpPr/>
          <p:nvPr/>
        </p:nvSpPr>
        <p:spPr>
          <a:xfrm>
            <a:off x="6995160" y="1636775"/>
            <a:ext cx="4251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269480" y="1911095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Au-delà du top buteurs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269480" y="2322575"/>
            <a:ext cx="3474720" cy="11430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buteurs : volume de buts.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Différence buts - xG : efficacité de finition.</a:t>
            </a:r>
            <a:endParaRPr lang="en-US" sz="1300" dirty="0"/>
          </a:p>
          <a:p>
            <a:r>
              <a:rPr lang="en-US" sz="130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Buts/90 : comparaison à temps de jeu équivalent.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269480" y="3785615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E20044"/>
                </a:solidFill>
              </a:rPr>
              <a:t>La combinaison de ces métriques est plus robuste qu’un simple classement par buts.</a:t>
            </a:r>
            <a:endParaRPr lang="en-US" sz="125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C282823D-3538-B48F-DEC5-4232EDF11D58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 clé 4 : discipline, temps de jeu et penalties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14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868680" y="1696212"/>
            <a:ext cx="3154680" cy="32918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24712" y="2016252"/>
            <a:ext cx="1417320" cy="360000"/>
          </a:xfrm>
          <a:prstGeom prst="roundRect">
            <a:avLst>
              <a:gd name="adj" fmla="val 1428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1" name="Text 8"/>
          <p:cNvSpPr/>
          <p:nvPr/>
        </p:nvSpPr>
        <p:spPr>
          <a:xfrm>
            <a:off x="1197864" y="2052828"/>
            <a:ext cx="1271016" cy="323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Discipline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43000" y="26563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Cartons rouges rapportés aux titularisations.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34792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07D8B"/>
                </a:solidFill>
              </a:rPr>
              <a:t>Repérer les profils à risque.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572000" y="1696212"/>
            <a:ext cx="3154680" cy="32918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828032" y="2016252"/>
            <a:ext cx="1417320" cy="360000"/>
          </a:xfrm>
          <a:prstGeom prst="roundRect">
            <a:avLst>
              <a:gd name="adj" fmla="val 14286"/>
            </a:avLst>
          </a:prstGeom>
          <a:solidFill>
            <a:srgbClr val="0F5B7F"/>
          </a:solidFill>
          <a:ln w="12700">
            <a:solidFill>
              <a:srgbClr val="0F5B7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01184" y="2052828"/>
            <a:ext cx="1271016" cy="323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Temps de jeu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46320" y="26563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Minutes moyennes et matchs 90 par poste.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846320" y="34792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07D8B"/>
                </a:solidFill>
              </a:rPr>
              <a:t>Comparer l’utilisation réelle des profils.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75320" y="1696212"/>
            <a:ext cx="3154680" cy="329184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531352" y="2016252"/>
            <a:ext cx="1417320" cy="360000"/>
          </a:xfrm>
          <a:prstGeom prst="roundRect">
            <a:avLst>
              <a:gd name="adj" fmla="val 14286"/>
            </a:avLst>
          </a:prstGeom>
          <a:solidFill>
            <a:srgbClr val="2E7D32"/>
          </a:solidFill>
          <a:ln w="12700">
            <a:solidFill>
              <a:srgbClr val="2E7D32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04504" y="2052828"/>
            <a:ext cx="1271016" cy="323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Penalties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49640" y="26563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7252A"/>
                </a:solidFill>
              </a:rPr>
              <a:t>Volume marqué + taux de réussite.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8549640" y="34792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07D8B"/>
                </a:solidFill>
              </a:rPr>
              <a:t>Identifier les spécialistes fiables.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960120" y="5490972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7252A"/>
                </a:solidFill>
              </a:rPr>
              <a:t>Ces indicateurs replacent les chiffres dans leur contexte d’utilisation : un carton ou un but n’a pas le même poids selon le temps de jeu.</a:t>
            </a:r>
            <a:endParaRPr lang="en-US" sz="1400" dirty="0"/>
          </a:p>
        </p:txBody>
      </p:sp>
      <p:sp>
        <p:nvSpPr>
          <p:cNvPr id="25" name="Shape 2">
            <a:extLst>
              <a:ext uri="{FF2B5EF4-FFF2-40B4-BE49-F238E27FC236}">
                <a16:creationId xmlns:a16="http://schemas.microsoft.com/office/drawing/2014/main" id="{A8B3C0F8-8DEA-813C-9B78-7FBF4B4879CA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Analyse enrichie : meilleur PrgP par club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15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85800" y="1497516"/>
            <a:ext cx="438912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C9D3D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685800" y="587749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07D8B"/>
                </a:solidFill>
              </a:rPr>
              <a:t>Extrait résultat : meilleur passeur progressif par club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5486400" y="1497516"/>
            <a:ext cx="53949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5806440" y="18175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20044"/>
                </a:solidFill>
              </a:rPr>
              <a:t>Apport de la requête</a:t>
            </a:r>
            <a:endParaRPr lang="en-US" sz="1700" dirty="0">
              <a:solidFill>
                <a:srgbClr val="E20044"/>
              </a:solidFill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806440" y="2274756"/>
            <a:ext cx="4206240" cy="1417320"/>
          </a:xfrm>
          <a:prstGeom prst="roundRect">
            <a:avLst>
              <a:gd name="adj" fmla="val 5161"/>
            </a:avLst>
          </a:prstGeom>
          <a:solidFill>
            <a:srgbClr val="111820"/>
          </a:solidFill>
          <a:ln w="12700">
            <a:solidFill>
              <a:srgbClr val="111820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5971032" y="2439348"/>
            <a:ext cx="387705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ROW_NUMBER() OVER (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PARTITION BY e.id_equipe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ORDER BY pr.progression_passe DESC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rang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DCE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rang = 1</a:t>
            </a:r>
            <a:endParaRPr lang="en-US" sz="920" dirty="0"/>
          </a:p>
        </p:txBody>
      </p:sp>
      <p:sp>
        <p:nvSpPr>
          <p:cNvPr id="16" name="Text 12"/>
          <p:cNvSpPr/>
          <p:nvPr/>
        </p:nvSpPr>
        <p:spPr>
          <a:xfrm>
            <a:off x="5806440" y="3993828"/>
            <a:ext cx="4480560" cy="10515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lnSpc>
                <a:spcPct val="150000"/>
              </a:lnSpc>
              <a:buClr>
                <a:srgbClr val="E20044"/>
              </a:buClr>
              <a:buFont typeface="Wingdings" panose="05000000000000000000" pitchFamily="2" charset="2"/>
              <a:buChar char="Ø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Garder uniquement le meilleur joueur de chaque club.</a:t>
            </a:r>
            <a:endParaRPr lang="en-US" sz="1280" dirty="0"/>
          </a:p>
          <a:p>
            <a:pPr marL="285750" indent="-285750">
              <a:lnSpc>
                <a:spcPct val="150000"/>
              </a:lnSpc>
              <a:buClr>
                <a:srgbClr val="E20044"/>
              </a:buClr>
              <a:buFont typeface="Wingdings" panose="05000000000000000000" pitchFamily="2" charset="2"/>
              <a:buChar char="Ø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Comparer les relais techniques par équipe.</a:t>
            </a:r>
            <a:endParaRPr lang="en-US" sz="1280" dirty="0"/>
          </a:p>
          <a:p>
            <a:pPr marL="285750" indent="-285750">
              <a:lnSpc>
                <a:spcPct val="150000"/>
              </a:lnSpc>
              <a:buClr>
                <a:srgbClr val="E20044"/>
              </a:buClr>
              <a:buFont typeface="Wingdings" panose="05000000000000000000" pitchFamily="2" charset="2"/>
              <a:buChar char="Ø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Repérer les moteurs de progression du ballon.</a:t>
            </a:r>
            <a:endParaRPr lang="en-US" sz="1280" dirty="0"/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23F15FC3-7217-BA2D-A823-BB7FD91921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52" y="1643820"/>
            <a:ext cx="4144308" cy="2668742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854706CD-0F51-89CB-6CFD-419F24816A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452" y="4510815"/>
            <a:ext cx="4144308" cy="1131847"/>
          </a:xfrm>
          <a:prstGeom prst="rect">
            <a:avLst/>
          </a:prstGeom>
        </p:spPr>
      </p:pic>
      <p:sp>
        <p:nvSpPr>
          <p:cNvPr id="10" name="Shape 2">
            <a:extLst>
              <a:ext uri="{FF2B5EF4-FFF2-40B4-BE49-F238E27FC236}">
                <a16:creationId xmlns:a16="http://schemas.microsoft.com/office/drawing/2014/main" id="{6DACF8DF-361B-9A96-0C60-56F28E2DFD16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Recommandation recrutement : shortlist finisseurs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16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777240" y="1540764"/>
            <a:ext cx="3749040" cy="434340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51560" y="18150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Critères SQL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051560" y="2272284"/>
            <a:ext cx="3063240" cy="1645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poste attaquant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salaire annuel &lt;= 3 M€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 moins 5 buts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buts/90 prioritaire ;</a:t>
            </a:r>
            <a:endParaRPr lang="en-US" sz="128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80" dirty="0">
                <a:solidFill>
                  <a:srgbClr val="1725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PrgP/90 faible pour cibler un profil finisseur.</a:t>
            </a:r>
            <a:endParaRPr lang="en-US" sz="1280" dirty="0"/>
          </a:p>
        </p:txBody>
      </p:sp>
      <p:sp>
        <p:nvSpPr>
          <p:cNvPr id="12" name="Shape 9"/>
          <p:cNvSpPr/>
          <p:nvPr/>
        </p:nvSpPr>
        <p:spPr>
          <a:xfrm>
            <a:off x="1051560" y="4466844"/>
            <a:ext cx="2651760" cy="320040"/>
          </a:xfrm>
          <a:prstGeom prst="roundRect">
            <a:avLst>
              <a:gd name="adj" fmla="val 14286"/>
            </a:avLst>
          </a:prstGeom>
          <a:solidFill>
            <a:srgbClr val="E20044"/>
          </a:solidFill>
          <a:ln w="12700">
            <a:solidFill>
              <a:srgbClr val="E20044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24712" y="4503420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Profil recherché : finisseur accessible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4892040" y="1540764"/>
            <a:ext cx="630936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166360" y="1933956"/>
            <a:ext cx="187452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9512" y="1997964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Joueur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7040880" y="1933956"/>
            <a:ext cx="150876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14032" y="1997964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Club</a:t>
            </a:r>
            <a:endParaRPr lang="en-US" sz="960" dirty="0"/>
          </a:p>
        </p:txBody>
      </p:sp>
      <p:sp>
        <p:nvSpPr>
          <p:cNvPr id="19" name="Shape 16"/>
          <p:cNvSpPr/>
          <p:nvPr/>
        </p:nvSpPr>
        <p:spPr>
          <a:xfrm>
            <a:off x="8549640" y="1933956"/>
            <a:ext cx="105156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22792" y="199796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Buts/90</a:t>
            </a:r>
            <a:endParaRPr lang="en-US" sz="960" dirty="0"/>
          </a:p>
        </p:txBody>
      </p:sp>
      <p:sp>
        <p:nvSpPr>
          <p:cNvPr id="21" name="Shape 18"/>
          <p:cNvSpPr/>
          <p:nvPr/>
        </p:nvSpPr>
        <p:spPr>
          <a:xfrm>
            <a:off x="9601200" y="1933956"/>
            <a:ext cx="1051560" cy="347472"/>
          </a:xfrm>
          <a:prstGeom prst="rect">
            <a:avLst/>
          </a:prstGeom>
          <a:solidFill>
            <a:srgbClr val="E20044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74352" y="199796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b="1" dirty="0">
                <a:solidFill>
                  <a:srgbClr val="FFFFFF"/>
                </a:solidFill>
              </a:rPr>
              <a:t>Salaire</a:t>
            </a:r>
            <a:endParaRPr lang="en-US" sz="960" dirty="0"/>
          </a:p>
        </p:txBody>
      </p:sp>
      <p:sp>
        <p:nvSpPr>
          <p:cNvPr id="23" name="Shape 20"/>
          <p:cNvSpPr/>
          <p:nvPr/>
        </p:nvSpPr>
        <p:spPr>
          <a:xfrm>
            <a:off x="5166360" y="2281428"/>
            <a:ext cx="1874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239512" y="2345436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M. </a:t>
            </a:r>
            <a:r>
              <a:rPr lang="en-US" sz="960" dirty="0" err="1">
                <a:solidFill>
                  <a:srgbClr val="17252A"/>
                </a:solidFill>
              </a:rPr>
              <a:t>Biereth</a:t>
            </a:r>
            <a:endParaRPr lang="en-US" sz="960" dirty="0"/>
          </a:p>
        </p:txBody>
      </p:sp>
      <p:sp>
        <p:nvSpPr>
          <p:cNvPr id="25" name="Shape 22"/>
          <p:cNvSpPr/>
          <p:nvPr/>
        </p:nvSpPr>
        <p:spPr>
          <a:xfrm>
            <a:off x="7040880" y="2281428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114032" y="234543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Monaco</a:t>
            </a:r>
            <a:endParaRPr lang="en-US" sz="960" dirty="0"/>
          </a:p>
        </p:txBody>
      </p:sp>
      <p:sp>
        <p:nvSpPr>
          <p:cNvPr id="27" name="Shape 24"/>
          <p:cNvSpPr/>
          <p:nvPr/>
        </p:nvSpPr>
        <p:spPr>
          <a:xfrm>
            <a:off x="8549640" y="2281428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8" name="Text 25"/>
          <p:cNvSpPr/>
          <p:nvPr/>
        </p:nvSpPr>
        <p:spPr>
          <a:xfrm>
            <a:off x="8622792" y="2345436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0,96</a:t>
            </a:r>
            <a:endParaRPr lang="en-US" sz="960" dirty="0"/>
          </a:p>
        </p:txBody>
      </p:sp>
      <p:sp>
        <p:nvSpPr>
          <p:cNvPr id="29" name="Shape 26"/>
          <p:cNvSpPr/>
          <p:nvPr/>
        </p:nvSpPr>
        <p:spPr>
          <a:xfrm>
            <a:off x="9601200" y="2281428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674352" y="2345436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31" name="Shape 28"/>
          <p:cNvSpPr/>
          <p:nvPr/>
        </p:nvSpPr>
        <p:spPr>
          <a:xfrm>
            <a:off x="5166360" y="2628900"/>
            <a:ext cx="187452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  <p:txBody>
          <a:bodyPr anchor="ctr"/>
          <a:lstStyle/>
          <a:p>
            <a:r>
              <a:rPr lang="fr-FR" sz="960" dirty="0"/>
              <a:t>A. </a:t>
            </a:r>
            <a:r>
              <a:rPr lang="fr-FR" sz="960" dirty="0" err="1"/>
              <a:t>Kalimuendo</a:t>
            </a:r>
            <a:endParaRPr lang="fr-FR" sz="960" dirty="0"/>
          </a:p>
        </p:txBody>
      </p:sp>
      <p:sp>
        <p:nvSpPr>
          <p:cNvPr id="32" name="Text 29"/>
          <p:cNvSpPr/>
          <p:nvPr/>
        </p:nvSpPr>
        <p:spPr>
          <a:xfrm>
            <a:off x="5239512" y="2692908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endParaRPr lang="en-US" sz="960" dirty="0"/>
          </a:p>
        </p:txBody>
      </p:sp>
      <p:sp>
        <p:nvSpPr>
          <p:cNvPr id="33" name="Shape 30"/>
          <p:cNvSpPr/>
          <p:nvPr/>
        </p:nvSpPr>
        <p:spPr>
          <a:xfrm>
            <a:off x="7040880" y="2628900"/>
            <a:ext cx="15087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114032" y="269290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Rennes</a:t>
            </a:r>
            <a:endParaRPr lang="en-US" sz="960" dirty="0"/>
          </a:p>
        </p:txBody>
      </p:sp>
      <p:sp>
        <p:nvSpPr>
          <p:cNvPr id="35" name="Shape 32"/>
          <p:cNvSpPr/>
          <p:nvPr/>
        </p:nvSpPr>
        <p:spPr>
          <a:xfrm>
            <a:off x="8549640" y="2628900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622792" y="2692908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0,62</a:t>
            </a:r>
            <a:endParaRPr lang="en-US" sz="960" dirty="0"/>
          </a:p>
        </p:txBody>
      </p:sp>
      <p:sp>
        <p:nvSpPr>
          <p:cNvPr id="37" name="Shape 34"/>
          <p:cNvSpPr/>
          <p:nvPr/>
        </p:nvSpPr>
        <p:spPr>
          <a:xfrm>
            <a:off x="9601200" y="2628900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674352" y="2692908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39" name="Shape 36"/>
          <p:cNvSpPr/>
          <p:nvPr/>
        </p:nvSpPr>
        <p:spPr>
          <a:xfrm>
            <a:off x="5166360" y="2976372"/>
            <a:ext cx="1874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239512" y="3040380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J. David</a:t>
            </a:r>
            <a:endParaRPr lang="en-US" sz="960" dirty="0"/>
          </a:p>
        </p:txBody>
      </p:sp>
      <p:sp>
        <p:nvSpPr>
          <p:cNvPr id="41" name="Shape 38"/>
          <p:cNvSpPr/>
          <p:nvPr/>
        </p:nvSpPr>
        <p:spPr>
          <a:xfrm>
            <a:off x="7040880" y="2976372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114032" y="3040380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Lille</a:t>
            </a:r>
            <a:endParaRPr lang="en-US" sz="960" dirty="0"/>
          </a:p>
        </p:txBody>
      </p:sp>
      <p:sp>
        <p:nvSpPr>
          <p:cNvPr id="43" name="Shape 40"/>
          <p:cNvSpPr/>
          <p:nvPr/>
        </p:nvSpPr>
        <p:spPr>
          <a:xfrm>
            <a:off x="8549640" y="2976372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4" name="Text 41"/>
          <p:cNvSpPr/>
          <p:nvPr/>
        </p:nvSpPr>
        <p:spPr>
          <a:xfrm>
            <a:off x="8622792" y="304038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0,58</a:t>
            </a:r>
            <a:endParaRPr lang="en-US" sz="960" dirty="0"/>
          </a:p>
        </p:txBody>
      </p:sp>
      <p:sp>
        <p:nvSpPr>
          <p:cNvPr id="45" name="Shape 42"/>
          <p:cNvSpPr/>
          <p:nvPr/>
        </p:nvSpPr>
        <p:spPr>
          <a:xfrm>
            <a:off x="9601200" y="2976372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674352" y="3040380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47" name="Shape 44"/>
          <p:cNvSpPr/>
          <p:nvPr/>
        </p:nvSpPr>
        <p:spPr>
          <a:xfrm>
            <a:off x="5166360" y="3323844"/>
            <a:ext cx="187452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239512" y="3387852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L. E. </a:t>
            </a:r>
            <a:r>
              <a:rPr lang="en-US" sz="960" dirty="0" err="1">
                <a:solidFill>
                  <a:srgbClr val="17252A"/>
                </a:solidFill>
              </a:rPr>
              <a:t>Emegha</a:t>
            </a:r>
            <a:endParaRPr lang="en-US" sz="960" dirty="0"/>
          </a:p>
        </p:txBody>
      </p:sp>
      <p:sp>
        <p:nvSpPr>
          <p:cNvPr id="49" name="Shape 46"/>
          <p:cNvSpPr/>
          <p:nvPr/>
        </p:nvSpPr>
        <p:spPr>
          <a:xfrm>
            <a:off x="7040880" y="3323844"/>
            <a:ext cx="15087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7114032" y="3387852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Strasbourg</a:t>
            </a:r>
            <a:endParaRPr lang="en-US" sz="960" dirty="0"/>
          </a:p>
        </p:txBody>
      </p:sp>
      <p:sp>
        <p:nvSpPr>
          <p:cNvPr id="51" name="Shape 48"/>
          <p:cNvSpPr/>
          <p:nvPr/>
        </p:nvSpPr>
        <p:spPr>
          <a:xfrm>
            <a:off x="8549640" y="3323844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622792" y="3387852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0,55</a:t>
            </a:r>
            <a:endParaRPr lang="en-US" sz="960" dirty="0"/>
          </a:p>
        </p:txBody>
      </p:sp>
      <p:sp>
        <p:nvSpPr>
          <p:cNvPr id="53" name="Shape 50"/>
          <p:cNvSpPr/>
          <p:nvPr/>
        </p:nvSpPr>
        <p:spPr>
          <a:xfrm>
            <a:off x="9601200" y="3323844"/>
            <a:ext cx="1051560" cy="347472"/>
          </a:xfrm>
          <a:prstGeom prst="rect">
            <a:avLst/>
          </a:prstGeom>
          <a:solidFill>
            <a:srgbClr val="F2F5F7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9674352" y="3387852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55" name="Shape 52"/>
          <p:cNvSpPr/>
          <p:nvPr/>
        </p:nvSpPr>
        <p:spPr>
          <a:xfrm>
            <a:off x="5166360" y="3671316"/>
            <a:ext cx="1874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5239512" y="3735324"/>
            <a:ext cx="1728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I. E. </a:t>
            </a:r>
            <a:r>
              <a:rPr lang="en-US" sz="960" dirty="0" err="1">
                <a:solidFill>
                  <a:srgbClr val="17252A"/>
                </a:solidFill>
              </a:rPr>
              <a:t>Lepaul</a:t>
            </a:r>
            <a:endParaRPr lang="en-US" sz="960" dirty="0"/>
          </a:p>
        </p:txBody>
      </p:sp>
      <p:sp>
        <p:nvSpPr>
          <p:cNvPr id="57" name="Shape 54"/>
          <p:cNvSpPr/>
          <p:nvPr/>
        </p:nvSpPr>
        <p:spPr>
          <a:xfrm>
            <a:off x="7040880" y="3671316"/>
            <a:ext cx="15087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7114032" y="3735324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Angers</a:t>
            </a:r>
            <a:endParaRPr lang="en-US" sz="960" dirty="0"/>
          </a:p>
        </p:txBody>
      </p:sp>
      <p:sp>
        <p:nvSpPr>
          <p:cNvPr id="59" name="Shape 56"/>
          <p:cNvSpPr/>
          <p:nvPr/>
        </p:nvSpPr>
        <p:spPr>
          <a:xfrm>
            <a:off x="8549640" y="3671316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622792" y="373532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0,52</a:t>
            </a:r>
            <a:endParaRPr lang="en-US" sz="960" dirty="0"/>
          </a:p>
        </p:txBody>
      </p:sp>
      <p:sp>
        <p:nvSpPr>
          <p:cNvPr id="61" name="Shape 58"/>
          <p:cNvSpPr/>
          <p:nvPr/>
        </p:nvSpPr>
        <p:spPr>
          <a:xfrm>
            <a:off x="9601200" y="3671316"/>
            <a:ext cx="105156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674352" y="3735324"/>
            <a:ext cx="90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17252A"/>
                </a:solidFill>
              </a:rPr>
              <a:t>&lt; 3M€</a:t>
            </a:r>
            <a:endParaRPr lang="en-US" sz="960" dirty="0"/>
          </a:p>
        </p:txBody>
      </p:sp>
      <p:sp>
        <p:nvSpPr>
          <p:cNvPr id="63" name="Text 60"/>
          <p:cNvSpPr/>
          <p:nvPr/>
        </p:nvSpPr>
        <p:spPr>
          <a:xfrm>
            <a:off x="5166360" y="446684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b="1" dirty="0" err="1">
                <a:solidFill>
                  <a:srgbClr val="2E7D32"/>
                </a:solidFill>
              </a:rPr>
              <a:t>Cette</a:t>
            </a:r>
            <a:r>
              <a:rPr lang="en-US" sz="1230" b="1" dirty="0">
                <a:solidFill>
                  <a:srgbClr val="2E7D32"/>
                </a:solidFill>
              </a:rPr>
              <a:t> shortlist n’est pas une décision finale, mais une liste priorisée à challenger par scouting vidéo et faisabilité contractuelle.</a:t>
            </a:r>
            <a:endParaRPr lang="en-US" sz="1230" dirty="0"/>
          </a:p>
        </p:txBody>
      </p:sp>
      <p:sp>
        <p:nvSpPr>
          <p:cNvPr id="64" name="Shape 2">
            <a:extLst>
              <a:ext uri="{FF2B5EF4-FFF2-40B4-BE49-F238E27FC236}">
                <a16:creationId xmlns:a16="http://schemas.microsoft.com/office/drawing/2014/main" id="{EE3102DE-5A80-9286-0B85-86C49089114F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Bonnes pratiques : sauvegarde, stockage et accès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17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94198" y="17602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22798" y="19705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0044"/>
                </a:solidFill>
              </a:rPr>
              <a:t>Sauvegarde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22798" y="23545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Dump PostgreSQL planifié, versions datées, test de restauration.</a:t>
            </a:r>
            <a:endParaRPr lang="en-US" sz="1120" dirty="0"/>
          </a:p>
        </p:txBody>
      </p:sp>
      <p:sp>
        <p:nvSpPr>
          <p:cNvPr id="12" name="Shape 9"/>
          <p:cNvSpPr/>
          <p:nvPr/>
        </p:nvSpPr>
        <p:spPr>
          <a:xfrm>
            <a:off x="4397518" y="17602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626118" y="19705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5B7F"/>
                </a:solidFill>
              </a:rPr>
              <a:t>Stockage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626118" y="23545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Séparer source, base, scripts SQL et exports d’analyse.</a:t>
            </a:r>
            <a:endParaRPr lang="en-US" sz="1120" dirty="0"/>
          </a:p>
        </p:txBody>
      </p:sp>
      <p:sp>
        <p:nvSpPr>
          <p:cNvPr id="15" name="Shape 12"/>
          <p:cNvSpPr/>
          <p:nvPr/>
        </p:nvSpPr>
        <p:spPr>
          <a:xfrm>
            <a:off x="8100838" y="176022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329438" y="19705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</a:rPr>
              <a:t>Accès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329438" y="235458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Droits par rôle, lecture seule pour le staff non technique.</a:t>
            </a:r>
            <a:endParaRPr lang="en-US" sz="1120" dirty="0"/>
          </a:p>
        </p:txBody>
      </p:sp>
      <p:sp>
        <p:nvSpPr>
          <p:cNvPr id="18" name="Shape 15"/>
          <p:cNvSpPr/>
          <p:nvPr/>
        </p:nvSpPr>
        <p:spPr>
          <a:xfrm>
            <a:off x="2651760" y="374904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2880360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705"/>
                </a:solidFill>
              </a:rPr>
              <a:t>Traçabilité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880360" y="43434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Scripts de création, chargement, analyse et comparaison conservés.</a:t>
            </a:r>
            <a:endParaRPr lang="en-US" sz="1120" dirty="0"/>
          </a:p>
        </p:txBody>
      </p:sp>
      <p:sp>
        <p:nvSpPr>
          <p:cNvPr id="21" name="Shape 18"/>
          <p:cNvSpPr/>
          <p:nvPr/>
        </p:nvSpPr>
        <p:spPr>
          <a:xfrm>
            <a:off x="6355080" y="374904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583680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0044"/>
                </a:solidFill>
              </a:rPr>
              <a:t>Qualité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583680" y="43434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17252A"/>
                </a:solidFill>
              </a:rPr>
              <a:t>Contrôles après import et documentation du dictionnaire.</a:t>
            </a:r>
            <a:endParaRPr lang="en-US" sz="1120" dirty="0"/>
          </a:p>
        </p:txBody>
      </p:sp>
      <p:sp>
        <p:nvSpPr>
          <p:cNvPr id="24" name="Shape 2">
            <a:extLst>
              <a:ext uri="{FF2B5EF4-FFF2-40B4-BE49-F238E27FC236}">
                <a16:creationId xmlns:a16="http://schemas.microsoft.com/office/drawing/2014/main" id="{86154059-F7A3-144F-A873-3A9F7091A23A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Démonstration live et conclusion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30352" y="768096"/>
            <a:ext cx="7132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" dirty="0">
                <a:solidFill>
                  <a:srgbClr val="607D8B"/>
                </a:solidFill>
              </a:rPr>
              <a:t>SportDataPulse · Ligue 1 2025 · Analyse BI</a:t>
            </a:r>
            <a:endParaRPr lang="en-US" sz="880" dirty="0"/>
          </a:p>
        </p:txBody>
      </p:sp>
      <p:pic>
        <p:nvPicPr>
          <p:cNvPr id="5" name="Image 0" descr="/mnt/data/assets_spdp/logo_icon.png"/>
          <p:cNvPicPr>
            <a:picLocks noChangeAspect="1"/>
          </p:cNvPicPr>
          <p:nvPr/>
        </p:nvPicPr>
        <p:blipFill>
          <a:blip r:embed="rId3"/>
          <a:srcRect l="735" r="735"/>
          <a:stretch/>
        </p:blipFill>
        <p:spPr>
          <a:xfrm>
            <a:off x="11064240" y="256032"/>
            <a:ext cx="502920" cy="502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762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6510528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7D8B"/>
                </a:solidFill>
              </a:rPr>
              <a:t>SportDataPulse · Business Intelligence Analyst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1120140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07D8B"/>
                </a:solidFill>
              </a:rPr>
              <a:t>18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613533" y="1581911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87853" y="1865375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252A"/>
                </a:solidFill>
              </a:rPr>
              <a:t>Parcours live en 5 minutes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69565" y="2359151"/>
            <a:ext cx="256032" cy="256032"/>
          </a:xfrm>
          <a:prstGeom prst="ellipse">
            <a:avLst/>
          </a:prstGeom>
          <a:solidFill>
            <a:srgbClr val="E20044"/>
          </a:solidFill>
          <a:ln w="12700">
            <a:solidFill>
              <a:srgbClr val="E200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35325" y="234086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Ouvrir PostgreSQL / pgAdmin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65" y="2862071"/>
            <a:ext cx="256032" cy="256032"/>
          </a:xfrm>
          <a:prstGeom prst="ellipse">
            <a:avLst/>
          </a:prstGeom>
          <a:solidFill>
            <a:srgbClr val="0F5B7F"/>
          </a:solidFill>
          <a:ln w="12700">
            <a:solidFill>
              <a:srgbClr val="0F5B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35325" y="284378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Afficher tables + vue consolidée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9565" y="3364991"/>
            <a:ext cx="256032" cy="256032"/>
          </a:xfrm>
          <a:prstGeom prst="ellipse">
            <a:avLst/>
          </a:prstGeom>
          <a:solidFill>
            <a:srgbClr val="E20044"/>
          </a:solidFill>
          <a:ln w="12700">
            <a:solidFill>
              <a:srgbClr val="E200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35325" y="334670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Exécuter contrôles de volumes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69565" y="3867911"/>
            <a:ext cx="256032" cy="256032"/>
          </a:xfrm>
          <a:prstGeom prst="ellipse">
            <a:avLst/>
          </a:prstGeom>
          <a:solidFill>
            <a:srgbClr val="0F5B7F"/>
          </a:solidFill>
          <a:ln w="12700">
            <a:solidFill>
              <a:srgbClr val="0F5B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35325" y="384962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Lancer une requête métier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9565" y="4370831"/>
            <a:ext cx="256032" cy="256032"/>
          </a:xfrm>
          <a:prstGeom prst="ellipse">
            <a:avLst/>
          </a:prstGeom>
          <a:solidFill>
            <a:srgbClr val="E20044"/>
          </a:solidFill>
          <a:ln w="12700">
            <a:solidFill>
              <a:srgbClr val="E2004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35325" y="4352543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7252A"/>
                </a:solidFill>
              </a:rPr>
              <a:t>Conclure avec la shortlist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145653" y="1581911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102027"/>
          </a:solidFill>
          <a:ln w="12700">
            <a:solidFill>
              <a:srgbClr val="102027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465693" y="1920239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Conclusion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6465693" y="2404871"/>
            <a:ext cx="425196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base PostgreSQL est chargée, contrôlée et exploitable.</a:t>
            </a:r>
            <a:endParaRPr lang="en-US" sz="1300" dirty="0"/>
          </a:p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requêtes répondent aux questions clés du staff.</a:t>
            </a:r>
            <a:endParaRPr lang="en-US" sz="1300" dirty="0"/>
          </a:p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consolidation documente la qualité des analyses.</a:t>
            </a:r>
            <a:endParaRPr lang="en-US" sz="1300" dirty="0"/>
          </a:p>
          <a:p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shortlist transforme les données en recommandations actionnables.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465693" y="4507991"/>
            <a:ext cx="3977640" cy="0"/>
          </a:xfrm>
          <a:prstGeom prst="line">
            <a:avLst/>
          </a:prstGeom>
          <a:noFill/>
          <a:ln w="12700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65693" y="4754879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 donnée ne remplace pas le jugement sportif : elle le rend plus objectif et mieux argumenté.</a:t>
            </a:r>
            <a:endParaRPr lang="en-US" sz="130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CC2F7A5F-31A6-4DD8-A832-2F621E70D9AF}"/>
              </a:ext>
            </a:extLst>
          </p:cNvPr>
          <p:cNvSpPr/>
          <p:nvPr/>
        </p:nvSpPr>
        <p:spPr>
          <a:xfrm>
            <a:off x="502920" y="1124712"/>
            <a:ext cx="2148840" cy="0"/>
          </a:xfrm>
          <a:prstGeom prst="line">
            <a:avLst/>
          </a:prstGeom>
          <a:noFill/>
          <a:ln w="38100">
            <a:solidFill>
              <a:srgbClr val="E20044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ouge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1732</Words>
  <Application>Microsoft Office PowerPoint</Application>
  <PresentationFormat>Grand écran</PresentationFormat>
  <Paragraphs>337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5" baseType="lpstr">
      <vt:lpstr>Aptos</vt:lpstr>
      <vt:lpstr>Aptos Display</vt:lpstr>
      <vt:lpstr>Arial</vt:lpstr>
      <vt:lpstr>Consolas</vt:lpstr>
      <vt:lpstr>JetBrains Mono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SportDataPulse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finale SportDataPulse</dc:title>
  <dc:subject>SportDataPulse - Analyse des performances L1 2025</dc:subject>
  <dc:creator>Steve Bell</dc:creator>
  <cp:lastModifiedBy>steve BELL</cp:lastModifiedBy>
  <cp:revision>8</cp:revision>
  <dcterms:created xsi:type="dcterms:W3CDTF">2026-05-10T11:05:31Z</dcterms:created>
  <dcterms:modified xsi:type="dcterms:W3CDTF">2026-05-15T08:22:05Z</dcterms:modified>
</cp:coreProperties>
</file>