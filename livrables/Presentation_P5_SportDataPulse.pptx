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1734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13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Buts</c:v>
                </c:pt>
              </c:strCache>
            </c:strRef>
          </c:tx>
          <c:spPr>
            <a:solidFill>
              <a:srgbClr val="E20044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Paris S-G</c:v>
                </c:pt>
                <c:pt idx="1">
                  <c:v>Marseille</c:v>
                </c:pt>
                <c:pt idx="2">
                  <c:v>Monaco</c:v>
                </c:pt>
                <c:pt idx="3">
                  <c:v>Lyon</c:v>
                </c:pt>
                <c:pt idx="4">
                  <c:v>Nice</c:v>
                </c:pt>
                <c:pt idx="5">
                  <c:v>Strasbourg</c:v>
                </c:pt>
                <c:pt idx="6">
                  <c:v>Brest</c:v>
                </c:pt>
                <c:pt idx="7">
                  <c:v>Lille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86</c:v>
                </c:pt>
                <c:pt idx="1">
                  <c:v>71</c:v>
                </c:pt>
                <c:pt idx="2">
                  <c:v>63</c:v>
                </c:pt>
                <c:pt idx="3">
                  <c:v>62</c:v>
                </c:pt>
                <c:pt idx="4">
                  <c:v>56</c:v>
                </c:pt>
                <c:pt idx="5">
                  <c:v>53</c:v>
                </c:pt>
                <c:pt idx="6">
                  <c:v>50</c:v>
                </c:pt>
                <c:pt idx="7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AB-43FB-8495-E1DDDD38C3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7252A"/>
                </a:solidFill>
                <a:latin typeface="Apto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07D8B"/>
                </a:solidFill>
                <a:latin typeface="Aptos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Joueurs</c:v>
                </c:pt>
              </c:strCache>
            </c:strRef>
          </c:tx>
          <c:spPr>
            <a:solidFill>
              <a:srgbClr val="0F5B7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DF</c:v>
                </c:pt>
                <c:pt idx="1">
                  <c:v>MT</c:v>
                </c:pt>
                <c:pt idx="2">
                  <c:v>AT</c:v>
                </c:pt>
                <c:pt idx="3">
                  <c:v>GB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199</c:v>
                </c:pt>
                <c:pt idx="1">
                  <c:v>175</c:v>
                </c:pt>
                <c:pt idx="2">
                  <c:v>142</c:v>
                </c:pt>
                <c:pt idx="3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4E-492D-BDC4-6C4A2E8587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7252A"/>
                </a:solidFill>
                <a:latin typeface="Apto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07D8B"/>
                </a:solidFill>
                <a:latin typeface="Aptos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Buts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Dembélé</c:v>
                </c:pt>
                <c:pt idx="1">
                  <c:v>Greenwood</c:v>
                </c:pt>
                <c:pt idx="2">
                  <c:v>Kalimuendo</c:v>
                </c:pt>
                <c:pt idx="3">
                  <c:v>David</c:v>
                </c:pt>
                <c:pt idx="4">
                  <c:v>Emegha</c:v>
                </c:pt>
                <c:pt idx="5">
                  <c:v>Barcola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</c:v>
                </c:pt>
                <c:pt idx="1">
                  <c:v>19</c:v>
                </c:pt>
                <c:pt idx="2">
                  <c:v>17</c:v>
                </c:pt>
                <c:pt idx="3">
                  <c:v>16</c:v>
                </c:pt>
                <c:pt idx="4">
                  <c:v>14</c:v>
                </c:pt>
                <c:pt idx="5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BD-4602-8D28-B01C0B77F4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7252A"/>
                </a:solidFill>
                <a:latin typeface="Apto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07D8B"/>
                </a:solidFill>
                <a:latin typeface="Aptos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43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 descr="/mnt/data/slide_assets/stadium_dark.png">
            <a:extLst>
              <a:ext uri="{FF2B5EF4-FFF2-40B4-BE49-F238E27FC236}">
                <a16:creationId xmlns:a16="http://schemas.microsoft.com/office/drawing/2014/main" id="{D9040830-3125-7810-1A03-2B22273886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" name="Image 0" descr="/mnt/data/assets_spdp/logo_icon.png"/>
          <p:cNvPicPr>
            <a:picLocks noChangeAspect="1"/>
          </p:cNvPicPr>
          <p:nvPr/>
        </p:nvPicPr>
        <p:blipFill>
          <a:blip r:embed="rId4"/>
          <a:srcRect l="735" r="735"/>
          <a:stretch/>
        </p:blipFill>
        <p:spPr>
          <a:xfrm>
            <a:off x="685800" y="5943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7132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SportDataPulse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685800" y="2057400"/>
            <a:ext cx="6492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Analyse des performances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Ligue 1 - Saison 2025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713232" y="32461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DE7EC"/>
                </a:solidFill>
              </a:rPr>
              <a:t>Création, chargement et exploitation d’une base PostgreSQL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13232" y="39776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" y="4014216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Base relationnelle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423160" y="397764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96312" y="401421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SQL métier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67328" y="3977640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0" y="4014216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 des données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406640" y="1143000"/>
            <a:ext cx="4114800" cy="4114800"/>
          </a:xfrm>
          <a:prstGeom prst="arc">
            <a:avLst/>
          </a:prstGeom>
          <a:noFill/>
          <a:ln w="20320">
            <a:solidFill>
              <a:srgbClr val="E20044">
                <a:alpha val="9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63840" y="1554480"/>
            <a:ext cx="3200400" cy="3200400"/>
          </a:xfrm>
          <a:prstGeom prst="arc">
            <a:avLst/>
          </a:prstGeom>
          <a:noFill/>
          <a:ln w="17780">
            <a:solidFill>
              <a:srgbClr val="2E7D32">
                <a:alpha val="9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3232" y="59984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Business Intelligence Analyst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0" y="599846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Steve Bell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Objectif et contexte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Transformer les données de Ligue 1 en aide à la décision sportive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2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144475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551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1792224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joueurs analysés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32588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32888" y="144475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18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532888" y="1792224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clubs analysés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206240" y="132588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15968" y="144475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PostgreSQL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315968" y="179222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SGBD retenu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40080" y="2514600"/>
            <a:ext cx="502920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68680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0044"/>
                </a:solidFill>
              </a:rPr>
              <a:t>Mission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" y="3063239"/>
            <a:ext cx="4526280" cy="173269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Centraliser les statistiques joueurs, équipes, temps de jeu, xG, progression et salaires.</a:t>
            </a:r>
            <a:endParaRPr lang="en-US" sz="1300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Répondre aux questions du directeur sportif avec des requêtes SQL vérifiables.</a:t>
            </a:r>
            <a:endParaRPr lang="en-US" sz="13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Identifier les performances collectives, individuelles et les opportunités de recrutement.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55080" y="1325880"/>
            <a:ext cx="51663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629400" y="1581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Valeur ajoutée BI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6629400" y="20574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52A"/>
                </a:solidFill>
              </a:rPr>
              <a:t>Passer d’une intuition sportive à une lecture factuelle, reproductible et défendable.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629400" y="2871216"/>
            <a:ext cx="425196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29400" y="3090672"/>
            <a:ext cx="4343400" cy="12801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Décision sportive objectivée</a:t>
            </a:r>
            <a:endParaRPr lang="en-US" sz="135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Méthodologie SQL reproductible</a:t>
            </a:r>
            <a:endParaRPr lang="en-US" sz="135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Contrôles qualité et traçabilité</a:t>
            </a:r>
            <a:endParaRPr lang="en-US" sz="13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285A7CF8-A28F-1037-17E0-26800BC090AE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Cheminement du projet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</a:rPr>
              <a:t>De la donnée brute à la recommandation sportive</a:t>
            </a:r>
            <a:endParaRPr lang="en-US" sz="110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32104" y="1709928"/>
            <a:ext cx="292608" cy="292608"/>
          </a:xfrm>
          <a:prstGeom prst="rect">
            <a:avLst/>
          </a:prstGeom>
          <a:solidFill>
            <a:srgbClr val="E200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Source FBref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Fichier initial L1 2025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1343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6032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706624" y="1709928"/>
            <a:ext cx="292608" cy="292608"/>
          </a:xfrm>
          <a:prstGeom prst="rect">
            <a:avLst/>
          </a:prstGeom>
          <a:solidFill>
            <a:srgbClr val="0F5B7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2491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Modélisation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72491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Tables métier + dictionnaire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18795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3484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581144" y="1709928"/>
            <a:ext cx="292608" cy="29260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9943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Chargement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9943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PostgreSQL / Docker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6247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0936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455664" y="1709928"/>
            <a:ext cx="292608" cy="292608"/>
          </a:xfrm>
          <a:prstGeom prst="rect">
            <a:avLst/>
          </a:prstGeom>
          <a:solidFill>
            <a:srgbClr val="F2B70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47395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Contrôles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7395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volumes, jointures, doublons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93699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8388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330184" y="1709928"/>
            <a:ext cx="292608" cy="292608"/>
          </a:xfrm>
          <a:prstGeom prst="rect">
            <a:avLst/>
          </a:prstGeom>
          <a:solidFill>
            <a:srgbClr val="E200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34847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Analyses SQL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34847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résultats + interprétations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981151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05840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10204704" y="1709928"/>
            <a:ext cx="292608" cy="292608"/>
          </a:xfrm>
          <a:prstGeom prst="rect">
            <a:avLst/>
          </a:prstGeom>
          <a:solidFill>
            <a:srgbClr val="0F5B7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22299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Décision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022299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shortlist recrutement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1143000" y="3840480"/>
            <a:ext cx="9875520" cy="1234440"/>
          </a:xfrm>
          <a:prstGeom prst="roundRect">
            <a:avLst>
              <a:gd name="adj" fmla="val 5926"/>
            </a:avLst>
          </a:prstGeom>
          <a:solidFill>
            <a:srgbClr val="102027"/>
          </a:solidFill>
          <a:ln w="12700">
            <a:solidFill>
              <a:srgbClr val="102027"/>
            </a:solidFill>
            <a:prstDash val="solid"/>
          </a:ln>
        </p:spPr>
        <p:txBody>
          <a:bodyPr anchor="ctr"/>
          <a:lstStyle/>
          <a:p>
            <a:endParaRPr lang="fr-FR"/>
          </a:p>
        </p:txBody>
      </p:sp>
      <p:sp>
        <p:nvSpPr>
          <p:cNvPr id="39" name="Text 36"/>
          <p:cNvSpPr/>
          <p:nvPr/>
        </p:nvSpPr>
        <p:spPr>
          <a:xfrm>
            <a:off x="1417320" y="409651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Principe directeur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3429000" y="4041648"/>
            <a:ext cx="7086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Conserver les données brutes pour la traçabilité, puis ajouter une vue consolidée pour contrôler l’impact des doublons fonctionnels.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2057400" y="5303520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30552" y="5340096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Données brutes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3794760" y="5303520"/>
            <a:ext cx="1664208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67912" y="5340096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Vue consolidée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5687568" y="5303520"/>
            <a:ext cx="2121408" cy="310896"/>
          </a:xfrm>
          <a:prstGeom prst="roundRect">
            <a:avLst>
              <a:gd name="adj" fmla="val 1470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60720" y="5340096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Comparaison d’impact</a:t>
            </a:r>
            <a:endParaRPr lang="en-US" sz="850" dirty="0"/>
          </a:p>
        </p:txBody>
      </p:sp>
      <p:sp>
        <p:nvSpPr>
          <p:cNvPr id="47" name="Shape 2">
            <a:extLst>
              <a:ext uri="{FF2B5EF4-FFF2-40B4-BE49-F238E27FC236}">
                <a16:creationId xmlns:a16="http://schemas.microsoft.com/office/drawing/2014/main" id="{C5011BE9-A4D9-7FBE-4178-E7D606486778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initiales et préparation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Source </a:t>
            </a:r>
            <a:r>
              <a:rPr lang="fr-FR" sz="1100" dirty="0" err="1">
                <a:solidFill>
                  <a:srgbClr val="607D8B"/>
                </a:solidFill>
              </a:rPr>
              <a:t>FBref</a:t>
            </a:r>
            <a:r>
              <a:rPr lang="fr-FR" sz="1100" dirty="0">
                <a:solidFill>
                  <a:srgbClr val="607D8B"/>
                </a:solidFill>
              </a:rPr>
              <a:t> : données joueurs, équipes et statistiques 2025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55321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Chaîne de traitement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2084832"/>
            <a:ext cx="4846320" cy="2011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du fichier source puis séparation en tables métier.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Contrôle des formats, valeurs manquantes et caractères spéciaux.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 des CSV avec maintien de la cohérence des identifiants.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Détection de doublons fonctionnels et création d’une vue SQL consolidée.</a:t>
            </a:r>
            <a:endParaRPr lang="en-US" sz="1320" dirty="0"/>
          </a:p>
        </p:txBody>
      </p:sp>
      <p:sp>
        <p:nvSpPr>
          <p:cNvPr id="12" name="Shape 9"/>
          <p:cNvSpPr/>
          <p:nvPr/>
        </p:nvSpPr>
        <p:spPr>
          <a:xfrm>
            <a:off x="653796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4768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551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4768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lignes joueurs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827532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504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551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8504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performances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001268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2240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18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012240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équipes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6537960" y="2514600"/>
            <a:ext cx="49834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81228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Contrôles qualité ajoutés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812280" y="3218688"/>
            <a:ext cx="411480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brut vs consolidé ;</a:t>
            </a:r>
            <a:endParaRPr lang="en-US" sz="1350" dirty="0"/>
          </a:p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doublons fonctionnels ;</a:t>
            </a:r>
            <a:endParaRPr lang="en-US" sz="1350" dirty="0"/>
          </a:p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écarts uniquement si résultat différent.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812280" y="44348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Conclusion : impact global limité, mais consolidation pertinente pour les analyses par joueur.</a:t>
            </a:r>
            <a:endParaRPr lang="en-US" sz="12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0917E9AE-2A33-1D99-75D6-5488F6BA3B16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Dictionnaire de données mis à jour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</a:rPr>
              <a:t>SportDataPulse · Ligue 1 2025 · Analyse BI</a:t>
            </a:r>
            <a:endParaRPr lang="en-US" sz="110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5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09600" y="1408177"/>
            <a:ext cx="10896600" cy="167738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02920" y="3199136"/>
            <a:ext cx="313944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Extrait du dictionnaire : codes, signification, types, longueurs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3693980" y="3530077"/>
            <a:ext cx="4480560" cy="256897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3968300" y="3630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Pourquoi c’est important ?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968300" y="4087368"/>
            <a:ext cx="3840480" cy="1600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Normaliser les noms de champs.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Définir les types SQL et contraintes.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Faciliter les contrôles de cohérence.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Rendre les requêtes compréhensibles et maintenables.</a:t>
            </a:r>
            <a:endParaRPr lang="en-US" sz="1320" dirty="0"/>
          </a:p>
        </p:txBody>
      </p:sp>
      <p:sp>
        <p:nvSpPr>
          <p:cNvPr id="15" name="Shape 11"/>
          <p:cNvSpPr/>
          <p:nvPr/>
        </p:nvSpPr>
        <p:spPr>
          <a:xfrm>
            <a:off x="3968300" y="5733288"/>
            <a:ext cx="1170432" cy="292608"/>
          </a:xfrm>
          <a:prstGeom prst="roundRect">
            <a:avLst>
              <a:gd name="adj" fmla="val 15625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041452" y="5769864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Traçabilité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275892" y="5733288"/>
            <a:ext cx="960120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349044" y="576986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373172" y="5733288"/>
            <a:ext cx="685800" cy="292608"/>
          </a:xfrm>
          <a:prstGeom prst="roundRect">
            <a:avLst>
              <a:gd name="adj" fmla="val 15625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46324" y="5769864"/>
            <a:ext cx="539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SQL</a:t>
            </a:r>
            <a:endParaRPr lang="en-US" sz="85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5DBCAD25-47BA-4D2D-19BC-E779D7C92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22097"/>
            <a:ext cx="10745380" cy="1484999"/>
          </a:xfrm>
          <a:prstGeom prst="rect">
            <a:avLst/>
          </a:prstGeom>
          <a:ln w="12700">
            <a:solidFill>
              <a:srgbClr val="7F1734"/>
            </a:solidFill>
          </a:ln>
        </p:spPr>
      </p:pic>
      <p:sp>
        <p:nvSpPr>
          <p:cNvPr id="23" name="Shape 2">
            <a:extLst>
              <a:ext uri="{FF2B5EF4-FFF2-40B4-BE49-F238E27FC236}">
                <a16:creationId xmlns:a16="http://schemas.microsoft.com/office/drawing/2014/main" id="{4725B05C-DA09-6E78-5569-5C130A6C4C5E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Schéma relationnel normalisé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Un modèle normalisé pour croiser les indicateurs sans dupliquer l’information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6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33549" y="1536193"/>
            <a:ext cx="73152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33549" y="5824729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Schéma relationnel : joueur au centre, dimensions et tables statistiques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8268789" y="1536193"/>
            <a:ext cx="3246120" cy="42519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543109" y="1783081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Choix de modélisation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543109" y="2203705"/>
            <a:ext cx="260604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centrale : joueur.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Référentiels : équipe, position.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 séparées : temps, performance, xG, progression.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Salaire conservé en source complémentaire.</a:t>
            </a:r>
            <a:endParaRPr lang="en-US" sz="1280" dirty="0"/>
          </a:p>
        </p:txBody>
      </p:sp>
      <p:sp>
        <p:nvSpPr>
          <p:cNvPr id="15" name="Shape 11"/>
          <p:cNvSpPr/>
          <p:nvPr/>
        </p:nvSpPr>
        <p:spPr>
          <a:xfrm>
            <a:off x="8543109" y="4187953"/>
            <a:ext cx="256032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543109" y="4416553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80" b="1" dirty="0">
                <a:solidFill>
                  <a:srgbClr val="2E7D32"/>
                </a:solidFill>
              </a:rPr>
              <a:t>Objectif : éviter la duplication de l’information et sécuriser les jointures.</a:t>
            </a:r>
            <a:endParaRPr lang="en-US" sz="1180" dirty="0"/>
          </a:p>
        </p:txBody>
      </p:sp>
      <p:pic>
        <p:nvPicPr>
          <p:cNvPr id="22" name="Image 21" descr="Une image contenant le diagramme du schéma relationnel">
            <a:extLst>
              <a:ext uri="{FF2B5EF4-FFF2-40B4-BE49-F238E27FC236}">
                <a16:creationId xmlns:a16="http://schemas.microsoft.com/office/drawing/2014/main" id="{8A762728-7E59-CB6F-50C8-58D7EFCB63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0" r="3423"/>
          <a:stretch/>
        </p:blipFill>
        <p:spPr>
          <a:xfrm>
            <a:off x="664030" y="1627632"/>
            <a:ext cx="7239000" cy="4029891"/>
          </a:xfrm>
          <a:prstGeom prst="rect">
            <a:avLst/>
          </a:prstGeom>
        </p:spPr>
      </p:pic>
      <p:sp>
        <p:nvSpPr>
          <p:cNvPr id="23" name="Shape 2">
            <a:extLst>
              <a:ext uri="{FF2B5EF4-FFF2-40B4-BE49-F238E27FC236}">
                <a16:creationId xmlns:a16="http://schemas.microsoft.com/office/drawing/2014/main" id="{7C7E8309-4DC1-A6F4-252A-B273232319A7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PostgreSQL : tables chargées et vue consolidée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7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234440"/>
            <a:ext cx="6492240" cy="4343400"/>
          </a:xfrm>
          <a:prstGeom prst="roundRect">
            <a:avLst>
              <a:gd name="adj" fmla="val 1684"/>
            </a:avLst>
          </a:prstGeom>
          <a:solidFill>
            <a:srgbClr val="17252A"/>
          </a:solidFill>
          <a:ln w="12700">
            <a:solidFill>
              <a:srgbClr val="17252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14813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pgAdmin / PostgreSQL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4400" y="1828800"/>
            <a:ext cx="2425958" cy="3337560"/>
          </a:xfrm>
          <a:prstGeom prst="rect">
            <a:avLst/>
          </a:prstGeom>
          <a:solidFill>
            <a:srgbClr val="0D151A"/>
          </a:solidFill>
          <a:ln w="12700">
            <a:solidFill>
              <a:srgbClr val="3446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1010" y="1993392"/>
            <a:ext cx="2189227" cy="307313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</a:t>
            </a:r>
            <a:endParaRPr lang="en-US" sz="12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endParaRPr lang="en-US" sz="1200" b="1" dirty="0"/>
          </a:p>
          <a:p>
            <a:pPr marL="0" indent="0">
              <a:buNone/>
            </a:pPr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Tables</a:t>
            </a:r>
            <a:endParaRPr lang="en-US" sz="1200" b="1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equipe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joueur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position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performance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temps_de_jeu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attendu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progression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salaire_source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</a:t>
            </a:r>
          </a:p>
          <a:p>
            <a:pPr lvl="1"/>
            <a:r>
              <a:rPr lang="en-US" sz="90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v_stats_joueurs_consolidees</a:t>
            </a:r>
            <a:r>
              <a:rPr lang="en-US" sz="90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685592" y="1828800"/>
            <a:ext cx="3191070" cy="3337560"/>
          </a:xfrm>
          <a:prstGeom prst="rect">
            <a:avLst/>
          </a:prstGeom>
          <a:solidFill>
            <a:srgbClr val="0D151A"/>
          </a:solidFill>
          <a:ln w="12700">
            <a:solidFill>
              <a:srgbClr val="34464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57438" y="1929384"/>
            <a:ext cx="31192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REPLACE VIEW v_stats_joueurs_consolidees AS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nom_joueur, code_position, id_equipe,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SUM(buts) AS buts,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SUM(matchs_joues) AS matchs_joues,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SUM(xg) AS xg,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SUM(progression_passe) AS prgp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...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nom_joueur, code_position, id_equipe;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7635240" y="1463040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44968" y="158191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8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744968" y="192938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tables métier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9372600" y="1463040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82328" y="158191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1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82328" y="192938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vue consolidée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635240" y="2514600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44968" y="263347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7744968" y="298094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modification source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372600" y="2514600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82328" y="263347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B705"/>
                </a:solidFill>
              </a:rPr>
              <a:t>SQL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482328" y="298094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reproductible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7635240" y="365760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82128" y="39502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52A"/>
                </a:solidFill>
              </a:rPr>
              <a:t>En soutenance : affichage en live de la base et de la vue consolidée dans le SGBD.</a:t>
            </a:r>
            <a:endParaRPr lang="en-US" sz="1250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6DB11A97-FE18-388A-BB35-86F6C68F9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24" y="2427398"/>
            <a:ext cx="144000" cy="144000"/>
          </a:xfrm>
          <a:prstGeom prst="rect">
            <a:avLst/>
          </a:prstGeom>
        </p:spPr>
      </p:pic>
      <p:pic>
        <p:nvPicPr>
          <p:cNvPr id="34" name="Image 33" descr="Une image contenant capture d’écran, Rectangle, Graphique, carré&#10;&#10;Le contenu généré par l’IA peut être incorrect.">
            <a:extLst>
              <a:ext uri="{FF2B5EF4-FFF2-40B4-BE49-F238E27FC236}">
                <a16:creationId xmlns:a16="http://schemas.microsoft.com/office/drawing/2014/main" id="{077A916E-903D-E947-802E-4923187F987F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71440" y="2694791"/>
            <a:ext cx="144000" cy="144000"/>
          </a:xfrm>
          <a:prstGeom prst="rect">
            <a:avLst/>
          </a:prstGeom>
        </p:spPr>
      </p:pic>
      <p:pic>
        <p:nvPicPr>
          <p:cNvPr id="38" name="Image 37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4BB16AE3-B065-3166-7F00-90CB4CD3ADCC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6428" y="3066674"/>
            <a:ext cx="144000" cy="90000"/>
          </a:xfrm>
          <a:prstGeom prst="rect">
            <a:avLst/>
          </a:prstGeom>
        </p:spPr>
      </p:pic>
      <p:pic>
        <p:nvPicPr>
          <p:cNvPr id="39" name="Image 38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560E87F2-6D9C-6420-EDCC-56640F699943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4780" y="3246464"/>
            <a:ext cx="144000" cy="90000"/>
          </a:xfrm>
          <a:prstGeom prst="rect">
            <a:avLst/>
          </a:prstGeom>
        </p:spPr>
      </p:pic>
      <p:pic>
        <p:nvPicPr>
          <p:cNvPr id="40" name="Image 39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134F0B04-7034-D8A4-8F1D-B8EF0F795AEF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3132" y="3416729"/>
            <a:ext cx="144000" cy="90000"/>
          </a:xfrm>
          <a:prstGeom prst="rect">
            <a:avLst/>
          </a:prstGeom>
        </p:spPr>
      </p:pic>
      <p:pic>
        <p:nvPicPr>
          <p:cNvPr id="41" name="Image 40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5C067F11-D3A8-854D-E822-0A3AA9343A1F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2007" y="3567944"/>
            <a:ext cx="144000" cy="90000"/>
          </a:xfrm>
          <a:prstGeom prst="rect">
            <a:avLst/>
          </a:prstGeom>
        </p:spPr>
      </p:pic>
      <p:pic>
        <p:nvPicPr>
          <p:cNvPr id="42" name="Image 41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F89A0DD2-9290-CB61-216E-8A52C1B1208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0882" y="3709634"/>
            <a:ext cx="144000" cy="90000"/>
          </a:xfrm>
          <a:prstGeom prst="rect">
            <a:avLst/>
          </a:prstGeom>
        </p:spPr>
      </p:pic>
      <p:pic>
        <p:nvPicPr>
          <p:cNvPr id="43" name="Image 42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18EEF6BD-88A7-537A-EF33-4B4E7FDCDD55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59757" y="3879899"/>
            <a:ext cx="144000" cy="90000"/>
          </a:xfrm>
          <a:prstGeom prst="rect">
            <a:avLst/>
          </a:prstGeom>
        </p:spPr>
      </p:pic>
      <p:pic>
        <p:nvPicPr>
          <p:cNvPr id="44" name="Image 43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EFB9F48F-94B6-0C1C-969E-3B21644F81F8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57586" y="4040639"/>
            <a:ext cx="144000" cy="90000"/>
          </a:xfrm>
          <a:prstGeom prst="rect">
            <a:avLst/>
          </a:prstGeom>
        </p:spPr>
      </p:pic>
      <p:pic>
        <p:nvPicPr>
          <p:cNvPr id="45" name="Image 44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B1C63267-3EB2-E4FE-C264-08B21FEC1C69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5986" y="4210904"/>
            <a:ext cx="144000" cy="90000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64EAFEE8-6593-461D-D685-06A2A599623A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1189036" y="2906622"/>
            <a:ext cx="162000" cy="126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45E5FEC8-7644-9C5E-5BA3-BF9479D23ED4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1229640" y="4351640"/>
            <a:ext cx="162000" cy="126000"/>
          </a:xfrm>
          <a:prstGeom prst="rect">
            <a:avLst/>
          </a:prstGeom>
        </p:spPr>
      </p:pic>
      <p:pic>
        <p:nvPicPr>
          <p:cNvPr id="51" name="Image 50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832C161F-BC18-2B72-77D7-941EB442479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330680" y="4544949"/>
            <a:ext cx="144000" cy="90000"/>
          </a:xfrm>
          <a:prstGeom prst="rect">
            <a:avLst/>
          </a:prstGeom>
        </p:spPr>
      </p:pic>
      <p:pic>
        <p:nvPicPr>
          <p:cNvPr id="53" name="Graphique 52" descr="Loupe avec un remplissage uni">
            <a:extLst>
              <a:ext uri="{FF2B5EF4-FFF2-40B4-BE49-F238E27FC236}">
                <a16:creationId xmlns:a16="http://schemas.microsoft.com/office/drawing/2014/main" id="{E323A0F7-3A08-B2DA-FB91-543AD1417E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7032" y="4551243"/>
            <a:ext cx="108000" cy="10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Contrôles de cohérence des données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8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261872"/>
            <a:ext cx="5166360" cy="3566160"/>
          </a:xfrm>
          <a:prstGeom prst="roundRect">
            <a:avLst>
              <a:gd name="adj" fmla="val 2051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40080" y="4864608"/>
            <a:ext cx="5166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Exemple : contrôle des volumes après chargement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6172200" y="1261872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4652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Contrôles réalisés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1965960"/>
            <a:ext cx="4526280" cy="1691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Volumes par table : joueur, équipe, performance, temps de jeu, xG, progression.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Validité des jointures entre tables métier.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Division sécurisée avec NULLIF dans les ratios.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 brut vs consolidé pour mesurer l’impact des doublons.</a:t>
            </a:r>
            <a:endParaRPr lang="en-US" sz="1280" dirty="0"/>
          </a:p>
        </p:txBody>
      </p:sp>
      <p:sp>
        <p:nvSpPr>
          <p:cNvPr id="15" name="Text 11"/>
          <p:cNvSpPr/>
          <p:nvPr/>
        </p:nvSpPr>
        <p:spPr>
          <a:xfrm>
            <a:off x="6446520" y="40690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Les contrôles limitent le risque d’analyse faussée par un mauvais import ou des valeurs incohérentes.</a:t>
            </a:r>
            <a:endParaRPr lang="en-US" sz="1200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DCABCE9-9444-4CB2-D90A-808C7CD86A1F}"/>
              </a:ext>
            </a:extLst>
          </p:cNvPr>
          <p:cNvSpPr txBox="1"/>
          <p:nvPr/>
        </p:nvSpPr>
        <p:spPr>
          <a:xfrm>
            <a:off x="959420" y="1434477"/>
            <a:ext cx="45276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'Joueurs'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COUNT(*)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joueur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'Équipes'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COUNT(*)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equipe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'Performances'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COUNT(*)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performance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'Temps de jeu'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COUNT(*) 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temps_de_jeu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100" dirty="0">
                <a:solidFill>
                  <a:srgbClr val="FF0000"/>
                </a:solidFill>
                <a:latin typeface="JetBrains Mono"/>
              </a:rPr>
              <a:t>…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brutes vs vue consolidée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9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234440"/>
            <a:ext cx="3246120" cy="38862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15087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Approche 1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Données brutes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2240280"/>
            <a:ext cx="25603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Fidèle à la source.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Alignée avec les résultats attendus.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Conserve toutes les lignes historiques.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51960" y="1234440"/>
            <a:ext cx="3246120" cy="38862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80560" y="15087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Approche 2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Vue consolidée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480560" y="2240280"/>
            <a:ext cx="25603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Fusion logique des doublons.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Plus fiable pour les analyses par joueur.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global mesuré et documenté.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818120" y="1234440"/>
            <a:ext cx="3688080" cy="2011680"/>
          </a:xfrm>
          <a:prstGeom prst="roundRect">
            <a:avLst>
              <a:gd name="adj" fmla="val 3636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818120" y="328269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Exemple : joueurs impactés par la consolidation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7818120" y="37033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52A"/>
                </a:solidFill>
              </a:rPr>
              <a:t>Résultat : les écarts restent limités, mais la démarche renforce la qualité analytique.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7818120" y="4434840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91272" y="4471416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 data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235440" y="44348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308592" y="447141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Traçabilité</a:t>
            </a:r>
            <a:endParaRPr lang="en-US" sz="850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7EF28997-EE9A-ACAF-21E9-C6738725E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52" y="1735309"/>
            <a:ext cx="3484215" cy="9056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Requêtes SQL : méthode et exemple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10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325880"/>
            <a:ext cx="5074920" cy="2194560"/>
          </a:xfrm>
          <a:prstGeom prst="roundRect">
            <a:avLst>
              <a:gd name="adj" fmla="val 3333"/>
            </a:avLst>
          </a:prstGeom>
          <a:solidFill>
            <a:srgbClr val="111820"/>
          </a:solidFill>
          <a:ln w="12700">
            <a:solidFill>
              <a:srgbClr val="111820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50392" y="1490472"/>
            <a:ext cx="474573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e.nom_equipe,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SUM(p.buts)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total_buts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equipe 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joueur j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e.id_equipe = j.id_equipe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performance p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j.id_joueur = p.id_joueur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e.nom_equipe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total_buts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4800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3931920"/>
            <a:ext cx="10287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6012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Structure documentaire systématique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566160" y="4443984"/>
            <a:ext cx="1645920" cy="301752"/>
          </a:xfrm>
          <a:prstGeom prst="roundRect">
            <a:avLst>
              <a:gd name="adj" fmla="val 15152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639312" y="4480560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1. Question métier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394960" y="4443984"/>
            <a:ext cx="1325880" cy="301752"/>
          </a:xfrm>
          <a:prstGeom prst="roundRect">
            <a:avLst>
              <a:gd name="adj" fmla="val 15152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468112" y="448056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2. Requête SQL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903720" y="4443984"/>
            <a:ext cx="1051560" cy="301752"/>
          </a:xfrm>
          <a:prstGeom prst="roundRect">
            <a:avLst>
              <a:gd name="adj" fmla="val 15152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76872" y="448056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3. Résultat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8138160" y="4443984"/>
            <a:ext cx="1536192" cy="301752"/>
          </a:xfrm>
          <a:prstGeom prst="roundRect">
            <a:avLst>
              <a:gd name="adj" fmla="val 15152"/>
            </a:avLst>
          </a:prstGeom>
          <a:solidFill>
            <a:srgbClr val="F2B705"/>
          </a:solidFill>
          <a:ln w="12700">
            <a:solidFill>
              <a:srgbClr val="F2B705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211312" y="4480560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0"/>
                </a:solidFill>
              </a:rPr>
              <a:t>4. Interprétation</a:t>
            </a:r>
            <a:endParaRPr lang="en-US" sz="850" dirty="0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6187011-DF4D-8C54-4F9F-F57CD2F72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680" y="1408177"/>
            <a:ext cx="3705551" cy="23972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1 : performance offensive des clubs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11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371600"/>
          <a:ext cx="64008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7543800" y="137160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818120" y="1691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Lecture métier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81812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7252A"/>
                </a:solidFill>
              </a:rPr>
              <a:t>Paris SG domine nettement la production offensive, devant Marseille, Monaco et Lyon.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7818120" y="2971800"/>
            <a:ext cx="274320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18120" y="3246120"/>
            <a:ext cx="288036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Indicateur collectif simple.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Aide à comparer la puissance offensive.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pour croiser avec les xG ou le temps de jeu.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2 : effectifs et répartition des postes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12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822960" y="1371600"/>
          <a:ext cx="51206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446520" y="1371600"/>
            <a:ext cx="461772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72084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Répartition observée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720840" y="2103120"/>
            <a:ext cx="388620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Défenseurs et milieux représentent le cœur des effectifs.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attaquants forment un volume important mais plus ciblé.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gardiens restent logiquement moins nombreux.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720840" y="3584448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La répartition aide à contextualiser les moyennes par poste et à éviter les lectures biaisées.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3 : efficacité individuelle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13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371600"/>
          <a:ext cx="58521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995160" y="1371600"/>
            <a:ext cx="4251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26948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Au-delà du top buteurs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269480" y="2057400"/>
            <a:ext cx="347472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buteurs : volume de buts.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Différence buts - xG : efficacité de finition.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Buts/90 : comparaison à temps de jeu équivalent.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269480" y="352044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E20044"/>
                </a:solidFill>
              </a:rPr>
              <a:t>La combinaison de ces métriques est plus robuste qu’un simple classement par buts.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4 : discipline, temps de jeu et penalties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868680" y="1463040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4712" y="1783080"/>
            <a:ext cx="1417320" cy="320040"/>
          </a:xfrm>
          <a:prstGeom prst="roundRect">
            <a:avLst>
              <a:gd name="adj" fmla="val 1428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97864" y="181965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Discipline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143000" y="24231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Cartons rouges rapportés aux titularisations.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Repérer les profils à risque.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72000" y="1463040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1783080"/>
            <a:ext cx="1417320" cy="320040"/>
          </a:xfrm>
          <a:prstGeom prst="roundRect">
            <a:avLst>
              <a:gd name="adj" fmla="val 1428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01184" y="181965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Temps de jeu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846320" y="24231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Minutes moyennes et matchs 90 par poste.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46320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Comparer l’utilisation réelle des profils.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75320" y="1463040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531352" y="1783080"/>
            <a:ext cx="1417320" cy="320040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04504" y="181965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Penalties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549640" y="24231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Volume marqué + taux de réussite.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8549640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Identifier les spécialistes fiables.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60120" y="525780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52A"/>
                </a:solidFill>
              </a:rPr>
              <a:t>Ces indicateurs replacent les chiffres dans leur contexte d’utilisation : un carton ou un but n’a pas le même poids selon le temps de jeu.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enrichie : meilleur PrgP par club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15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234440"/>
            <a:ext cx="438912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85800" y="561441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Extrait résultat : meilleur passeur progressif par club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5486400" y="1234440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80644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Apport de la requête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806440" y="2011680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111820"/>
          </a:solidFill>
          <a:ln w="12700">
            <a:solidFill>
              <a:srgbClr val="111820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5971032" y="2176272"/>
            <a:ext cx="387705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ROW_NUMBER() OVER (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PARTITION BY e.id_equipe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 BY pr.progression_passe DESC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rang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rang = 1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5806440" y="3730752"/>
            <a:ext cx="448056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Garder uniquement le meilleur joueur de chaque club.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Comparer les relais techniques par équipe.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Repérer les moteurs de progression du ballon.</a:t>
            </a:r>
            <a:endParaRPr lang="en-US" sz="128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23F15FC3-7217-BA2D-A823-BB7FD9192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2" y="1380744"/>
            <a:ext cx="4144308" cy="2668742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854706CD-0F51-89CB-6CFD-419F24816A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452" y="4247739"/>
            <a:ext cx="4144308" cy="113184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Recommandation recrutement : shortlist finisseurs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16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234440"/>
            <a:ext cx="3749040" cy="434340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Critères SQL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1965960"/>
            <a:ext cx="306324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poste attaquant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salaire annuel &lt;= 3 M€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 moins 5 buts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buts/90 prioritaire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PrgP/90 faible pour cibler un profil finisseur.</a:t>
            </a:r>
            <a:endParaRPr lang="en-US" sz="1280" dirty="0"/>
          </a:p>
        </p:txBody>
      </p:sp>
      <p:sp>
        <p:nvSpPr>
          <p:cNvPr id="12" name="Shape 9"/>
          <p:cNvSpPr/>
          <p:nvPr/>
        </p:nvSpPr>
        <p:spPr>
          <a:xfrm>
            <a:off x="960120" y="4160520"/>
            <a:ext cx="2651760" cy="320040"/>
          </a:xfrm>
          <a:prstGeom prst="roundRect">
            <a:avLst>
              <a:gd name="adj" fmla="val 1428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33272" y="419709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Profil recherché : finisseur accessible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800600" y="1234440"/>
            <a:ext cx="63093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074920" y="1627632"/>
            <a:ext cx="187452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48072" y="169164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Joueur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6949440" y="1627632"/>
            <a:ext cx="15087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22592" y="169164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Club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8458200" y="1627632"/>
            <a:ext cx="10515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31352" y="169164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Buts/90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9509760" y="1627632"/>
            <a:ext cx="10515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82912" y="169164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Salaire</a:t>
            </a:r>
            <a:endParaRPr lang="en-US" sz="960" dirty="0"/>
          </a:p>
        </p:txBody>
      </p:sp>
      <p:sp>
        <p:nvSpPr>
          <p:cNvPr id="23" name="Shape 20"/>
          <p:cNvSpPr/>
          <p:nvPr/>
        </p:nvSpPr>
        <p:spPr>
          <a:xfrm>
            <a:off x="5074920" y="1975104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48072" y="2039112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M. </a:t>
            </a:r>
            <a:r>
              <a:rPr lang="en-US" sz="960" dirty="0" err="1">
                <a:solidFill>
                  <a:srgbClr val="17252A"/>
                </a:solidFill>
              </a:rPr>
              <a:t>Biereth</a:t>
            </a:r>
            <a:endParaRPr lang="en-US" sz="960" dirty="0"/>
          </a:p>
        </p:txBody>
      </p:sp>
      <p:sp>
        <p:nvSpPr>
          <p:cNvPr id="25" name="Shape 22"/>
          <p:cNvSpPr/>
          <p:nvPr/>
        </p:nvSpPr>
        <p:spPr>
          <a:xfrm>
            <a:off x="6949440" y="1975104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22592" y="2039112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Monaco</a:t>
            </a:r>
            <a:endParaRPr lang="en-US" sz="960" dirty="0"/>
          </a:p>
        </p:txBody>
      </p:sp>
      <p:sp>
        <p:nvSpPr>
          <p:cNvPr id="27" name="Shape 24"/>
          <p:cNvSpPr/>
          <p:nvPr/>
        </p:nvSpPr>
        <p:spPr>
          <a:xfrm>
            <a:off x="8458200" y="1975104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Text 25"/>
          <p:cNvSpPr/>
          <p:nvPr/>
        </p:nvSpPr>
        <p:spPr>
          <a:xfrm>
            <a:off x="8531352" y="2039112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0,96</a:t>
            </a:r>
            <a:endParaRPr lang="en-US" sz="960" dirty="0"/>
          </a:p>
        </p:txBody>
      </p:sp>
      <p:sp>
        <p:nvSpPr>
          <p:cNvPr id="29" name="Shape 26"/>
          <p:cNvSpPr/>
          <p:nvPr/>
        </p:nvSpPr>
        <p:spPr>
          <a:xfrm>
            <a:off x="9509760" y="1975104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582912" y="2039112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31" name="Shape 28"/>
          <p:cNvSpPr/>
          <p:nvPr/>
        </p:nvSpPr>
        <p:spPr>
          <a:xfrm>
            <a:off x="5074920" y="2322576"/>
            <a:ext cx="187452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  <p:txBody>
          <a:bodyPr anchor="ctr"/>
          <a:lstStyle/>
          <a:p>
            <a:r>
              <a:rPr lang="fr-FR" sz="960" dirty="0"/>
              <a:t>A. </a:t>
            </a:r>
            <a:r>
              <a:rPr lang="fr-FR" sz="960" dirty="0" err="1"/>
              <a:t>Kalimuendo</a:t>
            </a:r>
            <a:endParaRPr lang="fr-FR" sz="960" dirty="0"/>
          </a:p>
        </p:txBody>
      </p:sp>
      <p:sp>
        <p:nvSpPr>
          <p:cNvPr id="32" name="Text 29"/>
          <p:cNvSpPr/>
          <p:nvPr/>
        </p:nvSpPr>
        <p:spPr>
          <a:xfrm>
            <a:off x="5148072" y="2386584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endParaRPr lang="en-US" sz="960" dirty="0"/>
          </a:p>
        </p:txBody>
      </p:sp>
      <p:sp>
        <p:nvSpPr>
          <p:cNvPr id="33" name="Shape 30"/>
          <p:cNvSpPr/>
          <p:nvPr/>
        </p:nvSpPr>
        <p:spPr>
          <a:xfrm>
            <a:off x="6949440" y="2322576"/>
            <a:ext cx="15087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022592" y="2386584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Rennes</a:t>
            </a:r>
            <a:endParaRPr lang="en-US" sz="960" dirty="0"/>
          </a:p>
        </p:txBody>
      </p:sp>
      <p:sp>
        <p:nvSpPr>
          <p:cNvPr id="35" name="Shape 32"/>
          <p:cNvSpPr/>
          <p:nvPr/>
        </p:nvSpPr>
        <p:spPr>
          <a:xfrm>
            <a:off x="8458200" y="2322576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531352" y="238658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0,62</a:t>
            </a:r>
            <a:endParaRPr lang="en-US" sz="960" dirty="0"/>
          </a:p>
        </p:txBody>
      </p:sp>
      <p:sp>
        <p:nvSpPr>
          <p:cNvPr id="37" name="Shape 34"/>
          <p:cNvSpPr/>
          <p:nvPr/>
        </p:nvSpPr>
        <p:spPr>
          <a:xfrm>
            <a:off x="9509760" y="2322576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582912" y="238658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39" name="Shape 36"/>
          <p:cNvSpPr/>
          <p:nvPr/>
        </p:nvSpPr>
        <p:spPr>
          <a:xfrm>
            <a:off x="5074920" y="2670048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148072" y="2734056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J. David</a:t>
            </a:r>
            <a:endParaRPr lang="en-US" sz="960" dirty="0"/>
          </a:p>
        </p:txBody>
      </p:sp>
      <p:sp>
        <p:nvSpPr>
          <p:cNvPr id="41" name="Shape 38"/>
          <p:cNvSpPr/>
          <p:nvPr/>
        </p:nvSpPr>
        <p:spPr>
          <a:xfrm>
            <a:off x="6949440" y="2670048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022592" y="273405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Lille</a:t>
            </a:r>
            <a:endParaRPr lang="en-US" sz="960" dirty="0"/>
          </a:p>
        </p:txBody>
      </p:sp>
      <p:sp>
        <p:nvSpPr>
          <p:cNvPr id="43" name="Shape 40"/>
          <p:cNvSpPr/>
          <p:nvPr/>
        </p:nvSpPr>
        <p:spPr>
          <a:xfrm>
            <a:off x="8458200" y="267004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4" name="Text 41"/>
          <p:cNvSpPr/>
          <p:nvPr/>
        </p:nvSpPr>
        <p:spPr>
          <a:xfrm>
            <a:off x="8531352" y="2734056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0,58</a:t>
            </a:r>
            <a:endParaRPr lang="en-US" sz="960" dirty="0"/>
          </a:p>
        </p:txBody>
      </p:sp>
      <p:sp>
        <p:nvSpPr>
          <p:cNvPr id="45" name="Shape 42"/>
          <p:cNvSpPr/>
          <p:nvPr/>
        </p:nvSpPr>
        <p:spPr>
          <a:xfrm>
            <a:off x="9509760" y="267004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82912" y="2734056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47" name="Shape 44"/>
          <p:cNvSpPr/>
          <p:nvPr/>
        </p:nvSpPr>
        <p:spPr>
          <a:xfrm>
            <a:off x="5074920" y="3017520"/>
            <a:ext cx="187452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148072" y="3081528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L. E. </a:t>
            </a:r>
            <a:r>
              <a:rPr lang="en-US" sz="960" dirty="0" err="1">
                <a:solidFill>
                  <a:srgbClr val="17252A"/>
                </a:solidFill>
              </a:rPr>
              <a:t>Emegha</a:t>
            </a:r>
            <a:endParaRPr lang="en-US" sz="960" dirty="0"/>
          </a:p>
        </p:txBody>
      </p:sp>
      <p:sp>
        <p:nvSpPr>
          <p:cNvPr id="49" name="Shape 46"/>
          <p:cNvSpPr/>
          <p:nvPr/>
        </p:nvSpPr>
        <p:spPr>
          <a:xfrm>
            <a:off x="6949440" y="3017520"/>
            <a:ext cx="15087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022592" y="308152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Strasbourg</a:t>
            </a:r>
            <a:endParaRPr lang="en-US" sz="960" dirty="0"/>
          </a:p>
        </p:txBody>
      </p:sp>
      <p:sp>
        <p:nvSpPr>
          <p:cNvPr id="51" name="Shape 48"/>
          <p:cNvSpPr/>
          <p:nvPr/>
        </p:nvSpPr>
        <p:spPr>
          <a:xfrm>
            <a:off x="8458200" y="3017520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531352" y="3081528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0,55</a:t>
            </a:r>
            <a:endParaRPr lang="en-US" sz="960" dirty="0"/>
          </a:p>
        </p:txBody>
      </p:sp>
      <p:sp>
        <p:nvSpPr>
          <p:cNvPr id="53" name="Shape 50"/>
          <p:cNvSpPr/>
          <p:nvPr/>
        </p:nvSpPr>
        <p:spPr>
          <a:xfrm>
            <a:off x="9509760" y="3017520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582912" y="3081528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55" name="Shape 52"/>
          <p:cNvSpPr/>
          <p:nvPr/>
        </p:nvSpPr>
        <p:spPr>
          <a:xfrm>
            <a:off x="5074920" y="3364992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148072" y="342900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I. E. </a:t>
            </a:r>
            <a:r>
              <a:rPr lang="en-US" sz="960" dirty="0" err="1">
                <a:solidFill>
                  <a:srgbClr val="17252A"/>
                </a:solidFill>
              </a:rPr>
              <a:t>Lepaul</a:t>
            </a:r>
            <a:endParaRPr lang="en-US" sz="960" dirty="0"/>
          </a:p>
        </p:txBody>
      </p:sp>
      <p:sp>
        <p:nvSpPr>
          <p:cNvPr id="57" name="Shape 54"/>
          <p:cNvSpPr/>
          <p:nvPr/>
        </p:nvSpPr>
        <p:spPr>
          <a:xfrm>
            <a:off x="6949440" y="3364992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022592" y="342900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Angers</a:t>
            </a:r>
            <a:endParaRPr lang="en-US" sz="960" dirty="0"/>
          </a:p>
        </p:txBody>
      </p:sp>
      <p:sp>
        <p:nvSpPr>
          <p:cNvPr id="59" name="Shape 56"/>
          <p:cNvSpPr/>
          <p:nvPr/>
        </p:nvSpPr>
        <p:spPr>
          <a:xfrm>
            <a:off x="8458200" y="336499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531352" y="342900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0,52</a:t>
            </a:r>
            <a:endParaRPr lang="en-US" sz="960" dirty="0"/>
          </a:p>
        </p:txBody>
      </p:sp>
      <p:sp>
        <p:nvSpPr>
          <p:cNvPr id="61" name="Shape 58"/>
          <p:cNvSpPr/>
          <p:nvPr/>
        </p:nvSpPr>
        <p:spPr>
          <a:xfrm>
            <a:off x="9509760" y="336499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582912" y="342900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63" name="Text 60"/>
          <p:cNvSpPr/>
          <p:nvPr/>
        </p:nvSpPr>
        <p:spPr>
          <a:xfrm>
            <a:off x="507492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2E7D32"/>
                </a:solidFill>
              </a:rPr>
              <a:t>Message staff : cette shortlist n’est pas une décision finale, mais une liste priorisée à challenger par scouting vidéo et faisabilité contractuelle.</a:t>
            </a:r>
            <a:endParaRPr lang="en-US" sz="12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Bonnes pratiques : sauvegarde, stockage et accès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17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9419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2279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0044"/>
                </a:solidFill>
              </a:rPr>
              <a:t>Sauvegarde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2279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Dump PostgreSQL planifié, versions datées, test de restauration.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439751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2611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5B7F"/>
                </a:solidFill>
              </a:rPr>
              <a:t>Stockage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62611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Séparer source, base, scripts SQL et exports d’analyse.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10083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32943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Accès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943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Droits par rôle, lecture seule pour le staff non technique.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2651760" y="37490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880360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</a:rPr>
              <a:t>Traçabilité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880360" y="43434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Scripts de création, chargement, analyse et comparaison conservés.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6355080" y="37490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83680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0044"/>
                </a:solidFill>
              </a:rPr>
              <a:t>Qualité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583680" y="43434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Contrôles après import et documentation du dictionnaire.</a:t>
            </a:r>
            <a:endParaRPr lang="en-US" sz="11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Démonstration live et conclusion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18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731520" y="123444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05840" y="15179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Parcours live en 5 minutes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87552" y="2011680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1993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Ouvrir PostgreSQL / pgAdmin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87552" y="2514600"/>
            <a:ext cx="256032" cy="256032"/>
          </a:xfrm>
          <a:prstGeom prst="ellipse">
            <a:avLst/>
          </a:prstGeom>
          <a:solidFill>
            <a:srgbClr val="0F5B7F"/>
          </a:solidFill>
          <a:ln w="12700">
            <a:solidFill>
              <a:srgbClr val="0F5B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53312" y="2496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Afficher tables + vue consolidée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87552" y="3017520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353312" y="29992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Exécuter contrôles de volumes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87552" y="3520440"/>
            <a:ext cx="256032" cy="256032"/>
          </a:xfrm>
          <a:prstGeom prst="ellipse">
            <a:avLst/>
          </a:prstGeom>
          <a:solidFill>
            <a:srgbClr val="0F5B7F"/>
          </a:solidFill>
          <a:ln w="12700">
            <a:solidFill>
              <a:srgbClr val="0F5B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353312" y="35021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Lancer une requête métier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987552" y="4023360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53312" y="40050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Conclure avec la shortlist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63640" y="123444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102027"/>
          </a:solidFill>
          <a:ln w="12700">
            <a:solidFill>
              <a:srgbClr val="102027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83680" y="15727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Conclusion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6583680" y="2057400"/>
            <a:ext cx="42519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PostgreSQL est chargée, contrôlée et exploitable.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requêtes répondent aux questions clés du staff.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consolidation documente la qualité des analyses.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shortlist transforme les données en recommandations actionnables.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583680" y="4160520"/>
            <a:ext cx="3977640" cy="0"/>
          </a:xfrm>
          <a:prstGeom prst="line">
            <a:avLst/>
          </a:prstGeom>
          <a:noFill/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0" y="4407408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 donnée ne remplace pas le jugement sportif : elle le rend plus objectif et mieux argumenté.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1688</Words>
  <Application>Microsoft Office PowerPoint</Application>
  <PresentationFormat>Grand écran</PresentationFormat>
  <Paragraphs>321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JetBrains Mono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SportDataPulse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finale SportDataPulse</dc:title>
  <dc:subject>SportDataPulse - Analyse des performances L1 2025</dc:subject>
  <dc:creator>Steve Bell</dc:creator>
  <cp:lastModifiedBy>steve BELL</cp:lastModifiedBy>
  <cp:revision>5</cp:revision>
  <dcterms:created xsi:type="dcterms:W3CDTF">2026-05-10T11:05:31Z</dcterms:created>
  <dcterms:modified xsi:type="dcterms:W3CDTF">2026-05-12T12:42:07Z</dcterms:modified>
</cp:coreProperties>
</file>